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415f023a-fd95-99a2-7ca3-6123067b800d}">
          <p14:sldIdLst>
            <p14:sldId id="256"/>
            <p14:sldId id="257"/>
            <p14:sldId id="258"/>
            <p14:sldId id="259"/>
            <p14:sldId id="260"/>
            <p14:sldId id="261"/>
          </p14:sldIdLst>
        </p14:section>
        <p14:section name="Architecture &amp; Data" id="{e5e0fcfd-499b-04be-67d3-8eefc68577df}">
          <p14:sldIdLst>
            <p14:sldId id="262"/>
            <p14:sldId id="263"/>
            <p14:sldId id="264"/>
            <p14:sldId id="265"/>
            <p14:sldId id="266"/>
            <p14:sldId id="267"/>
            <p14:sldId id="268"/>
          </p14:sldIdLst>
        </p14:section>
        <p14:section name="Product &amp; API" id="{7f4209ce-3d10-8334-56fa-7c2bacd463ae}">
          <p14:sldIdLst>
            <p14:sldId id="269"/>
            <p14:sldId id="270"/>
            <p14:sldId id="271"/>
            <p14:sldId id="272"/>
          </p14:sldIdLst>
        </p14:section>
        <p14:section name="Risk &amp; Evidence" id="{59531072-478a-8368-5569-133dbdd600bf}">
          <p14:sldIdLst>
            <p14:sldId id="273"/>
            <p14:sldId id="274"/>
            <p14:sldId id="275"/>
            <p14:sldId id="276"/>
            <p14:sldId id="277"/>
          </p14:sldIdLst>
        </p14:section>
        <p14:section name="Integration &amp; Security" id="{e24afeaf-6cf7-8e5e-6295-5e74b702075e}">
          <p14:sldIdLst>
            <p14:sldId id="278"/>
            <p14:sldId id="279"/>
            <p14:sldId id="280"/>
            <p14:sldId id="281"/>
            <p14:sldId id="282"/>
          </p14:sldIdLst>
        </p14:section>
        <p14:section name="Delivery" id="{dd44df56-cfbd-9e38-55ec-dade65a3654d}">
          <p14:sldIdLst>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Weight</c:v>
                </c:pt>
              </c:strCache>
            </c:strRef>
          </c:tx>
          <c:spPr>
            <a:solidFill>
              <a:srgbClr val="8B5CF6"/>
            </a:solidFill>
            <a:effectLst/>
          </c:spPr>
          <c:invertIfNegative val="0"/>
          <c:dLbls>
            <c:numFmt formatCode="0%" sourceLinked="0"/>
            <c:txPr>
              <a:bodyPr/>
              <a:lstStyle/>
              <a:p>
                <a:pPr>
                  <a:defRPr b="0" i="0" strike="noStrike" sz="1200" u="none">
                    <a:solidFill>
                      <a:srgbClr val="E6E8F0"/>
                    </a:solidFill>
                    <a:latin typeface="+mn-lt"/>
                  </a:defRPr>
                </a:pPr>
              </a:p>
            </c:txPr>
            <c:showLegendKey val="0"/>
            <c:showVal val="1"/>
            <c:showCatName val="0"/>
            <c:showSerName val="0"/>
            <c:showPercent val="0"/>
            <c:showBubbleSize val="0"/>
            <c:showLeaderLines val="0"/>
          </c:dLbls>
          <c:cat>
            <c:multiLvlStrRef>
              <c:f>Sheet1!$A$2:$A$5</c:f>
              <c:multiLvlStrCache>
                <c:ptCount val="4"/>
                <c:lvl>
                  <c:pt idx="0">
                    <c:v>Impact</c:v>
                  </c:pt>
                  <c:pt idx="1">
                    <c:v>Exploitability</c:v>
                  </c:pt>
                  <c:pt idx="2">
                    <c:v>Privilege scope</c:v>
                  </c:pt>
                  <c:pt idx="3">
                    <c:v>Exposure</c:v>
                  </c:pt>
                </c:lvl>
              </c:multiLvlStrCache>
            </c:multiLvlStrRef>
          </c:cat>
          <c:val>
            <c:numRef>
              <c:f>Sheet1!$B$2:$B$5</c:f>
              <c:numCache>
                <c:formatCode>General</c:formatCode>
                <c:ptCount val="4"/>
                <c:pt idx="0">
                  <c:v>0.35</c:v>
                </c:pt>
                <c:pt idx="1">
                  <c:v>0.25</c:v>
                </c:pt>
                <c:pt idx="2">
                  <c:v>0.2</c:v>
                </c:pt>
                <c:pt idx="3">
                  <c:v>0.2</c:v>
                </c:pt>
              </c:numCache>
            </c:numRef>
          </c:val>
        </c:ser>
        <c:dLbls>
          <c:numFmt formatCode="0%" sourceLinked="0"/>
          <c:txPr>
            <a:bodyPr/>
            <a:lstStyle/>
            <a:p>
              <a:pPr>
                <a:defRPr b="0" i="0" strike="noStrike" sz="1200" u="none">
                  <a:solidFill>
                    <a:srgbClr val="E6E8F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E6E8F0"/>
                </a:solidFill>
                <a:latin typeface="+mn-lt"/>
              </a:defRPr>
            </a:pPr>
            <a:endParaRPr lang="en-US"/>
          </a:p>
        </c:txPr>
        <c:crossAx val="2094734552"/>
        <c:crosses val="autoZero"/>
        <c:auto val="1"/>
        <c:lblAlgn val="ctr"/>
        <c:noMultiLvlLbl val="1"/>
      </c:catAx>
      <c:valAx>
        <c:axId val="2094734552"/>
        <c:scaling>
          <c:orientation val="minMax"/>
          <c:max val="0.4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 purposes: create/read projects; start GitHub App installation; list integration status and granted scope; validate and enqueue GitHub webhooks; queue repo and workflow sync. Queue assessments; poll job status; start graph-backed investigations and read progress, executed queries, paths and conclusions; filter/sort/paginate findings; read and patch findings; evidence previews; candidate/validated attack paths with step provenance; queue bounded path recomputation. Create remediation proposals; approve exact proposal hash and scope; create branch/PR with minimum permissions; run checks and graph re-evaluation; read verification evidence; query audit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Reuse boundary: hackathon rules allow reuse of general libraries, templates and infrastructure, but the submission and its main FalkorDB implementation must be new work completed during the event. Keep the existing Anavykai product separate. Verify the current event schedule and submission status on the official page before final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583680" cy="17373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3794760"/>
            <a:ext cx="6035040" cy="100584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ANAVYKAI  ·  AgentShield Graph</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3.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3.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image" Target="../media/image-26-14.png"/><Relationship Id="rId15" Type="http://schemas.openxmlformats.org/officeDocument/2006/relationships/slideLayout" Target="../slideLayouts/slideLayout3.xml"/><Relationship Id="rId1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image" Target="../media/image-31-10.png"/><Relationship Id="rId11" Type="http://schemas.openxmlformats.org/officeDocument/2006/relationships/image" Target="../media/image-31-11.png"/><Relationship Id="rId12" Type="http://schemas.openxmlformats.org/officeDocument/2006/relationships/image" Target="../media/image-31-12.png"/><Relationship Id="rId13" Type="http://schemas.openxmlformats.org/officeDocument/2006/relationships/image" Target="../media/image-31-13.png"/><Relationship Id="rId14" Type="http://schemas.openxmlformats.org/officeDocument/2006/relationships/image" Target="../media/image-31-14.png"/><Relationship Id="rId15" Type="http://schemas.openxmlformats.org/officeDocument/2006/relationships/image" Target="../media/image-31-15.png"/><Relationship Id="rId16" Type="http://schemas.openxmlformats.org/officeDocument/2006/relationships/slideLayout" Target="../slideLayouts/slideLayout3.xml"/><Relationship Id="rId1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3.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3.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14400"/>
            <a:ext cx="6400800" cy="274320"/>
          </a:xfrm>
          <a:prstGeom prst="rect">
            <a:avLst/>
          </a:prstGeom>
          <a:noFill/>
          <a:ln/>
        </p:spPr>
        <p:txBody>
          <a:bodyPr wrap="square" lIns="0" tIns="0" rIns="0" bIns="0" rtlCol="0" anchor="t"/>
          <a:lstStyle/>
          <a:p>
            <a:pPr indent="0" marL="0">
              <a:buNone/>
            </a:pPr>
            <a:r>
              <a:rPr lang="en-US" sz="1300" b="1" spc="300" kern="0" dirty="0">
                <a:solidFill>
                  <a:schemeClr val="accent1"/>
                </a:solidFill>
              </a:rPr>
              <a:t>ANAVYKAI  ·  AGENTSHIELD GRAPH</a:t>
            </a:r>
            <a:endParaRPr lang="en-US" sz="1300" dirty="0"/>
          </a:p>
        </p:txBody>
      </p:sp>
      <p:sp>
        <p:nvSpPr>
          <p:cNvPr id="3" name="Text 1"/>
          <p:cNvSpPr txBox="1"/>
          <p:nvPr/>
        </p:nvSpPr>
        <p:spPr>
          <a:xfrm>
            <a:off x="548640" y="1234440"/>
            <a:ext cx="6400800" cy="274320"/>
          </a:xfrm>
          <a:prstGeom prst="rect">
            <a:avLst/>
          </a:prstGeom>
          <a:noFill/>
          <a:ln/>
        </p:spPr>
        <p:txBody>
          <a:bodyPr wrap="square" lIns="0" tIns="0" rIns="0" bIns="0" rtlCol="0" anchor="t"/>
          <a:lstStyle/>
          <a:p>
            <a:pPr indent="0" marL="0">
              <a:buNone/>
            </a:pPr>
            <a:r>
              <a:rPr lang="en-US" sz="1200" dirty="0">
                <a:solidFill>
                  <a:schemeClr val="accent6"/>
                </a:solidFill>
              </a:rPr>
              <a:t>Product specification · Engineering blueprint · Hackathon MVP</a:t>
            </a:r>
            <a:endParaRPr lang="en-US" sz="1200" dirty="0"/>
          </a:p>
        </p:txBody>
      </p:sp>
      <p:sp>
        <p:nvSpPr>
          <p:cNvPr id="4" name="Text 0"/>
          <p:cNvSpPr/>
          <p:nvPr>
            <p:ph idx="100" type="title" hasCustomPrompt="1"/>
          </p:nvPr>
        </p:nvSpPr>
        <p:spPr>
          <a:xfrm>
            <a:off x="548640" y="1828800"/>
            <a:ext cx="6583680" cy="1737360"/>
          </a:xfrm>
          <a:prstGeom prst="rect">
            <a:avLst/>
          </a:prstGeom>
          <a:noFill/>
          <a:ln/>
        </p:spPr>
        <p:txBody>
          <a:bodyPr wrap="square" lIns="0" tIns="0" rIns="0" bIns="0" rtlCol="0" anchor="t"/>
          <a:lstStyle/>
          <a:p>
            <a:pPr algn="l" indent="0" marL="0">
              <a:buNone/>
            </a:pPr>
            <a:r>
              <a:rPr lang="en-US" sz="3800" b="1" dirty="0">
                <a:solidFill>
                  <a:schemeClr val="bg1"/>
                </a:solidFill>
              </a:rPr>
              <a:t>Secure the AI agents your business depends on</a:t>
            </a:r>
            <a:endParaRPr lang="en-US" sz="3800" dirty="0"/>
          </a:p>
        </p:txBody>
      </p:sp>
      <p:sp>
        <p:nvSpPr>
          <p:cNvPr id="5" name="Text 0"/>
          <p:cNvSpPr/>
          <p:nvPr>
            <p:ph idx="101" type="body" hasCustomPrompt="1"/>
          </p:nvPr>
        </p:nvSpPr>
        <p:spPr>
          <a:xfrm>
            <a:off x="548640" y="3794760"/>
            <a:ext cx="6035040" cy="1005840"/>
          </a:xfrm>
          <a:prstGeom prst="rect">
            <a:avLst/>
          </a:prstGeom>
          <a:noFill/>
          <a:ln/>
        </p:spPr>
        <p:txBody>
          <a:bodyPr wrap="square" lIns="0" tIns="0" rIns="0" bIns="0" rtlCol="0" anchor="t"/>
          <a:lstStyle/>
          <a:p>
            <a:pPr algn="l" indent="0" marL="0">
              <a:buNone/>
            </a:pPr>
            <a:r>
              <a:rPr lang="en-US" sz="1600" dirty="0">
                <a:solidFill>
                  <a:schemeClr val="bg2"/>
                </a:solidFill>
              </a:rPr>
              <a:t>A graph-first security investigator for AI coding agents, GitHub repositories and CI/CD workflows — built on FalkorDB.</a:t>
            </a:r>
            <a:endParaRPr lang="en-US" sz="1600" dirty="0"/>
          </a:p>
        </p:txBody>
      </p:sp>
      <p:sp>
        <p:nvSpPr>
          <p:cNvPr id="6" name="pill"/>
          <p:cNvSpPr/>
          <p:nvPr/>
        </p:nvSpPr>
        <p:spPr>
          <a:xfrm>
            <a:off x="548640" y="5166360"/>
            <a:ext cx="3017520" cy="365760"/>
          </a:xfrm>
          <a:prstGeom prst="roundRect">
            <a:avLst>
              <a:gd name="adj" fmla="val 50000"/>
            </a:avLst>
          </a:prstGeom>
          <a:solidFill>
            <a:schemeClr val="accent1">
              <a:alpha val="18000"/>
            </a:schemeClr>
          </a:solidFill>
          <a:ln w="9525">
            <a:solidFill>
              <a:schemeClr val="accent1">
                <a:alpha val="70000"/>
              </a:schemeClr>
            </a:solidFill>
            <a:prstDash val="solid"/>
          </a:ln>
        </p:spPr>
      </p:sp>
      <p:sp>
        <p:nvSpPr>
          <p:cNvPr id="7" name="Text 5"/>
          <p:cNvSpPr txBox="1"/>
          <p:nvPr/>
        </p:nvSpPr>
        <p:spPr>
          <a:xfrm>
            <a:off x="548640" y="5166360"/>
            <a:ext cx="3017520" cy="365760"/>
          </a:xfrm>
          <a:prstGeom prst="rect">
            <a:avLst/>
          </a:prstGeom>
          <a:noFill/>
          <a:ln/>
        </p:spPr>
        <p:txBody>
          <a:bodyPr wrap="square" lIns="0" tIns="0" rIns="0" bIns="0" rtlCol="0" anchor="ctr"/>
          <a:lstStyle/>
          <a:p>
            <a:pPr algn="ctr" indent="0" marL="0">
              <a:buNone/>
            </a:pPr>
            <a:r>
              <a:rPr lang="en-US" sz="1100" b="1" dirty="0">
                <a:solidFill>
                  <a:schemeClr val="accent1"/>
                </a:solidFill>
              </a:rPr>
              <a:t>Agents That Act on Connected Data</a:t>
            </a:r>
            <a:endParaRPr lang="en-US" sz="1100" dirty="0"/>
          </a:p>
        </p:txBody>
      </p:sp>
      <p:sp>
        <p:nvSpPr>
          <p:cNvPr id="8" name="pill"/>
          <p:cNvSpPr/>
          <p:nvPr/>
        </p:nvSpPr>
        <p:spPr>
          <a:xfrm>
            <a:off x="3703320" y="5166360"/>
            <a:ext cx="1600200" cy="365760"/>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9" name="Text 7"/>
          <p:cNvSpPr txBox="1"/>
          <p:nvPr/>
        </p:nvSpPr>
        <p:spPr>
          <a:xfrm>
            <a:off x="3703320" y="5166360"/>
            <a:ext cx="1600200" cy="365760"/>
          </a:xfrm>
          <a:prstGeom prst="rect">
            <a:avLst/>
          </a:prstGeom>
          <a:noFill/>
          <a:ln/>
        </p:spPr>
        <p:txBody>
          <a:bodyPr wrap="square" lIns="0" tIns="0" rIns="0" bIns="0" rtlCol="0" anchor="ctr"/>
          <a:lstStyle/>
          <a:p>
            <a:pPr algn="ctr" indent="0" marL="0">
              <a:buNone/>
            </a:pPr>
            <a:r>
              <a:rPr lang="en-US" sz="1100" b="1" dirty="0">
                <a:solidFill>
                  <a:schemeClr val="accent2"/>
                </a:solidFill>
              </a:rPr>
              <a:t>FalkorDB is core</a:t>
            </a:r>
            <a:endParaRPr lang="en-US" sz="1100" dirty="0"/>
          </a:p>
        </p:txBody>
      </p:sp>
      <p:sp>
        <p:nvSpPr>
          <p:cNvPr id="10" name="pill"/>
          <p:cNvSpPr/>
          <p:nvPr/>
        </p:nvSpPr>
        <p:spPr>
          <a:xfrm>
            <a:off x="5440680" y="5166360"/>
            <a:ext cx="1874520" cy="365760"/>
          </a:xfrm>
          <a:prstGeom prst="roundRect">
            <a:avLst>
              <a:gd name="adj" fmla="val 50000"/>
            </a:avLst>
          </a:prstGeom>
          <a:solidFill>
            <a:schemeClr val="accent5">
              <a:alpha val="18000"/>
            </a:schemeClr>
          </a:solidFill>
          <a:ln w="9525">
            <a:solidFill>
              <a:schemeClr val="accent5">
                <a:alpha val="70000"/>
              </a:schemeClr>
            </a:solidFill>
            <a:prstDash val="solid"/>
          </a:ln>
        </p:spPr>
      </p:sp>
      <p:sp>
        <p:nvSpPr>
          <p:cNvPr id="11" name="Text 9"/>
          <p:cNvSpPr txBox="1"/>
          <p:nvPr/>
        </p:nvSpPr>
        <p:spPr>
          <a:xfrm>
            <a:off x="5440680" y="5166360"/>
            <a:ext cx="1874520" cy="365760"/>
          </a:xfrm>
          <a:prstGeom prst="rect">
            <a:avLst/>
          </a:prstGeom>
          <a:noFill/>
          <a:ln/>
        </p:spPr>
        <p:txBody>
          <a:bodyPr wrap="square" lIns="0" tIns="0" rIns="0" bIns="0" rtlCol="0" anchor="ctr"/>
          <a:lstStyle/>
          <a:p>
            <a:pPr algn="ctr" indent="0" marL="0">
              <a:buNone/>
            </a:pPr>
            <a:r>
              <a:rPr lang="en-US" sz="1100" b="1" dirty="0">
                <a:solidFill>
                  <a:schemeClr val="accent5"/>
                </a:solidFill>
              </a:rPr>
              <a:t>GitHub + CI/CD first</a:t>
            </a:r>
            <a:endParaRPr lang="en-US" sz="1100" dirty="0"/>
          </a:p>
        </p:txBody>
      </p:sp>
      <p:sp>
        <p:nvSpPr>
          <p:cNvPr id="12" name="connector"/>
          <p:cNvSpPr/>
          <p:nvPr/>
        </p:nvSpPr>
        <p:spPr>
          <a:xfrm flipV="1">
            <a:off x="7955280" y="1051560"/>
            <a:ext cx="2103120" cy="320040"/>
          </a:xfrm>
          <a:prstGeom prst="line">
            <a:avLst/>
          </a:prstGeom>
          <a:noFill/>
          <a:ln w="31750">
            <a:solidFill>
              <a:srgbClr val="FF4D6D"/>
            </a:solidFill>
            <a:prstDash val="solid"/>
          </a:ln>
        </p:spPr>
      </p:sp>
      <p:sp>
        <p:nvSpPr>
          <p:cNvPr id="13" name="connector"/>
          <p:cNvSpPr/>
          <p:nvPr/>
        </p:nvSpPr>
        <p:spPr>
          <a:xfrm flipV="1">
            <a:off x="8503920" y="1051560"/>
            <a:ext cx="1554480" cy="1737360"/>
          </a:xfrm>
          <a:prstGeom prst="line">
            <a:avLst/>
          </a:prstGeom>
          <a:noFill/>
          <a:ln w="31750">
            <a:solidFill>
              <a:srgbClr val="FF4D6D"/>
            </a:solidFill>
            <a:prstDash val="solid"/>
          </a:ln>
        </p:spPr>
      </p:sp>
      <p:sp>
        <p:nvSpPr>
          <p:cNvPr id="14" name="connector"/>
          <p:cNvSpPr/>
          <p:nvPr/>
        </p:nvSpPr>
        <p:spPr>
          <a:xfrm>
            <a:off x="8503920" y="2788920"/>
            <a:ext cx="1691640" cy="1097280"/>
          </a:xfrm>
          <a:prstGeom prst="line">
            <a:avLst/>
          </a:prstGeom>
          <a:noFill/>
          <a:ln w="31750">
            <a:solidFill>
              <a:srgbClr val="FF4D6D"/>
            </a:solidFill>
            <a:prstDash val="solid"/>
          </a:ln>
        </p:spPr>
      </p:sp>
      <p:sp>
        <p:nvSpPr>
          <p:cNvPr id="15" name="connector"/>
          <p:cNvSpPr/>
          <p:nvPr/>
        </p:nvSpPr>
        <p:spPr>
          <a:xfrm>
            <a:off x="10058400" y="1051560"/>
            <a:ext cx="548640" cy="1280160"/>
          </a:xfrm>
          <a:prstGeom prst="line">
            <a:avLst/>
          </a:prstGeom>
          <a:noFill/>
          <a:ln w="12700">
            <a:solidFill>
              <a:srgbClr val="9AA0B8">
                <a:alpha val="55000"/>
              </a:srgbClr>
            </a:solidFill>
            <a:prstDash val="dash"/>
          </a:ln>
        </p:spPr>
      </p:sp>
      <p:sp>
        <p:nvSpPr>
          <p:cNvPr id="16" name="connector"/>
          <p:cNvSpPr/>
          <p:nvPr/>
        </p:nvSpPr>
        <p:spPr>
          <a:xfrm>
            <a:off x="7498080" y="4297680"/>
            <a:ext cx="1280160" cy="1143000"/>
          </a:xfrm>
          <a:prstGeom prst="line">
            <a:avLst/>
          </a:prstGeom>
          <a:noFill/>
          <a:ln w="12700">
            <a:solidFill>
              <a:srgbClr val="9AA0B8">
                <a:alpha val="55000"/>
              </a:srgbClr>
            </a:solidFill>
            <a:prstDash val="dash"/>
          </a:ln>
        </p:spPr>
      </p:sp>
      <p:sp>
        <p:nvSpPr>
          <p:cNvPr id="17" name="connector"/>
          <p:cNvSpPr/>
          <p:nvPr/>
        </p:nvSpPr>
        <p:spPr>
          <a:xfrm flipV="1">
            <a:off x="8778240" y="5257800"/>
            <a:ext cx="2103120" cy="182880"/>
          </a:xfrm>
          <a:prstGeom prst="line">
            <a:avLst/>
          </a:prstGeom>
          <a:noFill/>
          <a:ln w="12700">
            <a:solidFill>
              <a:srgbClr val="9AA0B8">
                <a:alpha val="55000"/>
              </a:srgbClr>
            </a:solidFill>
            <a:prstDash val="dash"/>
          </a:ln>
        </p:spPr>
      </p:sp>
      <p:sp>
        <p:nvSpPr>
          <p:cNvPr id="18" name="connector"/>
          <p:cNvSpPr/>
          <p:nvPr/>
        </p:nvSpPr>
        <p:spPr>
          <a:xfrm flipV="1">
            <a:off x="7498080" y="2788920"/>
            <a:ext cx="1005840" cy="1508760"/>
          </a:xfrm>
          <a:prstGeom prst="line">
            <a:avLst/>
          </a:prstGeom>
          <a:noFill/>
          <a:ln w="12700">
            <a:solidFill>
              <a:srgbClr val="9AA0B8">
                <a:alpha val="55000"/>
              </a:srgbClr>
            </a:solidFill>
            <a:prstDash val="dash"/>
          </a:ln>
        </p:spPr>
      </p:sp>
      <p:sp>
        <p:nvSpPr>
          <p:cNvPr id="19" name="connector"/>
          <p:cNvSpPr/>
          <p:nvPr/>
        </p:nvSpPr>
        <p:spPr>
          <a:xfrm flipV="1">
            <a:off x="8778240" y="3886200"/>
            <a:ext cx="1417320" cy="1554480"/>
          </a:xfrm>
          <a:prstGeom prst="line">
            <a:avLst/>
          </a:prstGeom>
          <a:noFill/>
          <a:ln w="12700">
            <a:solidFill>
              <a:srgbClr val="9AA0B8">
                <a:alpha val="55000"/>
              </a:srgbClr>
            </a:solidFill>
            <a:prstDash val="dash"/>
          </a:ln>
        </p:spPr>
      </p:sp>
      <p:sp>
        <p:nvSpPr>
          <p:cNvPr id="20" name="graph node"/>
          <p:cNvSpPr/>
          <p:nvPr/>
        </p:nvSpPr>
        <p:spPr>
          <a:xfrm>
            <a:off x="7383780" y="1161288"/>
            <a:ext cx="1143000" cy="420624"/>
          </a:xfrm>
          <a:prstGeom prst="roundRect">
            <a:avLst>
              <a:gd name="adj" fmla="val 50000"/>
            </a:avLst>
          </a:prstGeom>
          <a:solidFill>
            <a:schemeClr val="tx2"/>
          </a:solidFill>
          <a:ln w="19050">
            <a:solidFill>
              <a:schemeClr val="accent2"/>
            </a:solidFill>
            <a:prstDash val="solid"/>
          </a:ln>
        </p:spPr>
      </p:sp>
      <p:sp>
        <p:nvSpPr>
          <p:cNvPr id="21" name="Text 19"/>
          <p:cNvSpPr txBox="1"/>
          <p:nvPr/>
        </p:nvSpPr>
        <p:spPr>
          <a:xfrm>
            <a:off x="7383780" y="1161288"/>
            <a:ext cx="1143000" cy="420624"/>
          </a:xfrm>
          <a:prstGeom prst="rect">
            <a:avLst/>
          </a:prstGeom>
          <a:noFill/>
          <a:ln/>
        </p:spPr>
        <p:txBody>
          <a:bodyPr wrap="square" lIns="0" tIns="0" rIns="0" bIns="0" rtlCol="0" anchor="ctr"/>
          <a:lstStyle/>
          <a:p>
            <a:pPr algn="ctr" indent="0" marL="0">
              <a:buNone/>
            </a:pPr>
            <a:r>
              <a:rPr lang="en-US" sz="1200" b="1" dirty="0">
                <a:solidFill>
                  <a:schemeClr val="bg1"/>
                </a:solidFill>
              </a:rPr>
              <a:t>AI Agent</a:t>
            </a:r>
            <a:endParaRPr lang="en-US" sz="1200" dirty="0"/>
          </a:p>
        </p:txBody>
      </p:sp>
      <p:sp>
        <p:nvSpPr>
          <p:cNvPr id="22" name="graph node"/>
          <p:cNvSpPr/>
          <p:nvPr/>
        </p:nvSpPr>
        <p:spPr>
          <a:xfrm>
            <a:off x="9486900" y="841248"/>
            <a:ext cx="1143000" cy="420624"/>
          </a:xfrm>
          <a:prstGeom prst="roundRect">
            <a:avLst>
              <a:gd name="adj" fmla="val 50000"/>
            </a:avLst>
          </a:prstGeom>
          <a:solidFill>
            <a:schemeClr val="tx2"/>
          </a:solidFill>
          <a:ln w="19050">
            <a:solidFill>
              <a:schemeClr val="accent2"/>
            </a:solidFill>
            <a:prstDash val="solid"/>
          </a:ln>
        </p:spPr>
      </p:sp>
      <p:sp>
        <p:nvSpPr>
          <p:cNvPr id="23" name="Text 21"/>
          <p:cNvSpPr txBox="1"/>
          <p:nvPr/>
        </p:nvSpPr>
        <p:spPr>
          <a:xfrm>
            <a:off x="9486900" y="841248"/>
            <a:ext cx="1143000" cy="420624"/>
          </a:xfrm>
          <a:prstGeom prst="rect">
            <a:avLst/>
          </a:prstGeom>
          <a:noFill/>
          <a:ln/>
        </p:spPr>
        <p:txBody>
          <a:bodyPr wrap="square" lIns="0" tIns="0" rIns="0" bIns="0" rtlCol="0" anchor="ctr"/>
          <a:lstStyle/>
          <a:p>
            <a:pPr algn="ctr" indent="0" marL="0">
              <a:buNone/>
            </a:pPr>
            <a:r>
              <a:rPr lang="en-US" sz="1200" b="1" dirty="0">
                <a:solidFill>
                  <a:schemeClr val="bg1"/>
                </a:solidFill>
              </a:rPr>
              <a:t>Tool</a:t>
            </a:r>
            <a:endParaRPr lang="en-US" sz="1200" dirty="0"/>
          </a:p>
        </p:txBody>
      </p:sp>
      <p:sp>
        <p:nvSpPr>
          <p:cNvPr id="24" name="graph node"/>
          <p:cNvSpPr/>
          <p:nvPr/>
        </p:nvSpPr>
        <p:spPr>
          <a:xfrm>
            <a:off x="9989820" y="2121408"/>
            <a:ext cx="1234440" cy="420624"/>
          </a:xfrm>
          <a:prstGeom prst="roundRect">
            <a:avLst>
              <a:gd name="adj" fmla="val 50000"/>
            </a:avLst>
          </a:prstGeom>
          <a:solidFill>
            <a:schemeClr val="tx2"/>
          </a:solidFill>
          <a:ln w="19050">
            <a:solidFill>
              <a:schemeClr val="accent6"/>
            </a:solidFill>
            <a:prstDash val="solid"/>
          </a:ln>
        </p:spPr>
      </p:sp>
      <p:sp>
        <p:nvSpPr>
          <p:cNvPr id="25" name="Text 23"/>
          <p:cNvSpPr txBox="1"/>
          <p:nvPr/>
        </p:nvSpPr>
        <p:spPr>
          <a:xfrm>
            <a:off x="9989820" y="2121408"/>
            <a:ext cx="1234440" cy="420624"/>
          </a:xfrm>
          <a:prstGeom prst="rect">
            <a:avLst/>
          </a:prstGeom>
          <a:noFill/>
          <a:ln/>
        </p:spPr>
        <p:txBody>
          <a:bodyPr wrap="square" lIns="0" tIns="0" rIns="0" bIns="0" rtlCol="0" anchor="ctr"/>
          <a:lstStyle/>
          <a:p>
            <a:pPr algn="ctr" indent="0" marL="0">
              <a:buNone/>
            </a:pPr>
            <a:r>
              <a:rPr lang="en-US" sz="1200" b="1" dirty="0">
                <a:solidFill>
                  <a:schemeClr val="bg1"/>
                </a:solidFill>
              </a:rPr>
              <a:t>MCP Server</a:t>
            </a:r>
            <a:endParaRPr lang="en-US" sz="1200" dirty="0"/>
          </a:p>
        </p:txBody>
      </p:sp>
      <p:sp>
        <p:nvSpPr>
          <p:cNvPr id="26" name="graph node"/>
          <p:cNvSpPr/>
          <p:nvPr/>
        </p:nvSpPr>
        <p:spPr>
          <a:xfrm>
            <a:off x="7886700" y="2578608"/>
            <a:ext cx="1234440" cy="420624"/>
          </a:xfrm>
          <a:prstGeom prst="roundRect">
            <a:avLst>
              <a:gd name="adj" fmla="val 50000"/>
            </a:avLst>
          </a:prstGeom>
          <a:solidFill>
            <a:schemeClr val="tx2"/>
          </a:solidFill>
          <a:ln w="19050">
            <a:solidFill>
              <a:schemeClr val="accent4"/>
            </a:solidFill>
            <a:prstDash val="solid"/>
          </a:ln>
        </p:spPr>
      </p:sp>
      <p:sp>
        <p:nvSpPr>
          <p:cNvPr id="27" name="Text 25"/>
          <p:cNvSpPr txBox="1"/>
          <p:nvPr/>
        </p:nvSpPr>
        <p:spPr>
          <a:xfrm>
            <a:off x="7886700" y="2578608"/>
            <a:ext cx="1234440" cy="420624"/>
          </a:xfrm>
          <a:prstGeom prst="rect">
            <a:avLst/>
          </a:prstGeom>
          <a:noFill/>
          <a:ln/>
        </p:spPr>
        <p:txBody>
          <a:bodyPr wrap="square" lIns="0" tIns="0" rIns="0" bIns="0" rtlCol="0" anchor="ctr"/>
          <a:lstStyle/>
          <a:p>
            <a:pPr algn="ctr" indent="0" marL="0">
              <a:buNone/>
            </a:pPr>
            <a:r>
              <a:rPr lang="en-US" sz="1200" b="1" dirty="0">
                <a:solidFill>
                  <a:schemeClr val="bg1"/>
                </a:solidFill>
              </a:rPr>
              <a:t>Permission</a:t>
            </a:r>
            <a:endParaRPr lang="en-US" sz="1200" dirty="0"/>
          </a:p>
        </p:txBody>
      </p:sp>
      <p:sp>
        <p:nvSpPr>
          <p:cNvPr id="28" name="graph node"/>
          <p:cNvSpPr/>
          <p:nvPr/>
        </p:nvSpPr>
        <p:spPr>
          <a:xfrm>
            <a:off x="9187434" y="3675888"/>
            <a:ext cx="2016252" cy="420624"/>
          </a:xfrm>
          <a:prstGeom prst="roundRect">
            <a:avLst>
              <a:gd name="adj" fmla="val 50000"/>
            </a:avLst>
          </a:prstGeom>
          <a:solidFill>
            <a:schemeClr val="tx2"/>
          </a:solidFill>
          <a:ln w="19050">
            <a:solidFill>
              <a:schemeClr val="accent3"/>
            </a:solidFill>
            <a:prstDash val="solid"/>
          </a:ln>
        </p:spPr>
      </p:sp>
      <p:sp>
        <p:nvSpPr>
          <p:cNvPr id="29" name="Text 27"/>
          <p:cNvSpPr txBox="1"/>
          <p:nvPr/>
        </p:nvSpPr>
        <p:spPr>
          <a:xfrm>
            <a:off x="9187434" y="3675888"/>
            <a:ext cx="2016252" cy="420624"/>
          </a:xfrm>
          <a:prstGeom prst="rect">
            <a:avLst/>
          </a:prstGeom>
          <a:noFill/>
          <a:ln/>
        </p:spPr>
        <p:txBody>
          <a:bodyPr wrap="square" lIns="0" tIns="0" rIns="0" bIns="0" rtlCol="0" anchor="ctr"/>
          <a:lstStyle/>
          <a:p>
            <a:pPr algn="ctr" indent="0" marL="0">
              <a:buNone/>
            </a:pPr>
            <a:r>
              <a:rPr lang="en-US" sz="1200" b="1" dirty="0">
                <a:solidFill>
                  <a:schemeClr val="bg1"/>
                </a:solidFill>
              </a:rPr>
              <a:t>Restricted Resource</a:t>
            </a:r>
            <a:endParaRPr lang="en-US" sz="1200" dirty="0"/>
          </a:p>
        </p:txBody>
      </p:sp>
      <p:sp>
        <p:nvSpPr>
          <p:cNvPr id="30" name="graph node"/>
          <p:cNvSpPr/>
          <p:nvPr/>
        </p:nvSpPr>
        <p:spPr>
          <a:xfrm>
            <a:off x="6880860" y="4087368"/>
            <a:ext cx="1234440" cy="420624"/>
          </a:xfrm>
          <a:prstGeom prst="roundRect">
            <a:avLst>
              <a:gd name="adj" fmla="val 50000"/>
            </a:avLst>
          </a:prstGeom>
          <a:solidFill>
            <a:schemeClr val="tx2"/>
          </a:solidFill>
          <a:ln w="19050">
            <a:solidFill>
              <a:schemeClr val="accent1"/>
            </a:solidFill>
            <a:prstDash val="solid"/>
          </a:ln>
        </p:spPr>
      </p:sp>
      <p:sp>
        <p:nvSpPr>
          <p:cNvPr id="31" name="Text 29"/>
          <p:cNvSpPr txBox="1"/>
          <p:nvPr/>
        </p:nvSpPr>
        <p:spPr>
          <a:xfrm>
            <a:off x="6880860" y="4087368"/>
            <a:ext cx="1234440" cy="420624"/>
          </a:xfrm>
          <a:prstGeom prst="rect">
            <a:avLst/>
          </a:prstGeom>
          <a:noFill/>
          <a:ln/>
        </p:spPr>
        <p:txBody>
          <a:bodyPr wrap="square" lIns="0" tIns="0" rIns="0" bIns="0" rtlCol="0" anchor="ctr"/>
          <a:lstStyle/>
          <a:p>
            <a:pPr algn="ctr" indent="0" marL="0">
              <a:buNone/>
            </a:pPr>
            <a:r>
              <a:rPr lang="en-US" sz="1200" b="1" dirty="0">
                <a:solidFill>
                  <a:schemeClr val="bg1"/>
                </a:solidFill>
              </a:rPr>
              <a:t>Repository</a:t>
            </a:r>
            <a:endParaRPr lang="en-US" sz="1200" dirty="0"/>
          </a:p>
        </p:txBody>
      </p:sp>
      <p:sp>
        <p:nvSpPr>
          <p:cNvPr id="32" name="graph node"/>
          <p:cNvSpPr/>
          <p:nvPr/>
        </p:nvSpPr>
        <p:spPr>
          <a:xfrm>
            <a:off x="8206740" y="5230368"/>
            <a:ext cx="1143000" cy="420624"/>
          </a:xfrm>
          <a:prstGeom prst="roundRect">
            <a:avLst>
              <a:gd name="adj" fmla="val 50000"/>
            </a:avLst>
          </a:prstGeom>
          <a:solidFill>
            <a:schemeClr val="tx2"/>
          </a:solidFill>
          <a:ln w="19050">
            <a:solidFill>
              <a:schemeClr val="accent1"/>
            </a:solidFill>
            <a:prstDash val="solid"/>
          </a:ln>
        </p:spPr>
      </p:sp>
      <p:sp>
        <p:nvSpPr>
          <p:cNvPr id="33" name="Text 31"/>
          <p:cNvSpPr txBox="1"/>
          <p:nvPr/>
        </p:nvSpPr>
        <p:spPr>
          <a:xfrm>
            <a:off x="8206740" y="5230368"/>
            <a:ext cx="1143000" cy="420624"/>
          </a:xfrm>
          <a:prstGeom prst="rect">
            <a:avLst/>
          </a:prstGeom>
          <a:noFill/>
          <a:ln/>
        </p:spPr>
        <p:txBody>
          <a:bodyPr wrap="square" lIns="0" tIns="0" rIns="0" bIns="0" rtlCol="0" anchor="ctr"/>
          <a:lstStyle/>
          <a:p>
            <a:pPr algn="ctr" indent="0" marL="0">
              <a:buNone/>
            </a:pPr>
            <a:r>
              <a:rPr lang="en-US" sz="1200" b="1" dirty="0">
                <a:solidFill>
                  <a:schemeClr val="bg1"/>
                </a:solidFill>
              </a:rPr>
              <a:t>Workflow</a:t>
            </a:r>
            <a:endParaRPr lang="en-US" sz="1200" dirty="0"/>
          </a:p>
        </p:txBody>
      </p:sp>
      <p:sp>
        <p:nvSpPr>
          <p:cNvPr id="34" name="graph node"/>
          <p:cNvSpPr/>
          <p:nvPr/>
        </p:nvSpPr>
        <p:spPr>
          <a:xfrm>
            <a:off x="10264140" y="5047488"/>
            <a:ext cx="1234440" cy="420624"/>
          </a:xfrm>
          <a:prstGeom prst="roundRect">
            <a:avLst>
              <a:gd name="adj" fmla="val 50000"/>
            </a:avLst>
          </a:prstGeom>
          <a:solidFill>
            <a:schemeClr val="tx2"/>
          </a:solidFill>
          <a:ln w="19050">
            <a:solidFill>
              <a:schemeClr val="accent6"/>
            </a:solidFill>
            <a:prstDash val="solid"/>
          </a:ln>
        </p:spPr>
      </p:sp>
      <p:sp>
        <p:nvSpPr>
          <p:cNvPr id="35" name="Text 33"/>
          <p:cNvSpPr txBox="1"/>
          <p:nvPr/>
        </p:nvSpPr>
        <p:spPr>
          <a:xfrm>
            <a:off x="10264140" y="5047488"/>
            <a:ext cx="1234440" cy="420624"/>
          </a:xfrm>
          <a:prstGeom prst="rect">
            <a:avLst/>
          </a:prstGeom>
          <a:noFill/>
          <a:ln/>
        </p:spPr>
        <p:txBody>
          <a:bodyPr wrap="square" lIns="0" tIns="0" rIns="0" bIns="0" rtlCol="0" anchor="ctr"/>
          <a:lstStyle/>
          <a:p>
            <a:pPr algn="ctr" indent="0" marL="0">
              <a:buNone/>
            </a:pPr>
            <a:r>
              <a:rPr lang="en-US" sz="1200" b="1" dirty="0">
                <a:solidFill>
                  <a:schemeClr val="bg1"/>
                </a:solidFill>
              </a:rPr>
              <a:t>Secret Ref</a:t>
            </a:r>
            <a:endParaRPr lang="en-US" sz="1200" dirty="0"/>
          </a:p>
        </p:txBody>
      </p:sp>
      <p:sp>
        <p:nvSpPr>
          <p:cNvPr id="36" name="Text 34"/>
          <p:cNvSpPr txBox="1"/>
          <p:nvPr/>
        </p:nvSpPr>
        <p:spPr>
          <a:xfrm>
            <a:off x="9555480" y="1691640"/>
            <a:ext cx="2011680" cy="274320"/>
          </a:xfrm>
          <a:prstGeom prst="rect">
            <a:avLst/>
          </a:prstGeom>
          <a:noFill/>
          <a:ln/>
        </p:spPr>
        <p:txBody>
          <a:bodyPr wrap="square" lIns="0" tIns="0" rIns="0" bIns="0" rtlCol="0" anchor="t"/>
          <a:lstStyle/>
          <a:p>
            <a:pPr indent="0" marL="0">
              <a:buNone/>
            </a:pPr>
            <a:r>
              <a:rPr lang="en-US" sz="1100" i="1" dirty="0">
                <a:solidFill>
                  <a:schemeClr val="accent3"/>
                </a:solidFill>
              </a:rPr>
              <a:t>Candidate attack path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01 · PRODUCT THESIS</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Investigate relationships, not isolated alerts</a:t>
            </a:r>
            <a:endParaRPr lang="en-US" sz="3200" dirty="0"/>
          </a:p>
        </p:txBody>
      </p:sp>
      <p:sp>
        <p:nvSpPr>
          <p:cNvPr id="4" name="card"/>
          <p:cNvSpPr/>
          <p:nvPr/>
        </p:nvSpPr>
        <p:spPr>
          <a:xfrm>
            <a:off x="548640" y="1600200"/>
            <a:ext cx="6035040" cy="4480560"/>
          </a:xfrm>
          <a:prstGeom prst="roundRect">
            <a:avLst>
              <a:gd name="adj" fmla="val 2041"/>
            </a:avLst>
          </a:prstGeom>
          <a:solidFill>
            <a:schemeClr val="tx2"/>
          </a:solidFill>
          <a:ln w="12700">
            <a:solidFill>
              <a:schemeClr val="accent2">
                <a:alpha val="60000"/>
              </a:schemeClr>
            </a:solidFill>
            <a:prstDash val="solid"/>
          </a:ln>
        </p:spPr>
      </p:sp>
      <p:sp>
        <p:nvSpPr>
          <p:cNvPr id="5" name="Text 3"/>
          <p:cNvSpPr txBox="1"/>
          <p:nvPr/>
        </p:nvSpPr>
        <p:spPr>
          <a:xfrm>
            <a:off x="868680" y="1691640"/>
            <a:ext cx="914400" cy="914400"/>
          </a:xfrm>
          <a:prstGeom prst="rect">
            <a:avLst/>
          </a:prstGeom>
          <a:noFill/>
          <a:ln/>
        </p:spPr>
        <p:txBody>
          <a:bodyPr wrap="square" lIns="0" tIns="0" rIns="0" bIns="0" rtlCol="0" anchor="t"/>
          <a:lstStyle/>
          <a:p>
            <a:pPr indent="0" marL="0">
              <a:buNone/>
            </a:pPr>
            <a:r>
              <a:rPr lang="en-US" sz="7200" b="1" dirty="0">
                <a:solidFill>
                  <a:schemeClr val="accent1"/>
                </a:solidFill>
                <a:latin typeface="Arial" pitchFamily="34" charset="0"/>
                <a:ea typeface="Arial" pitchFamily="34" charset="-122"/>
                <a:cs typeface="Arial" pitchFamily="34" charset="-120"/>
              </a:rPr>
              <a:t>“</a:t>
            </a:r>
            <a:endParaRPr lang="en-US" sz="7200" dirty="0"/>
          </a:p>
        </p:txBody>
      </p:sp>
      <p:sp>
        <p:nvSpPr>
          <p:cNvPr id="6" name="Text 4"/>
          <p:cNvSpPr txBox="1"/>
          <p:nvPr/>
        </p:nvSpPr>
        <p:spPr>
          <a:xfrm>
            <a:off x="868680" y="2514600"/>
            <a:ext cx="5394960" cy="914400"/>
          </a:xfrm>
          <a:prstGeom prst="rect">
            <a:avLst/>
          </a:prstGeom>
          <a:noFill/>
          <a:ln/>
        </p:spPr>
        <p:txBody>
          <a:bodyPr wrap="square" lIns="0" tIns="0" rIns="0" bIns="0" rtlCol="0" anchor="t"/>
          <a:lstStyle/>
          <a:p>
            <a:pPr indent="0" marL="0">
              <a:buNone/>
            </a:pPr>
            <a:r>
              <a:rPr lang="en-US" sz="2200" b="1" dirty="0">
                <a:solidFill>
                  <a:schemeClr val="bg1"/>
                </a:solidFill>
              </a:rPr>
              <a:t>Do not build another dashboard that lists isolated vulnerabilities.</a:t>
            </a:r>
            <a:endParaRPr lang="en-US" sz="2200" dirty="0"/>
          </a:p>
        </p:txBody>
      </p:sp>
      <p:sp>
        <p:nvSpPr>
          <p:cNvPr id="7" name="Text 5"/>
          <p:cNvSpPr txBox="1"/>
          <p:nvPr/>
        </p:nvSpPr>
        <p:spPr>
          <a:xfrm>
            <a:off x="868680" y="3611880"/>
            <a:ext cx="5394960" cy="2194560"/>
          </a:xfrm>
          <a:prstGeom prst="rect">
            <a:avLst/>
          </a:prstGeom>
          <a:noFill/>
          <a:ln/>
        </p:spPr>
        <p:txBody>
          <a:bodyPr wrap="square" lIns="0" tIns="0" rIns="0" bIns="0" rtlCol="0" anchor="t"/>
          <a:lstStyle/>
          <a:p>
            <a:pPr indent="0" marL="0">
              <a:buNone/>
            </a:pPr>
            <a:r>
              <a:rPr lang="en-US" sz="1600" dirty="0">
                <a:solidFill>
                  <a:schemeClr val="bg2"/>
                </a:solidFill>
              </a:rPr>
              <a:t>Build a security investigator that follows graph relationships to explain which combinations of permissions, tools, repositories and resources create a plausible attack path — and which validated change breaks that path.</a:t>
            </a:r>
            <a:endParaRPr lang="en-US" sz="1600" dirty="0"/>
          </a:p>
        </p:txBody>
      </p:sp>
      <p:sp>
        <p:nvSpPr>
          <p:cNvPr id="8" name="card"/>
          <p:cNvSpPr/>
          <p:nvPr/>
        </p:nvSpPr>
        <p:spPr>
          <a:xfrm>
            <a:off x="6903720" y="1600200"/>
            <a:ext cx="2286000" cy="2148840"/>
          </a:xfrm>
          <a:prstGeom prst="roundRect">
            <a:avLst>
              <a:gd name="adj" fmla="val 4255"/>
            </a:avLst>
          </a:prstGeom>
          <a:solidFill>
            <a:schemeClr val="tx2"/>
          </a:solidFill>
          <a:ln w="12700">
            <a:solidFill>
              <a:schemeClr val="accent2">
                <a:alpha val="38000"/>
              </a:schemeClr>
            </a:solidFill>
            <a:prstDash val="solid"/>
          </a:ln>
        </p:spPr>
      </p:sp>
      <p:sp>
        <p:nvSpPr>
          <p:cNvPr id="9" name="Text 7"/>
          <p:cNvSpPr txBox="1"/>
          <p:nvPr/>
        </p:nvSpPr>
        <p:spPr>
          <a:xfrm>
            <a:off x="7132320" y="2103120"/>
            <a:ext cx="1920240" cy="68580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Business</a:t>
            </a:r>
            <a:endParaRPr lang="en-US" sz="2600" dirty="0"/>
          </a:p>
        </p:txBody>
      </p:sp>
      <p:sp>
        <p:nvSpPr>
          <p:cNvPr id="10" name="Text 8"/>
          <p:cNvSpPr txBox="1"/>
          <p:nvPr/>
        </p:nvSpPr>
        <p:spPr>
          <a:xfrm>
            <a:off x="7132320" y="2880360"/>
            <a:ext cx="1920240" cy="548640"/>
          </a:xfrm>
          <a:prstGeom prst="rect">
            <a:avLst/>
          </a:prstGeom>
          <a:noFill/>
          <a:ln/>
        </p:spPr>
        <p:txBody>
          <a:bodyPr wrap="square" lIns="0" tIns="0" rIns="0" bIns="0" rtlCol="0" anchor="t"/>
          <a:lstStyle/>
          <a:p>
            <a:pPr indent="0" marL="0">
              <a:buNone/>
            </a:pPr>
            <a:r>
              <a:rPr lang="en-US" sz="1400" dirty="0">
                <a:solidFill>
                  <a:schemeClr val="accent6"/>
                </a:solidFill>
              </a:rPr>
              <a:t>Primary user segment</a:t>
            </a:r>
            <a:endParaRPr lang="en-US" sz="1400" dirty="0"/>
          </a:p>
        </p:txBody>
      </p:sp>
      <p:sp>
        <p:nvSpPr>
          <p:cNvPr id="11" name="card"/>
          <p:cNvSpPr/>
          <p:nvPr/>
        </p:nvSpPr>
        <p:spPr>
          <a:xfrm>
            <a:off x="9326880" y="1600200"/>
            <a:ext cx="2286000" cy="2148840"/>
          </a:xfrm>
          <a:prstGeom prst="roundRect">
            <a:avLst>
              <a:gd name="adj" fmla="val 4255"/>
            </a:avLst>
          </a:prstGeom>
          <a:solidFill>
            <a:schemeClr val="tx2"/>
          </a:solidFill>
          <a:ln w="12700">
            <a:solidFill>
              <a:schemeClr val="accent2">
                <a:alpha val="38000"/>
              </a:schemeClr>
            </a:solidFill>
            <a:prstDash val="solid"/>
          </a:ln>
        </p:spPr>
      </p:sp>
      <p:sp>
        <p:nvSpPr>
          <p:cNvPr id="12" name="Text 10"/>
          <p:cNvSpPr txBox="1"/>
          <p:nvPr/>
        </p:nvSpPr>
        <p:spPr>
          <a:xfrm>
            <a:off x="9555480" y="2103120"/>
            <a:ext cx="1920240" cy="685800"/>
          </a:xfrm>
          <a:prstGeom prst="rect">
            <a:avLst/>
          </a:prstGeom>
          <a:noFill/>
          <a:ln/>
        </p:spPr>
        <p:txBody>
          <a:bodyPr wrap="square" lIns="0" tIns="0" rIns="0" bIns="0" rtlCol="0" anchor="t"/>
          <a:lstStyle/>
          <a:p>
            <a:pPr indent="0" marL="0">
              <a:buNone/>
            </a:pPr>
            <a:r>
              <a:rPr lang="en-US" sz="2600" b="1" dirty="0">
                <a:solidFill>
                  <a:schemeClr val="accent5"/>
                </a:solidFill>
                <a:latin typeface="Arial" pitchFamily="34" charset="0"/>
                <a:ea typeface="Arial" pitchFamily="34" charset="-122"/>
                <a:cs typeface="Arial" pitchFamily="34" charset="-120"/>
              </a:rPr>
              <a:t>GitHub</a:t>
            </a:r>
            <a:endParaRPr lang="en-US" sz="2600" dirty="0"/>
          </a:p>
        </p:txBody>
      </p:sp>
      <p:sp>
        <p:nvSpPr>
          <p:cNvPr id="13" name="Text 11"/>
          <p:cNvSpPr txBox="1"/>
          <p:nvPr/>
        </p:nvSpPr>
        <p:spPr>
          <a:xfrm>
            <a:off x="9555480" y="2880360"/>
            <a:ext cx="1920240" cy="548640"/>
          </a:xfrm>
          <a:prstGeom prst="rect">
            <a:avLst/>
          </a:prstGeom>
          <a:noFill/>
          <a:ln/>
        </p:spPr>
        <p:txBody>
          <a:bodyPr wrap="square" lIns="0" tIns="0" rIns="0" bIns="0" rtlCol="0" anchor="t"/>
          <a:lstStyle/>
          <a:p>
            <a:pPr indent="0" marL="0">
              <a:buNone/>
            </a:pPr>
            <a:r>
              <a:rPr lang="en-US" sz="1400" dirty="0">
                <a:solidFill>
                  <a:schemeClr val="accent6"/>
                </a:solidFill>
              </a:rPr>
              <a:t>First integration</a:t>
            </a:r>
            <a:endParaRPr lang="en-US" sz="1400" dirty="0"/>
          </a:p>
        </p:txBody>
      </p:sp>
      <p:sp>
        <p:nvSpPr>
          <p:cNvPr id="14" name="card"/>
          <p:cNvSpPr/>
          <p:nvPr/>
        </p:nvSpPr>
        <p:spPr>
          <a:xfrm>
            <a:off x="6903720" y="3886200"/>
            <a:ext cx="2286000" cy="2148840"/>
          </a:xfrm>
          <a:prstGeom prst="roundRect">
            <a:avLst>
              <a:gd name="adj" fmla="val 4255"/>
            </a:avLst>
          </a:prstGeom>
          <a:solidFill>
            <a:schemeClr val="tx2"/>
          </a:solidFill>
          <a:ln w="12700">
            <a:solidFill>
              <a:schemeClr val="accent2">
                <a:alpha val="38000"/>
              </a:schemeClr>
            </a:solidFill>
            <a:prstDash val="solid"/>
          </a:ln>
        </p:spPr>
      </p:sp>
      <p:sp>
        <p:nvSpPr>
          <p:cNvPr id="15" name="Text 13"/>
          <p:cNvSpPr txBox="1"/>
          <p:nvPr/>
        </p:nvSpPr>
        <p:spPr>
          <a:xfrm>
            <a:off x="7132320" y="4389120"/>
            <a:ext cx="1920240" cy="685800"/>
          </a:xfrm>
          <a:prstGeom prst="rect">
            <a:avLst/>
          </a:prstGeom>
          <a:noFill/>
          <a:ln/>
        </p:spPr>
        <p:txBody>
          <a:bodyPr wrap="square" lIns="0" tIns="0" rIns="0" bIns="0" rtlCol="0" anchor="t"/>
          <a:lstStyle/>
          <a:p>
            <a:pPr indent="0" marL="0">
              <a:buNone/>
            </a:pPr>
            <a:r>
              <a:rPr lang="en-US" sz="2600" b="1" dirty="0">
                <a:solidFill>
                  <a:schemeClr val="accent2"/>
                </a:solidFill>
                <a:latin typeface="Arial" pitchFamily="34" charset="0"/>
                <a:ea typeface="Arial" pitchFamily="34" charset="-122"/>
                <a:cs typeface="Arial" pitchFamily="34" charset="-120"/>
              </a:rPr>
              <a:t>Graph-first</a:t>
            </a:r>
            <a:endParaRPr lang="en-US" sz="2600" dirty="0"/>
          </a:p>
        </p:txBody>
      </p:sp>
      <p:sp>
        <p:nvSpPr>
          <p:cNvPr id="16" name="Text 14"/>
          <p:cNvSpPr txBox="1"/>
          <p:nvPr/>
        </p:nvSpPr>
        <p:spPr>
          <a:xfrm>
            <a:off x="7132320" y="5166360"/>
            <a:ext cx="1920240" cy="548640"/>
          </a:xfrm>
          <a:prstGeom prst="rect">
            <a:avLst/>
          </a:prstGeom>
          <a:noFill/>
          <a:ln/>
        </p:spPr>
        <p:txBody>
          <a:bodyPr wrap="square" lIns="0" tIns="0" rIns="0" bIns="0" rtlCol="0" anchor="t"/>
          <a:lstStyle/>
          <a:p>
            <a:pPr indent="0" marL="0">
              <a:buNone/>
            </a:pPr>
            <a:r>
              <a:rPr lang="en-US" sz="1400" dirty="0">
                <a:solidFill>
                  <a:schemeClr val="accent6"/>
                </a:solidFill>
              </a:rPr>
              <a:t>Investigation engine</a:t>
            </a:r>
            <a:endParaRPr lang="en-US" sz="1400" dirty="0"/>
          </a:p>
        </p:txBody>
      </p:sp>
      <p:sp>
        <p:nvSpPr>
          <p:cNvPr id="17" name="card"/>
          <p:cNvSpPr/>
          <p:nvPr/>
        </p:nvSpPr>
        <p:spPr>
          <a:xfrm>
            <a:off x="9326880" y="3886200"/>
            <a:ext cx="2286000" cy="2148840"/>
          </a:xfrm>
          <a:prstGeom prst="roundRect">
            <a:avLst>
              <a:gd name="adj" fmla="val 4255"/>
            </a:avLst>
          </a:prstGeom>
          <a:solidFill>
            <a:schemeClr val="tx2"/>
          </a:solidFill>
          <a:ln w="12700">
            <a:solidFill>
              <a:schemeClr val="accent2">
                <a:alpha val="38000"/>
              </a:schemeClr>
            </a:solidFill>
            <a:prstDash val="solid"/>
          </a:ln>
        </p:spPr>
      </p:sp>
      <p:sp>
        <p:nvSpPr>
          <p:cNvPr id="18" name="Text 16"/>
          <p:cNvSpPr txBox="1"/>
          <p:nvPr/>
        </p:nvSpPr>
        <p:spPr>
          <a:xfrm>
            <a:off x="9555480" y="4389120"/>
            <a:ext cx="1920240" cy="685800"/>
          </a:xfrm>
          <a:prstGeom prst="rect">
            <a:avLst/>
          </a:prstGeom>
          <a:noFill/>
          <a:ln/>
        </p:spPr>
        <p:txBody>
          <a:bodyPr wrap="square" lIns="0" tIns="0" rIns="0" bIns="0" rtlCol="0" anchor="t"/>
          <a:lstStyle/>
          <a:p>
            <a:pPr indent="0" marL="0">
              <a:buNone/>
            </a:pPr>
            <a:r>
              <a:rPr lang="en-US" sz="2600" b="1" dirty="0">
                <a:solidFill>
                  <a:schemeClr val="accent4"/>
                </a:solidFill>
                <a:latin typeface="Arial" pitchFamily="34" charset="0"/>
                <a:ea typeface="Arial" pitchFamily="34" charset="-122"/>
                <a:cs typeface="Arial" pitchFamily="34" charset="-120"/>
              </a:rPr>
              <a:t>Verify</a:t>
            </a:r>
            <a:endParaRPr lang="en-US" sz="2600" dirty="0"/>
          </a:p>
        </p:txBody>
      </p:sp>
      <p:sp>
        <p:nvSpPr>
          <p:cNvPr id="19" name="Text 17"/>
          <p:cNvSpPr txBox="1"/>
          <p:nvPr/>
        </p:nvSpPr>
        <p:spPr>
          <a:xfrm>
            <a:off x="9555480" y="5166360"/>
            <a:ext cx="1920240" cy="548640"/>
          </a:xfrm>
          <a:prstGeom prst="rect">
            <a:avLst/>
          </a:prstGeom>
          <a:noFill/>
          <a:ln/>
        </p:spPr>
        <p:txBody>
          <a:bodyPr wrap="square" lIns="0" tIns="0" rIns="0" bIns="0" rtlCol="0" anchor="t"/>
          <a:lstStyle/>
          <a:p>
            <a:pPr indent="0" marL="0">
              <a:buNone/>
            </a:pPr>
            <a:r>
              <a:rPr lang="en-US" sz="1400" dirty="0">
                <a:solidFill>
                  <a:schemeClr val="accent6"/>
                </a:solidFill>
              </a:rPr>
              <a:t>Required before closure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EXECUTIVE SUMMARY</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Extending AI-native DevSecOps to AI coding agents</a:t>
            </a:r>
            <a:endParaRPr lang="en-US" sz="3200" dirty="0"/>
          </a:p>
        </p:txBody>
      </p:sp>
      <p:sp>
        <p:nvSpPr>
          <p:cNvPr id="4" name="card"/>
          <p:cNvSpPr/>
          <p:nvPr/>
        </p:nvSpPr>
        <p:spPr>
          <a:xfrm>
            <a:off x="548640" y="1554480"/>
            <a:ext cx="5440680" cy="1783080"/>
          </a:xfrm>
          <a:prstGeom prst="roundRect">
            <a:avLst>
              <a:gd name="adj" fmla="val 5128"/>
            </a:avLst>
          </a:prstGeom>
          <a:solidFill>
            <a:schemeClr val="tx2"/>
          </a:solidFill>
          <a:ln w="12700">
            <a:solidFill>
              <a:schemeClr val="accent2">
                <a:alpha val="38000"/>
              </a:schemeClr>
            </a:solidFill>
            <a:prstDash val="solid"/>
          </a:ln>
        </p:spPr>
      </p:sp>
      <p:sp>
        <p:nvSpPr>
          <p:cNvPr id="5" name="icon tile"/>
          <p:cNvSpPr/>
          <p:nvPr/>
        </p:nvSpPr>
        <p:spPr>
          <a:xfrm>
            <a:off x="822960" y="1847088"/>
            <a:ext cx="685800" cy="685800"/>
          </a:xfrm>
          <a:prstGeom prst="roundRect">
            <a:avLst>
              <a:gd name="adj" fmla="val 22000"/>
            </a:avLst>
          </a:prstGeom>
          <a:solidFill>
            <a:schemeClr val="accent3">
              <a:alpha val="20000"/>
            </a:schemeClr>
          </a:solidFill>
          <a:ln w="9525">
            <a:solidFill>
              <a:schemeClr val="accent3">
                <a:alpha val="55000"/>
              </a:schemeClr>
            </a:solidFill>
            <a:prstDash val="solid"/>
          </a:ln>
        </p:spPr>
      </p:sp>
      <p:pic>
        <p:nvPicPr>
          <p:cNvPr id="6" name="icon" descr="preencoded.png">    </p:cNvPr>
          <p:cNvPicPr>
            <a:picLocks noChangeAspect="1"/>
          </p:cNvPicPr>
          <p:nvPr/>
        </p:nvPicPr>
        <p:blipFill>
          <a:blip r:embed="rId1"/>
          <a:stretch>
            <a:fillRect/>
          </a:stretch>
        </p:blipFill>
        <p:spPr>
          <a:xfrm>
            <a:off x="987552" y="2011680"/>
            <a:ext cx="356616" cy="356616"/>
          </a:xfrm>
          <a:prstGeom prst="rect">
            <a:avLst/>
          </a:prstGeom>
        </p:spPr>
      </p:pic>
      <p:sp>
        <p:nvSpPr>
          <p:cNvPr id="7" name="Text 4"/>
          <p:cNvSpPr txBox="1"/>
          <p:nvPr/>
        </p:nvSpPr>
        <p:spPr>
          <a:xfrm>
            <a:off x="1737360" y="1828800"/>
            <a:ext cx="4023360" cy="228600"/>
          </a:xfrm>
          <a:prstGeom prst="rect">
            <a:avLst/>
          </a:prstGeom>
          <a:noFill/>
          <a:ln/>
        </p:spPr>
        <p:txBody>
          <a:bodyPr wrap="square" lIns="0" tIns="0" rIns="0" bIns="0" rtlCol="0" anchor="t"/>
          <a:lstStyle/>
          <a:p>
            <a:pPr indent="0" marL="0">
              <a:buNone/>
            </a:pPr>
            <a:r>
              <a:rPr lang="en-US" sz="1100" b="1" spc="200" kern="0" dirty="0">
                <a:solidFill>
                  <a:schemeClr val="accent3"/>
                </a:solidFill>
              </a:rPr>
              <a:t>PROBLEM</a:t>
            </a:r>
            <a:endParaRPr lang="en-US" sz="1100" dirty="0"/>
          </a:p>
        </p:txBody>
      </p:sp>
      <p:sp>
        <p:nvSpPr>
          <p:cNvPr id="8" name="Text 5"/>
          <p:cNvSpPr txBox="1"/>
          <p:nvPr/>
        </p:nvSpPr>
        <p:spPr>
          <a:xfrm>
            <a:off x="1737360" y="2084832"/>
            <a:ext cx="4023360" cy="365760"/>
          </a:xfrm>
          <a:prstGeom prst="rect">
            <a:avLst/>
          </a:prstGeom>
          <a:noFill/>
          <a:ln/>
        </p:spPr>
        <p:txBody>
          <a:bodyPr wrap="square" lIns="0" tIns="0" rIns="0" bIns="0" rtlCol="0" anchor="t"/>
          <a:lstStyle/>
          <a:p>
            <a:pPr indent="0" marL="0">
              <a:buNone/>
            </a:pPr>
            <a:r>
              <a:rPr lang="en-US" sz="1800" b="1" dirty="0">
                <a:solidFill>
                  <a:schemeClr val="bg1"/>
                </a:solidFill>
              </a:rPr>
              <a:t>Risk is connected</a:t>
            </a:r>
            <a:endParaRPr lang="en-US" sz="1800" dirty="0"/>
          </a:p>
        </p:txBody>
      </p:sp>
      <p:sp>
        <p:nvSpPr>
          <p:cNvPr id="9" name="Text 6"/>
          <p:cNvSpPr txBox="1"/>
          <p:nvPr/>
        </p:nvSpPr>
        <p:spPr>
          <a:xfrm>
            <a:off x="1737360" y="2468880"/>
            <a:ext cx="4069080" cy="777240"/>
          </a:xfrm>
          <a:prstGeom prst="rect">
            <a:avLst/>
          </a:prstGeom>
          <a:noFill/>
          <a:ln/>
        </p:spPr>
        <p:txBody>
          <a:bodyPr wrap="square" lIns="0" tIns="0" rIns="0" bIns="0" rtlCol="0" anchor="t"/>
          <a:lstStyle/>
          <a:p>
            <a:pPr indent="0" marL="0">
              <a:buNone/>
            </a:pPr>
            <a:r>
              <a:rPr lang="en-US" sz="1300" dirty="0">
                <a:solidFill>
                  <a:schemeClr val="bg2"/>
                </a:solidFill>
              </a:rPr>
              <a:t>Individual alerts miss how tool permissions, repo access, dependencies, secrets exposure and workflow privileges combine into a larger risk.</a:t>
            </a:r>
            <a:endParaRPr lang="en-US" sz="1300" dirty="0"/>
          </a:p>
        </p:txBody>
      </p:sp>
      <p:sp>
        <p:nvSpPr>
          <p:cNvPr id="10" name="card"/>
          <p:cNvSpPr/>
          <p:nvPr/>
        </p:nvSpPr>
        <p:spPr>
          <a:xfrm>
            <a:off x="6172200" y="1554480"/>
            <a:ext cx="5440680" cy="1783080"/>
          </a:xfrm>
          <a:prstGeom prst="roundRect">
            <a:avLst>
              <a:gd name="adj" fmla="val 5128"/>
            </a:avLst>
          </a:prstGeom>
          <a:solidFill>
            <a:schemeClr val="tx2"/>
          </a:solidFill>
          <a:ln w="12700">
            <a:solidFill>
              <a:schemeClr val="accent2">
                <a:alpha val="38000"/>
              </a:schemeClr>
            </a:solidFill>
            <a:prstDash val="solid"/>
          </a:ln>
        </p:spPr>
      </p:sp>
      <p:sp>
        <p:nvSpPr>
          <p:cNvPr id="11" name="icon tile"/>
          <p:cNvSpPr/>
          <p:nvPr/>
        </p:nvSpPr>
        <p:spPr>
          <a:xfrm>
            <a:off x="6446520" y="1847088"/>
            <a:ext cx="685800" cy="685800"/>
          </a:xfrm>
          <a:prstGeom prst="roundRect">
            <a:avLst>
              <a:gd name="adj" fmla="val 22000"/>
            </a:avLst>
          </a:prstGeom>
          <a:solidFill>
            <a:schemeClr val="accent1">
              <a:alpha val="20000"/>
            </a:schemeClr>
          </a:solidFill>
          <a:ln w="9525">
            <a:solidFill>
              <a:schemeClr val="accent1">
                <a:alpha val="55000"/>
              </a:schemeClr>
            </a:solidFill>
            <a:prstDash val="solid"/>
          </a:ln>
        </p:spPr>
      </p:sp>
      <p:pic>
        <p:nvPicPr>
          <p:cNvPr id="12" name="icon" descr="preencoded.png">    </p:cNvPr>
          <p:cNvPicPr>
            <a:picLocks noChangeAspect="1"/>
          </p:cNvPicPr>
          <p:nvPr/>
        </p:nvPicPr>
        <p:blipFill>
          <a:blip r:embed="rId2"/>
          <a:stretch>
            <a:fillRect/>
          </a:stretch>
        </p:blipFill>
        <p:spPr>
          <a:xfrm>
            <a:off x="6611112" y="2011680"/>
            <a:ext cx="356616" cy="356616"/>
          </a:xfrm>
          <a:prstGeom prst="rect">
            <a:avLst/>
          </a:prstGeom>
        </p:spPr>
      </p:pic>
      <p:sp>
        <p:nvSpPr>
          <p:cNvPr id="13" name="Text 9"/>
          <p:cNvSpPr txBox="1"/>
          <p:nvPr/>
        </p:nvSpPr>
        <p:spPr>
          <a:xfrm>
            <a:off x="7360920" y="1828800"/>
            <a:ext cx="402336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SOLUTION</a:t>
            </a:r>
            <a:endParaRPr lang="en-US" sz="1100" dirty="0"/>
          </a:p>
        </p:txBody>
      </p:sp>
      <p:sp>
        <p:nvSpPr>
          <p:cNvPr id="14" name="Text 10"/>
          <p:cNvSpPr txBox="1"/>
          <p:nvPr/>
        </p:nvSpPr>
        <p:spPr>
          <a:xfrm>
            <a:off x="7360920" y="2084832"/>
            <a:ext cx="4023360" cy="365760"/>
          </a:xfrm>
          <a:prstGeom prst="rect">
            <a:avLst/>
          </a:prstGeom>
          <a:noFill/>
          <a:ln/>
        </p:spPr>
        <p:txBody>
          <a:bodyPr wrap="square" lIns="0" tIns="0" rIns="0" bIns="0" rtlCol="0" anchor="t"/>
          <a:lstStyle/>
          <a:p>
            <a:pPr indent="0" marL="0">
              <a:buNone/>
            </a:pPr>
            <a:r>
              <a:rPr lang="en-US" sz="1800" b="1" dirty="0">
                <a:solidFill>
                  <a:schemeClr val="bg1"/>
                </a:solidFill>
              </a:rPr>
              <a:t>Investigate relationships</a:t>
            </a:r>
            <a:endParaRPr lang="en-US" sz="1800" dirty="0"/>
          </a:p>
        </p:txBody>
      </p:sp>
      <p:sp>
        <p:nvSpPr>
          <p:cNvPr id="15" name="Text 11"/>
          <p:cNvSpPr txBox="1"/>
          <p:nvPr/>
        </p:nvSpPr>
        <p:spPr>
          <a:xfrm>
            <a:off x="7360920" y="2468880"/>
            <a:ext cx="4069080" cy="777240"/>
          </a:xfrm>
          <a:prstGeom prst="rect">
            <a:avLst/>
          </a:prstGeom>
          <a:noFill/>
          <a:ln/>
        </p:spPr>
        <p:txBody>
          <a:bodyPr wrap="square" lIns="0" tIns="0" rIns="0" bIns="0" rtlCol="0" anchor="t"/>
          <a:lstStyle/>
          <a:p>
            <a:pPr indent="0" marL="0">
              <a:buNone/>
            </a:pPr>
            <a:r>
              <a:rPr lang="en-US" sz="1300" dirty="0">
                <a:solidFill>
                  <a:schemeClr val="bg2"/>
                </a:solidFill>
              </a:rPr>
              <a:t>FalkorDB stores and traverses the security model; an agent uses controlled graph-query tools and produces explainable attack-path findings.</a:t>
            </a:r>
            <a:endParaRPr lang="en-US" sz="1300" dirty="0"/>
          </a:p>
        </p:txBody>
      </p:sp>
      <p:sp>
        <p:nvSpPr>
          <p:cNvPr id="16" name="card"/>
          <p:cNvSpPr/>
          <p:nvPr/>
        </p:nvSpPr>
        <p:spPr>
          <a:xfrm>
            <a:off x="548640" y="3520440"/>
            <a:ext cx="5440680" cy="1783080"/>
          </a:xfrm>
          <a:prstGeom prst="roundRect">
            <a:avLst>
              <a:gd name="adj" fmla="val 5128"/>
            </a:avLst>
          </a:prstGeom>
          <a:solidFill>
            <a:schemeClr val="tx2"/>
          </a:solidFill>
          <a:ln w="12700">
            <a:solidFill>
              <a:schemeClr val="accent2">
                <a:alpha val="38000"/>
              </a:schemeClr>
            </a:solidFill>
            <a:prstDash val="solid"/>
          </a:ln>
        </p:spPr>
      </p:sp>
      <p:sp>
        <p:nvSpPr>
          <p:cNvPr id="17" name="icon tile"/>
          <p:cNvSpPr/>
          <p:nvPr/>
        </p:nvSpPr>
        <p:spPr>
          <a:xfrm>
            <a:off x="822960" y="3813048"/>
            <a:ext cx="685800" cy="685800"/>
          </a:xfrm>
          <a:prstGeom prst="roundRect">
            <a:avLst>
              <a:gd name="adj" fmla="val 22000"/>
            </a:avLst>
          </a:prstGeom>
          <a:solidFill>
            <a:schemeClr val="accent5">
              <a:alpha val="20000"/>
            </a:schemeClr>
          </a:solidFill>
          <a:ln w="9525">
            <a:solidFill>
              <a:schemeClr val="accent5">
                <a:alpha val="55000"/>
              </a:schemeClr>
            </a:solidFill>
            <a:prstDash val="solid"/>
          </a:ln>
        </p:spPr>
      </p:sp>
      <p:pic>
        <p:nvPicPr>
          <p:cNvPr id="18" name="icon" descr="preencoded.png">    </p:cNvPr>
          <p:cNvPicPr>
            <a:picLocks noChangeAspect="1"/>
          </p:cNvPicPr>
          <p:nvPr/>
        </p:nvPicPr>
        <p:blipFill>
          <a:blip r:embed="rId3"/>
          <a:stretch>
            <a:fillRect/>
          </a:stretch>
        </p:blipFill>
        <p:spPr>
          <a:xfrm>
            <a:off x="987552" y="3977640"/>
            <a:ext cx="356616" cy="356616"/>
          </a:xfrm>
          <a:prstGeom prst="rect">
            <a:avLst/>
          </a:prstGeom>
        </p:spPr>
      </p:pic>
      <p:sp>
        <p:nvSpPr>
          <p:cNvPr id="19" name="Text 14"/>
          <p:cNvSpPr txBox="1"/>
          <p:nvPr/>
        </p:nvSpPr>
        <p:spPr>
          <a:xfrm>
            <a:off x="1737360" y="3794760"/>
            <a:ext cx="4023360" cy="228600"/>
          </a:xfrm>
          <a:prstGeom prst="rect">
            <a:avLst/>
          </a:prstGeom>
          <a:noFill/>
          <a:ln/>
        </p:spPr>
        <p:txBody>
          <a:bodyPr wrap="square" lIns="0" tIns="0" rIns="0" bIns="0" rtlCol="0" anchor="t"/>
          <a:lstStyle/>
          <a:p>
            <a:pPr indent="0" marL="0">
              <a:buNone/>
            </a:pPr>
            <a:r>
              <a:rPr lang="en-US" sz="1100" b="1" spc="200" kern="0" dirty="0">
                <a:solidFill>
                  <a:schemeClr val="accent5"/>
                </a:solidFill>
              </a:rPr>
              <a:t>BUSINESS OUTCOME</a:t>
            </a:r>
            <a:endParaRPr lang="en-US" sz="1100" dirty="0"/>
          </a:p>
        </p:txBody>
      </p:sp>
      <p:sp>
        <p:nvSpPr>
          <p:cNvPr id="20" name="Text 15"/>
          <p:cNvSpPr txBox="1"/>
          <p:nvPr/>
        </p:nvSpPr>
        <p:spPr>
          <a:xfrm>
            <a:off x="1737360" y="4050792"/>
            <a:ext cx="4023360" cy="365760"/>
          </a:xfrm>
          <a:prstGeom prst="rect">
            <a:avLst/>
          </a:prstGeom>
          <a:noFill/>
          <a:ln/>
        </p:spPr>
        <p:txBody>
          <a:bodyPr wrap="square" lIns="0" tIns="0" rIns="0" bIns="0" rtlCol="0" anchor="t"/>
          <a:lstStyle/>
          <a:p>
            <a:pPr indent="0" marL="0">
              <a:buNone/>
            </a:pPr>
            <a:r>
              <a:rPr lang="en-US" sz="1800" b="1" dirty="0">
                <a:solidFill>
                  <a:schemeClr val="bg1"/>
                </a:solidFill>
              </a:rPr>
              <a:t>Prioritize useful fixes</a:t>
            </a:r>
            <a:endParaRPr lang="en-US" sz="1800" dirty="0"/>
          </a:p>
        </p:txBody>
      </p:sp>
      <p:sp>
        <p:nvSpPr>
          <p:cNvPr id="21" name="Text 16"/>
          <p:cNvSpPr txBox="1"/>
          <p:nvPr/>
        </p:nvSpPr>
        <p:spPr>
          <a:xfrm>
            <a:off x="1737360" y="4434840"/>
            <a:ext cx="4069080" cy="777240"/>
          </a:xfrm>
          <a:prstGeom prst="rect">
            <a:avLst/>
          </a:prstGeom>
          <a:noFill/>
          <a:ln/>
        </p:spPr>
        <p:txBody>
          <a:bodyPr wrap="square" lIns="0" tIns="0" rIns="0" bIns="0" rtlCol="0" anchor="t"/>
          <a:lstStyle/>
          <a:p>
            <a:pPr indent="0" marL="0">
              <a:buNone/>
            </a:pPr>
            <a:r>
              <a:rPr lang="en-US" sz="1300" dirty="0">
                <a:solidFill>
                  <a:schemeClr val="bg2"/>
                </a:solidFill>
              </a:rPr>
              <a:t>Show which verified policy or config change removes the most validated risk without breaking legitimate developer workflows.</a:t>
            </a:r>
            <a:endParaRPr lang="en-US" sz="1300" dirty="0"/>
          </a:p>
        </p:txBody>
      </p:sp>
      <p:sp>
        <p:nvSpPr>
          <p:cNvPr id="22" name="card"/>
          <p:cNvSpPr/>
          <p:nvPr/>
        </p:nvSpPr>
        <p:spPr>
          <a:xfrm>
            <a:off x="6172200" y="3520440"/>
            <a:ext cx="5440680" cy="1783080"/>
          </a:xfrm>
          <a:prstGeom prst="roundRect">
            <a:avLst>
              <a:gd name="adj" fmla="val 5128"/>
            </a:avLst>
          </a:prstGeom>
          <a:solidFill>
            <a:schemeClr val="tx2"/>
          </a:solidFill>
          <a:ln w="12700">
            <a:solidFill>
              <a:schemeClr val="accent2">
                <a:alpha val="38000"/>
              </a:schemeClr>
            </a:solidFill>
            <a:prstDash val="solid"/>
          </a:ln>
        </p:spPr>
      </p:sp>
      <p:sp>
        <p:nvSpPr>
          <p:cNvPr id="23" name="icon tile"/>
          <p:cNvSpPr/>
          <p:nvPr/>
        </p:nvSpPr>
        <p:spPr>
          <a:xfrm>
            <a:off x="6446520" y="3813048"/>
            <a:ext cx="685800" cy="685800"/>
          </a:xfrm>
          <a:prstGeom prst="roundRect">
            <a:avLst>
              <a:gd name="adj" fmla="val 22000"/>
            </a:avLst>
          </a:prstGeom>
          <a:solidFill>
            <a:schemeClr val="bg1">
              <a:alpha val="20000"/>
            </a:schemeClr>
          </a:solidFill>
          <a:ln w="9525">
            <a:solidFill>
              <a:schemeClr val="bg1">
                <a:alpha val="55000"/>
              </a:schemeClr>
            </a:solidFill>
            <a:prstDash val="solid"/>
          </a:ln>
        </p:spPr>
      </p:sp>
      <p:pic>
        <p:nvPicPr>
          <p:cNvPr id="24" name="icon" descr="preencoded.png">    </p:cNvPr>
          <p:cNvPicPr>
            <a:picLocks noChangeAspect="1"/>
          </p:cNvPicPr>
          <p:nvPr/>
        </p:nvPicPr>
        <p:blipFill>
          <a:blip r:embed="rId4"/>
          <a:stretch>
            <a:fillRect/>
          </a:stretch>
        </p:blipFill>
        <p:spPr>
          <a:xfrm>
            <a:off x="6611112" y="3977640"/>
            <a:ext cx="356616" cy="356616"/>
          </a:xfrm>
          <a:prstGeom prst="rect">
            <a:avLst/>
          </a:prstGeom>
        </p:spPr>
      </p:pic>
      <p:sp>
        <p:nvSpPr>
          <p:cNvPr id="25" name="Text 19"/>
          <p:cNvSpPr txBox="1"/>
          <p:nvPr/>
        </p:nvSpPr>
        <p:spPr>
          <a:xfrm>
            <a:off x="7360920" y="3794760"/>
            <a:ext cx="4023360" cy="228600"/>
          </a:xfrm>
          <a:prstGeom prst="rect">
            <a:avLst/>
          </a:prstGeom>
          <a:noFill/>
          <a:ln/>
        </p:spPr>
        <p:txBody>
          <a:bodyPr wrap="square" lIns="0" tIns="0" rIns="0" bIns="0" rtlCol="0" anchor="t"/>
          <a:lstStyle/>
          <a:p>
            <a:pPr indent="0" marL="0">
              <a:buNone/>
            </a:pPr>
            <a:r>
              <a:rPr lang="en-US" sz="1100" b="1" spc="200" kern="0" dirty="0">
                <a:solidFill>
                  <a:schemeClr val="bg1"/>
                </a:solidFill>
              </a:rPr>
              <a:t>MVP BOUNDARY</a:t>
            </a:r>
            <a:endParaRPr lang="en-US" sz="1100" dirty="0"/>
          </a:p>
        </p:txBody>
      </p:sp>
      <p:sp>
        <p:nvSpPr>
          <p:cNvPr id="26" name="Text 20"/>
          <p:cNvSpPr txBox="1"/>
          <p:nvPr/>
        </p:nvSpPr>
        <p:spPr>
          <a:xfrm>
            <a:off x="7360920" y="4050792"/>
            <a:ext cx="4023360" cy="365760"/>
          </a:xfrm>
          <a:prstGeom prst="rect">
            <a:avLst/>
          </a:prstGeom>
          <a:noFill/>
          <a:ln/>
        </p:spPr>
        <p:txBody>
          <a:bodyPr wrap="square" lIns="0" tIns="0" rIns="0" bIns="0" rtlCol="0" anchor="t"/>
          <a:lstStyle/>
          <a:p>
            <a:pPr indent="0" marL="0">
              <a:buNone/>
            </a:pPr>
            <a:r>
              <a:rPr lang="en-US" sz="1800" b="1" dirty="0">
                <a:solidFill>
                  <a:schemeClr val="bg1"/>
                </a:solidFill>
              </a:rPr>
              <a:t>GitHub and CI/CD first</a:t>
            </a:r>
            <a:endParaRPr lang="en-US" sz="1800" dirty="0"/>
          </a:p>
        </p:txBody>
      </p:sp>
      <p:sp>
        <p:nvSpPr>
          <p:cNvPr id="27" name="Text 21"/>
          <p:cNvSpPr txBox="1"/>
          <p:nvPr/>
        </p:nvSpPr>
        <p:spPr>
          <a:xfrm>
            <a:off x="7360920" y="4434840"/>
            <a:ext cx="4069080" cy="777240"/>
          </a:xfrm>
          <a:prstGeom prst="rect">
            <a:avLst/>
          </a:prstGeom>
          <a:noFill/>
          <a:ln/>
        </p:spPr>
        <p:txBody>
          <a:bodyPr wrap="square" lIns="0" tIns="0" rIns="0" bIns="0" rtlCol="0" anchor="t"/>
          <a:lstStyle/>
          <a:p>
            <a:pPr indent="0" marL="0">
              <a:buNone/>
            </a:pPr>
            <a:r>
              <a:rPr lang="en-US" sz="1300" dirty="0">
                <a:solidFill>
                  <a:schemeClr val="bg2"/>
                </a:solidFill>
              </a:rPr>
              <a:t>Repo metadata, workflow permissions, scan findings and a controlled AI-agent test harness. Live enforcement only for supported integrations.</a:t>
            </a:r>
            <a:endParaRPr lang="en-US" sz="1300" dirty="0"/>
          </a:p>
        </p:txBody>
      </p:sp>
      <p:sp>
        <p:nvSpPr>
          <p:cNvPr id="28" name="card"/>
          <p:cNvSpPr/>
          <p:nvPr/>
        </p:nvSpPr>
        <p:spPr>
          <a:xfrm>
            <a:off x="548640" y="5532120"/>
            <a:ext cx="11064240" cy="658368"/>
          </a:xfrm>
          <a:prstGeom prst="roundRect">
            <a:avLst>
              <a:gd name="adj" fmla="val 13889"/>
            </a:avLst>
          </a:prstGeom>
          <a:solidFill>
            <a:schemeClr val="accent4">
              <a:alpha val="12000"/>
            </a:schemeClr>
          </a:solidFill>
          <a:ln w="12700">
            <a:solidFill>
              <a:schemeClr val="accent4">
                <a:alpha val="70000"/>
              </a:schemeClr>
            </a:solidFill>
            <a:prstDash val="solid"/>
          </a:ln>
        </p:spPr>
      </p:sp>
      <p:sp>
        <p:nvSpPr>
          <p:cNvPr id="29" name="icon tile"/>
          <p:cNvSpPr/>
          <p:nvPr/>
        </p:nvSpPr>
        <p:spPr>
          <a:xfrm>
            <a:off x="713232" y="5623560"/>
            <a:ext cx="475488" cy="475488"/>
          </a:xfrm>
          <a:prstGeom prst="roundRect">
            <a:avLst>
              <a:gd name="adj" fmla="val 22000"/>
            </a:avLst>
          </a:prstGeom>
          <a:solidFill>
            <a:schemeClr val="accent4">
              <a:alpha val="20000"/>
            </a:schemeClr>
          </a:solidFill>
          <a:ln w="9525">
            <a:solidFill>
              <a:schemeClr val="accent4">
                <a:alpha val="55000"/>
              </a:schemeClr>
            </a:solidFill>
            <a:prstDash val="solid"/>
          </a:ln>
        </p:spPr>
      </p:sp>
      <p:pic>
        <p:nvPicPr>
          <p:cNvPr id="30" name="icon" descr="preencoded.png">    </p:cNvPr>
          <p:cNvPicPr>
            <a:picLocks noChangeAspect="1"/>
          </p:cNvPicPr>
          <p:nvPr/>
        </p:nvPicPr>
        <p:blipFill>
          <a:blip r:embed="rId5"/>
          <a:stretch>
            <a:fillRect/>
          </a:stretch>
        </p:blipFill>
        <p:spPr>
          <a:xfrm>
            <a:off x="827349" y="5737677"/>
            <a:ext cx="247254" cy="247254"/>
          </a:xfrm>
          <a:prstGeom prst="rect">
            <a:avLst/>
          </a:prstGeom>
        </p:spPr>
      </p:pic>
      <p:sp>
        <p:nvSpPr>
          <p:cNvPr id="31" name="Text 24"/>
          <p:cNvSpPr txBox="1"/>
          <p:nvPr/>
        </p:nvSpPr>
        <p:spPr>
          <a:xfrm>
            <a:off x="1371600" y="5577840"/>
            <a:ext cx="10058400" cy="566928"/>
          </a:xfrm>
          <a:prstGeom prst="rect">
            <a:avLst/>
          </a:prstGeom>
          <a:noFill/>
          <a:ln/>
        </p:spPr>
        <p:txBody>
          <a:bodyPr wrap="square" lIns="0" tIns="0" rIns="0" bIns="0" rtlCol="0" anchor="ctr"/>
          <a:lstStyle/>
          <a:p>
            <a:pPr indent="0" marL="0">
              <a:buNone/>
            </a:pPr>
            <a:r>
              <a:rPr lang="en-US" sz="1300" b="1" dirty="0">
                <a:solidFill>
                  <a:schemeClr val="accent4"/>
                </a:solidFill>
              </a:rPr>
              <a:t>Scope rule: </a:t>
            </a:r>
            <a:pPr indent="0" marL="0">
              <a:buNone/>
            </a:pPr>
            <a:r>
              <a:rPr lang="en-US" sz="1300" dirty="0">
                <a:solidFill>
                  <a:schemeClr val="bg2"/>
                </a:solidFill>
              </a:rPr>
              <a:t>a graph path is a candidate relationship, not proof of exploitability. Distinguish observed events, static findings, simulated tests, external intelligence and AI-generated hypotheses.</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02 · TARGET USERS</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Security buys, platform operates, developers use</a:t>
            </a:r>
            <a:endParaRPr lang="en-US" sz="3200" dirty="0"/>
          </a:p>
        </p:txBody>
      </p:sp>
      <p:sp>
        <p:nvSpPr>
          <p:cNvPr id="4" name="card"/>
          <p:cNvSpPr/>
          <p:nvPr/>
        </p:nvSpPr>
        <p:spPr>
          <a:xfrm>
            <a:off x="548640" y="1600200"/>
            <a:ext cx="3566160" cy="4526280"/>
          </a:xfrm>
          <a:prstGeom prst="roundRect">
            <a:avLst>
              <a:gd name="adj" fmla="val 2564"/>
            </a:avLst>
          </a:prstGeom>
          <a:solidFill>
            <a:schemeClr val="tx2"/>
          </a:solidFill>
          <a:ln w="12700">
            <a:solidFill>
              <a:schemeClr val="accent2">
                <a:alpha val="38000"/>
              </a:schemeClr>
            </a:solidFill>
            <a:prstDash val="solid"/>
          </a:ln>
        </p:spPr>
      </p:sp>
      <p:sp>
        <p:nvSpPr>
          <p:cNvPr id="5" name="icon tile"/>
          <p:cNvSpPr/>
          <p:nvPr/>
        </p:nvSpPr>
        <p:spPr>
          <a:xfrm>
            <a:off x="868680" y="1920240"/>
            <a:ext cx="822960" cy="822960"/>
          </a:xfrm>
          <a:prstGeom prst="roundRect">
            <a:avLst>
              <a:gd name="adj" fmla="val 22000"/>
            </a:avLst>
          </a:prstGeom>
          <a:solidFill>
            <a:schemeClr val="accent1">
              <a:alpha val="20000"/>
            </a:schemeClr>
          </a:solidFill>
          <a:ln w="9525">
            <a:solidFill>
              <a:schemeClr val="accent1">
                <a:alpha val="55000"/>
              </a:schemeClr>
            </a:solidFill>
            <a:prstDash val="solid"/>
          </a:ln>
        </p:spPr>
      </p:sp>
      <p:pic>
        <p:nvPicPr>
          <p:cNvPr id="6" name="icon" descr="preencoded.png">    </p:cNvPr>
          <p:cNvPicPr>
            <a:picLocks noChangeAspect="1"/>
          </p:cNvPicPr>
          <p:nvPr/>
        </p:nvPicPr>
        <p:blipFill>
          <a:blip r:embed="rId1"/>
          <a:stretch>
            <a:fillRect/>
          </a:stretch>
        </p:blipFill>
        <p:spPr>
          <a:xfrm>
            <a:off x="1066190" y="2117750"/>
            <a:ext cx="427939" cy="427939"/>
          </a:xfrm>
          <a:prstGeom prst="rect">
            <a:avLst/>
          </a:prstGeom>
        </p:spPr>
      </p:pic>
      <p:sp>
        <p:nvSpPr>
          <p:cNvPr id="7" name="Text 4"/>
          <p:cNvSpPr txBox="1"/>
          <p:nvPr/>
        </p:nvSpPr>
        <p:spPr>
          <a:xfrm>
            <a:off x="868680" y="2926080"/>
            <a:ext cx="301752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PRIMARY BUYER</a:t>
            </a:r>
            <a:endParaRPr lang="en-US" sz="1100" dirty="0"/>
          </a:p>
        </p:txBody>
      </p:sp>
      <p:sp>
        <p:nvSpPr>
          <p:cNvPr id="8" name="Text 5"/>
          <p:cNvSpPr txBox="1"/>
          <p:nvPr/>
        </p:nvSpPr>
        <p:spPr>
          <a:xfrm>
            <a:off x="868680" y="3200400"/>
            <a:ext cx="3017520" cy="640080"/>
          </a:xfrm>
          <a:prstGeom prst="rect">
            <a:avLst/>
          </a:prstGeom>
          <a:noFill/>
          <a:ln/>
        </p:spPr>
        <p:txBody>
          <a:bodyPr wrap="square" lIns="0" tIns="0" rIns="0" bIns="0" rtlCol="0" anchor="t"/>
          <a:lstStyle/>
          <a:p>
            <a:pPr indent="0" marL="0">
              <a:buNone/>
            </a:pPr>
            <a:r>
              <a:rPr lang="en-US" sz="1900" b="1" dirty="0">
                <a:solidFill>
                  <a:schemeClr val="bg1"/>
                </a:solidFill>
              </a:rPr>
              <a:t>Security / AppSec lead</a:t>
            </a:r>
            <a:endParaRPr lang="en-US" sz="1900" dirty="0"/>
          </a:p>
        </p:txBody>
      </p:sp>
      <p:sp>
        <p:nvSpPr>
          <p:cNvPr id="9" name="Text 6"/>
          <p:cNvSpPr txBox="1"/>
          <p:nvPr/>
        </p:nvSpPr>
        <p:spPr>
          <a:xfrm>
            <a:off x="868680" y="3977640"/>
            <a:ext cx="2971800" cy="20116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bg2"/>
                </a:solidFill>
              </a:rPr>
              <a:t>Wants a view of agent-related risk across repositories</a:t>
            </a:r>
            <a:endParaRPr lang="en-US" sz="1400" dirty="0"/>
          </a:p>
          <a:p>
            <a:pPr marL="177800" indent="-177800">
              <a:spcAft>
                <a:spcPts val="800"/>
              </a:spcAft>
              <a:buSzPct val="100000"/>
              <a:buChar char="•"/>
            </a:pPr>
            <a:r>
              <a:rPr lang="en-US" sz="1400" dirty="0">
                <a:solidFill>
                  <a:schemeClr val="bg2"/>
                </a:solidFill>
              </a:rPr>
              <a:t>Needs evidence, ownership, audit history and risk prioritization</a:t>
            </a:r>
            <a:endParaRPr lang="en-US" sz="1400" dirty="0"/>
          </a:p>
          <a:p>
            <a:pPr marL="177800" indent="-177800">
              <a:spcAft>
                <a:spcPts val="800"/>
              </a:spcAft>
              <a:buSzPct val="100000"/>
              <a:buChar char="•"/>
            </a:pPr>
            <a:r>
              <a:rPr lang="en-US" sz="1400" dirty="0">
                <a:solidFill>
                  <a:schemeClr val="bg2"/>
                </a:solidFill>
              </a:rPr>
              <a:t>Approves exceptions and high-impact remediation</a:t>
            </a:r>
            <a:endParaRPr lang="en-US" sz="1400" dirty="0"/>
          </a:p>
        </p:txBody>
      </p:sp>
      <p:sp>
        <p:nvSpPr>
          <p:cNvPr id="10" name="card"/>
          <p:cNvSpPr/>
          <p:nvPr/>
        </p:nvSpPr>
        <p:spPr>
          <a:xfrm>
            <a:off x="4297680" y="1600200"/>
            <a:ext cx="3566160" cy="4526280"/>
          </a:xfrm>
          <a:prstGeom prst="roundRect">
            <a:avLst>
              <a:gd name="adj" fmla="val 2564"/>
            </a:avLst>
          </a:prstGeom>
          <a:solidFill>
            <a:schemeClr val="tx2"/>
          </a:solidFill>
          <a:ln w="12700">
            <a:solidFill>
              <a:schemeClr val="accent2">
                <a:alpha val="38000"/>
              </a:schemeClr>
            </a:solidFill>
            <a:prstDash val="solid"/>
          </a:ln>
        </p:spPr>
      </p:sp>
      <p:sp>
        <p:nvSpPr>
          <p:cNvPr id="11" name="icon tile"/>
          <p:cNvSpPr/>
          <p:nvPr/>
        </p:nvSpPr>
        <p:spPr>
          <a:xfrm>
            <a:off x="4617720" y="1920240"/>
            <a:ext cx="822960" cy="822960"/>
          </a:xfrm>
          <a:prstGeom prst="roundRect">
            <a:avLst>
              <a:gd name="adj" fmla="val 22000"/>
            </a:avLst>
          </a:prstGeom>
          <a:solidFill>
            <a:schemeClr val="accent2">
              <a:alpha val="20000"/>
            </a:schemeClr>
          </a:solidFill>
          <a:ln w="9525">
            <a:solidFill>
              <a:schemeClr val="accent2">
                <a:alpha val="55000"/>
              </a:schemeClr>
            </a:solidFill>
            <a:prstDash val="solid"/>
          </a:ln>
        </p:spPr>
      </p:sp>
      <p:pic>
        <p:nvPicPr>
          <p:cNvPr id="12" name="icon" descr="preencoded.png">    </p:cNvPr>
          <p:cNvPicPr>
            <a:picLocks noChangeAspect="1"/>
          </p:cNvPicPr>
          <p:nvPr/>
        </p:nvPicPr>
        <p:blipFill>
          <a:blip r:embed="rId2"/>
          <a:stretch>
            <a:fillRect/>
          </a:stretch>
        </p:blipFill>
        <p:spPr>
          <a:xfrm>
            <a:off x="4815230" y="2117750"/>
            <a:ext cx="427939" cy="427939"/>
          </a:xfrm>
          <a:prstGeom prst="rect">
            <a:avLst/>
          </a:prstGeom>
        </p:spPr>
      </p:pic>
      <p:sp>
        <p:nvSpPr>
          <p:cNvPr id="13" name="Text 9"/>
          <p:cNvSpPr txBox="1"/>
          <p:nvPr/>
        </p:nvSpPr>
        <p:spPr>
          <a:xfrm>
            <a:off x="4617720" y="2926080"/>
            <a:ext cx="301752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DAILY OPERATOR</a:t>
            </a:r>
            <a:endParaRPr lang="en-US" sz="1100" dirty="0"/>
          </a:p>
        </p:txBody>
      </p:sp>
      <p:sp>
        <p:nvSpPr>
          <p:cNvPr id="14" name="Text 10"/>
          <p:cNvSpPr txBox="1"/>
          <p:nvPr/>
        </p:nvSpPr>
        <p:spPr>
          <a:xfrm>
            <a:off x="4617720" y="3200400"/>
            <a:ext cx="3017520" cy="640080"/>
          </a:xfrm>
          <a:prstGeom prst="rect">
            <a:avLst/>
          </a:prstGeom>
          <a:noFill/>
          <a:ln/>
        </p:spPr>
        <p:txBody>
          <a:bodyPr wrap="square" lIns="0" tIns="0" rIns="0" bIns="0" rtlCol="0" anchor="t"/>
          <a:lstStyle/>
          <a:p>
            <a:pPr indent="0" marL="0">
              <a:buNone/>
            </a:pPr>
            <a:r>
              <a:rPr lang="en-US" sz="1900" b="1" dirty="0">
                <a:solidFill>
                  <a:schemeClr val="bg1"/>
                </a:solidFill>
              </a:rPr>
              <a:t>Platform / DevSecOps engineer</a:t>
            </a:r>
            <a:endParaRPr lang="en-US" sz="1900" dirty="0"/>
          </a:p>
        </p:txBody>
      </p:sp>
      <p:sp>
        <p:nvSpPr>
          <p:cNvPr id="15" name="Text 11"/>
          <p:cNvSpPr txBox="1"/>
          <p:nvPr/>
        </p:nvSpPr>
        <p:spPr>
          <a:xfrm>
            <a:off x="4617720" y="3977640"/>
            <a:ext cx="2971800" cy="20116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bg2"/>
                </a:solidFill>
              </a:rPr>
              <a:t>Connects GitHub and CI workflows</a:t>
            </a:r>
            <a:endParaRPr lang="en-US" sz="1400" dirty="0"/>
          </a:p>
          <a:p>
            <a:pPr marL="177800" indent="-177800">
              <a:spcAft>
                <a:spcPts val="800"/>
              </a:spcAft>
              <a:buSzPct val="100000"/>
              <a:buChar char="•"/>
            </a:pPr>
            <a:r>
              <a:rPr lang="en-US" sz="1400" dirty="0">
                <a:solidFill>
                  <a:schemeClr val="bg2"/>
                </a:solidFill>
              </a:rPr>
              <a:t>Reviews graph paths and policy gaps</a:t>
            </a:r>
            <a:endParaRPr lang="en-US" sz="1400" dirty="0"/>
          </a:p>
          <a:p>
            <a:pPr marL="177800" indent="-177800">
              <a:spcAft>
                <a:spcPts val="800"/>
              </a:spcAft>
              <a:buSzPct val="100000"/>
              <a:buChar char="•"/>
            </a:pPr>
            <a:r>
              <a:rPr lang="en-US" sz="1400" dirty="0">
                <a:solidFill>
                  <a:schemeClr val="bg2"/>
                </a:solidFill>
              </a:rPr>
              <a:t>Implements fixes and verifies pipeline behavior</a:t>
            </a:r>
            <a:endParaRPr lang="en-US" sz="1400" dirty="0"/>
          </a:p>
        </p:txBody>
      </p:sp>
      <p:sp>
        <p:nvSpPr>
          <p:cNvPr id="16" name="card"/>
          <p:cNvSpPr/>
          <p:nvPr/>
        </p:nvSpPr>
        <p:spPr>
          <a:xfrm>
            <a:off x="8046720" y="1600200"/>
            <a:ext cx="3566160" cy="4526280"/>
          </a:xfrm>
          <a:prstGeom prst="roundRect">
            <a:avLst>
              <a:gd name="adj" fmla="val 2564"/>
            </a:avLst>
          </a:prstGeom>
          <a:solidFill>
            <a:schemeClr val="tx2"/>
          </a:solidFill>
          <a:ln w="12700">
            <a:solidFill>
              <a:schemeClr val="accent2">
                <a:alpha val="38000"/>
              </a:schemeClr>
            </a:solidFill>
            <a:prstDash val="solid"/>
          </a:ln>
        </p:spPr>
      </p:sp>
      <p:sp>
        <p:nvSpPr>
          <p:cNvPr id="17" name="icon tile"/>
          <p:cNvSpPr/>
          <p:nvPr/>
        </p:nvSpPr>
        <p:spPr>
          <a:xfrm>
            <a:off x="8366760" y="1920240"/>
            <a:ext cx="822960" cy="822960"/>
          </a:xfrm>
          <a:prstGeom prst="roundRect">
            <a:avLst>
              <a:gd name="adj" fmla="val 22000"/>
            </a:avLst>
          </a:prstGeom>
          <a:solidFill>
            <a:schemeClr val="accent5">
              <a:alpha val="20000"/>
            </a:schemeClr>
          </a:solidFill>
          <a:ln w="9525">
            <a:solidFill>
              <a:schemeClr val="accent5">
                <a:alpha val="55000"/>
              </a:schemeClr>
            </a:solidFill>
            <a:prstDash val="solid"/>
          </a:ln>
        </p:spPr>
      </p:sp>
      <p:pic>
        <p:nvPicPr>
          <p:cNvPr id="18" name="icon" descr="preencoded.png">    </p:cNvPr>
          <p:cNvPicPr>
            <a:picLocks noChangeAspect="1"/>
          </p:cNvPicPr>
          <p:nvPr/>
        </p:nvPicPr>
        <p:blipFill>
          <a:blip r:embed="rId3"/>
          <a:stretch>
            <a:fillRect/>
          </a:stretch>
        </p:blipFill>
        <p:spPr>
          <a:xfrm>
            <a:off x="8564270" y="2117750"/>
            <a:ext cx="427939" cy="427939"/>
          </a:xfrm>
          <a:prstGeom prst="rect">
            <a:avLst/>
          </a:prstGeom>
        </p:spPr>
      </p:pic>
      <p:sp>
        <p:nvSpPr>
          <p:cNvPr id="19" name="Text 14"/>
          <p:cNvSpPr txBox="1"/>
          <p:nvPr/>
        </p:nvSpPr>
        <p:spPr>
          <a:xfrm>
            <a:off x="8366760" y="2926080"/>
            <a:ext cx="3017520" cy="274320"/>
          </a:xfrm>
          <a:prstGeom prst="rect">
            <a:avLst/>
          </a:prstGeom>
          <a:noFill/>
          <a:ln/>
        </p:spPr>
        <p:txBody>
          <a:bodyPr wrap="square" lIns="0" tIns="0" rIns="0" bIns="0" rtlCol="0" anchor="t"/>
          <a:lstStyle/>
          <a:p>
            <a:pPr indent="0" marL="0">
              <a:buNone/>
            </a:pPr>
            <a:r>
              <a:rPr lang="en-US" sz="1100" b="1" spc="200" kern="0" dirty="0">
                <a:solidFill>
                  <a:schemeClr val="accent5"/>
                </a:solidFill>
              </a:rPr>
              <a:t>AFFECTED USER</a:t>
            </a:r>
            <a:endParaRPr lang="en-US" sz="1100" dirty="0"/>
          </a:p>
        </p:txBody>
      </p:sp>
      <p:sp>
        <p:nvSpPr>
          <p:cNvPr id="20" name="Text 15"/>
          <p:cNvSpPr txBox="1"/>
          <p:nvPr/>
        </p:nvSpPr>
        <p:spPr>
          <a:xfrm>
            <a:off x="8366760" y="3200400"/>
            <a:ext cx="3017520" cy="640080"/>
          </a:xfrm>
          <a:prstGeom prst="rect">
            <a:avLst/>
          </a:prstGeom>
          <a:noFill/>
          <a:ln/>
        </p:spPr>
        <p:txBody>
          <a:bodyPr wrap="square" lIns="0" tIns="0" rIns="0" bIns="0" rtlCol="0" anchor="t"/>
          <a:lstStyle/>
          <a:p>
            <a:pPr indent="0" marL="0">
              <a:buNone/>
            </a:pPr>
            <a:r>
              <a:rPr lang="en-US" sz="1900" b="1" dirty="0">
                <a:solidFill>
                  <a:schemeClr val="bg1"/>
                </a:solidFill>
              </a:rPr>
              <a:t>Developer / AI-agent owner</a:t>
            </a:r>
            <a:endParaRPr lang="en-US" sz="1900" dirty="0"/>
          </a:p>
        </p:txBody>
      </p:sp>
      <p:sp>
        <p:nvSpPr>
          <p:cNvPr id="21" name="Text 16"/>
          <p:cNvSpPr txBox="1"/>
          <p:nvPr/>
        </p:nvSpPr>
        <p:spPr>
          <a:xfrm>
            <a:off x="8366760" y="3977640"/>
            <a:ext cx="2971800" cy="20116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bg2"/>
                </a:solidFill>
              </a:rPr>
              <a:t>Sees findings for their repository or agent</a:t>
            </a:r>
            <a:endParaRPr lang="en-US" sz="1400" dirty="0"/>
          </a:p>
          <a:p>
            <a:pPr marL="177800" indent="-177800">
              <a:spcAft>
                <a:spcPts val="800"/>
              </a:spcAft>
              <a:buSzPct val="100000"/>
              <a:buChar char="•"/>
            </a:pPr>
            <a:r>
              <a:rPr lang="en-US" sz="1400" dirty="0">
                <a:solidFill>
                  <a:schemeClr val="bg2"/>
                </a:solidFill>
              </a:rPr>
              <a:t>Reviews proposed changes and PRs</a:t>
            </a:r>
            <a:endParaRPr lang="en-US" sz="1400" dirty="0"/>
          </a:p>
          <a:p>
            <a:pPr marL="177800" indent="-177800">
              <a:spcAft>
                <a:spcPts val="800"/>
              </a:spcAft>
              <a:buSzPct val="100000"/>
              <a:buChar char="•"/>
            </a:pPr>
            <a:r>
              <a:rPr lang="en-US" sz="1400" dirty="0">
                <a:solidFill>
                  <a:schemeClr val="bg2"/>
                </a:solidFill>
              </a:rPr>
              <a:t>Needs fixes that preserve legitimate coding tasks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PRIORITY USE CASES</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Six jobs AgentShield must do well</a:t>
            </a:r>
            <a:endParaRPr lang="en-US" sz="3200" dirty="0"/>
          </a:p>
        </p:txBody>
      </p:sp>
      <p:sp>
        <p:nvSpPr>
          <p:cNvPr id="4" name="card"/>
          <p:cNvSpPr/>
          <p:nvPr/>
        </p:nvSpPr>
        <p:spPr>
          <a:xfrm>
            <a:off x="548640" y="1600200"/>
            <a:ext cx="3566160" cy="2103120"/>
          </a:xfrm>
          <a:prstGeom prst="roundRect">
            <a:avLst>
              <a:gd name="adj" fmla="val 4348"/>
            </a:avLst>
          </a:prstGeom>
          <a:solidFill>
            <a:schemeClr val="tx2"/>
          </a:solidFill>
          <a:ln w="12700">
            <a:solidFill>
              <a:schemeClr val="accent2">
                <a:alpha val="38000"/>
              </a:schemeClr>
            </a:solidFill>
            <a:prstDash val="solid"/>
          </a:ln>
        </p:spPr>
      </p:sp>
      <p:sp>
        <p:nvSpPr>
          <p:cNvPr id="5" name="Text 3"/>
          <p:cNvSpPr txBox="1"/>
          <p:nvPr/>
        </p:nvSpPr>
        <p:spPr>
          <a:xfrm>
            <a:off x="822960" y="1828800"/>
            <a:ext cx="914400" cy="45720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01</a:t>
            </a:r>
            <a:endParaRPr lang="en-US" sz="2600" dirty="0"/>
          </a:p>
        </p:txBody>
      </p:sp>
      <p:sp>
        <p:nvSpPr>
          <p:cNvPr id="6" name="Text 4"/>
          <p:cNvSpPr txBox="1"/>
          <p:nvPr/>
        </p:nvSpPr>
        <p:spPr>
          <a:xfrm>
            <a:off x="822960" y="2331720"/>
            <a:ext cx="3017520" cy="365760"/>
          </a:xfrm>
          <a:prstGeom prst="rect">
            <a:avLst/>
          </a:prstGeom>
          <a:noFill/>
          <a:ln/>
        </p:spPr>
        <p:txBody>
          <a:bodyPr wrap="square" lIns="0" tIns="0" rIns="0" bIns="0" rtlCol="0" anchor="t"/>
          <a:lstStyle/>
          <a:p>
            <a:pPr indent="0" marL="0">
              <a:buNone/>
            </a:pPr>
            <a:r>
              <a:rPr lang="en-US" sz="1700" b="1" dirty="0">
                <a:solidFill>
                  <a:schemeClr val="bg1"/>
                </a:solidFill>
              </a:rPr>
              <a:t>Repository onboarding</a:t>
            </a:r>
            <a:endParaRPr lang="en-US" sz="1700" dirty="0"/>
          </a:p>
        </p:txBody>
      </p:sp>
      <p:sp>
        <p:nvSpPr>
          <p:cNvPr id="7" name="Text 5"/>
          <p:cNvSpPr txBox="1"/>
          <p:nvPr/>
        </p:nvSpPr>
        <p:spPr>
          <a:xfrm>
            <a:off x="822960" y="2715768"/>
            <a:ext cx="3063240" cy="868680"/>
          </a:xfrm>
          <a:prstGeom prst="rect">
            <a:avLst/>
          </a:prstGeom>
          <a:noFill/>
          <a:ln/>
        </p:spPr>
        <p:txBody>
          <a:bodyPr wrap="square" lIns="0" tIns="0" rIns="0" bIns="0" rtlCol="0" anchor="t"/>
          <a:lstStyle/>
          <a:p>
            <a:pPr indent="0" marL="0">
              <a:buNone/>
            </a:pPr>
            <a:r>
              <a:rPr lang="en-US" sz="1300" dirty="0">
                <a:solidFill>
                  <a:schemeClr val="bg2"/>
                </a:solidFill>
              </a:rPr>
              <a:t>Connect a GitHub repo; inspect workflow permissions, dependency and secret-scan findings, declared agent integrations.</a:t>
            </a:r>
            <a:endParaRPr lang="en-US" sz="1300" dirty="0"/>
          </a:p>
        </p:txBody>
      </p:sp>
      <p:sp>
        <p:nvSpPr>
          <p:cNvPr id="8" name="card"/>
          <p:cNvSpPr/>
          <p:nvPr/>
        </p:nvSpPr>
        <p:spPr>
          <a:xfrm>
            <a:off x="4297680" y="1600200"/>
            <a:ext cx="3566160" cy="2103120"/>
          </a:xfrm>
          <a:prstGeom prst="roundRect">
            <a:avLst>
              <a:gd name="adj" fmla="val 4348"/>
            </a:avLst>
          </a:prstGeom>
          <a:solidFill>
            <a:schemeClr val="tx2"/>
          </a:solidFill>
          <a:ln w="12700">
            <a:solidFill>
              <a:schemeClr val="accent2">
                <a:alpha val="38000"/>
              </a:schemeClr>
            </a:solidFill>
            <a:prstDash val="solid"/>
          </a:ln>
        </p:spPr>
      </p:sp>
      <p:sp>
        <p:nvSpPr>
          <p:cNvPr id="9" name="Text 7"/>
          <p:cNvSpPr txBox="1"/>
          <p:nvPr/>
        </p:nvSpPr>
        <p:spPr>
          <a:xfrm>
            <a:off x="4572000" y="1828800"/>
            <a:ext cx="914400" cy="45720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02</a:t>
            </a:r>
            <a:endParaRPr lang="en-US" sz="2600" dirty="0"/>
          </a:p>
        </p:txBody>
      </p:sp>
      <p:sp>
        <p:nvSpPr>
          <p:cNvPr id="10" name="Text 8"/>
          <p:cNvSpPr txBox="1"/>
          <p:nvPr/>
        </p:nvSpPr>
        <p:spPr>
          <a:xfrm>
            <a:off x="4572000" y="2331720"/>
            <a:ext cx="3017520" cy="365760"/>
          </a:xfrm>
          <a:prstGeom prst="rect">
            <a:avLst/>
          </a:prstGeom>
          <a:noFill/>
          <a:ln/>
        </p:spPr>
        <p:txBody>
          <a:bodyPr wrap="square" lIns="0" tIns="0" rIns="0" bIns="0" rtlCol="0" anchor="t"/>
          <a:lstStyle/>
          <a:p>
            <a:pPr indent="0" marL="0">
              <a:buNone/>
            </a:pPr>
            <a:r>
              <a:rPr lang="en-US" sz="1700" b="1" dirty="0">
                <a:solidFill>
                  <a:schemeClr val="bg1"/>
                </a:solidFill>
              </a:rPr>
              <a:t>Attack-path investigation</a:t>
            </a:r>
            <a:endParaRPr lang="en-US" sz="1700" dirty="0"/>
          </a:p>
        </p:txBody>
      </p:sp>
      <p:sp>
        <p:nvSpPr>
          <p:cNvPr id="11" name="Text 9"/>
          <p:cNvSpPr txBox="1"/>
          <p:nvPr/>
        </p:nvSpPr>
        <p:spPr>
          <a:xfrm>
            <a:off x="4572000" y="2715768"/>
            <a:ext cx="3063240" cy="868680"/>
          </a:xfrm>
          <a:prstGeom prst="rect">
            <a:avLst/>
          </a:prstGeom>
          <a:noFill/>
          <a:ln/>
        </p:spPr>
        <p:txBody>
          <a:bodyPr wrap="square" lIns="0" tIns="0" rIns="0" bIns="0" rtlCol="0" anchor="t"/>
          <a:lstStyle/>
          <a:p>
            <a:pPr indent="0" marL="0">
              <a:buNone/>
            </a:pPr>
            <a:r>
              <a:rPr lang="en-US" sz="1300" dirty="0">
                <a:solidFill>
                  <a:schemeClr val="bg2"/>
                </a:solidFill>
              </a:rPr>
              <a:t>Trace risk from an AI coding agent through a tool or workflow permission to a sensitive asset or external action.</a:t>
            </a:r>
            <a:endParaRPr lang="en-US" sz="1300" dirty="0"/>
          </a:p>
        </p:txBody>
      </p:sp>
      <p:sp>
        <p:nvSpPr>
          <p:cNvPr id="12" name="card"/>
          <p:cNvSpPr/>
          <p:nvPr/>
        </p:nvSpPr>
        <p:spPr>
          <a:xfrm>
            <a:off x="8046720" y="1600200"/>
            <a:ext cx="3566160" cy="2103120"/>
          </a:xfrm>
          <a:prstGeom prst="roundRect">
            <a:avLst>
              <a:gd name="adj" fmla="val 4348"/>
            </a:avLst>
          </a:prstGeom>
          <a:solidFill>
            <a:schemeClr val="tx2"/>
          </a:solidFill>
          <a:ln w="12700">
            <a:solidFill>
              <a:schemeClr val="accent2">
                <a:alpha val="38000"/>
              </a:schemeClr>
            </a:solidFill>
            <a:prstDash val="solid"/>
          </a:ln>
        </p:spPr>
      </p:sp>
      <p:sp>
        <p:nvSpPr>
          <p:cNvPr id="13" name="Text 11"/>
          <p:cNvSpPr txBox="1"/>
          <p:nvPr/>
        </p:nvSpPr>
        <p:spPr>
          <a:xfrm>
            <a:off x="8321040" y="1828800"/>
            <a:ext cx="914400" cy="45720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03</a:t>
            </a:r>
            <a:endParaRPr lang="en-US" sz="2600" dirty="0"/>
          </a:p>
        </p:txBody>
      </p:sp>
      <p:sp>
        <p:nvSpPr>
          <p:cNvPr id="14" name="Text 12"/>
          <p:cNvSpPr txBox="1"/>
          <p:nvPr/>
        </p:nvSpPr>
        <p:spPr>
          <a:xfrm>
            <a:off x="8321040" y="2331720"/>
            <a:ext cx="3017520" cy="365760"/>
          </a:xfrm>
          <a:prstGeom prst="rect">
            <a:avLst/>
          </a:prstGeom>
          <a:noFill/>
          <a:ln/>
        </p:spPr>
        <p:txBody>
          <a:bodyPr wrap="square" lIns="0" tIns="0" rIns="0" bIns="0" rtlCol="0" anchor="t"/>
          <a:lstStyle/>
          <a:p>
            <a:pPr indent="0" marL="0">
              <a:buNone/>
            </a:pPr>
            <a:r>
              <a:rPr lang="en-US" sz="1700" b="1" dirty="0">
                <a:solidFill>
                  <a:schemeClr val="bg1"/>
                </a:solidFill>
              </a:rPr>
              <a:t>Risk prioritization</a:t>
            </a:r>
            <a:endParaRPr lang="en-US" sz="1700" dirty="0"/>
          </a:p>
        </p:txBody>
      </p:sp>
      <p:sp>
        <p:nvSpPr>
          <p:cNvPr id="15" name="Text 13"/>
          <p:cNvSpPr txBox="1"/>
          <p:nvPr/>
        </p:nvSpPr>
        <p:spPr>
          <a:xfrm>
            <a:off x="8321040" y="2715768"/>
            <a:ext cx="3063240" cy="868680"/>
          </a:xfrm>
          <a:prstGeom prst="rect">
            <a:avLst/>
          </a:prstGeom>
          <a:noFill/>
          <a:ln/>
        </p:spPr>
        <p:txBody>
          <a:bodyPr wrap="square" lIns="0" tIns="0" rIns="0" bIns="0" rtlCol="0" anchor="t"/>
          <a:lstStyle/>
          <a:p>
            <a:pPr indent="0" marL="0">
              <a:buNone/>
            </a:pPr>
            <a:r>
              <a:rPr lang="en-US" sz="1300" dirty="0">
                <a:solidFill>
                  <a:schemeClr val="bg2"/>
                </a:solidFill>
              </a:rPr>
              <a:t>Rank findings by validated impact and graph context rather than severity labels alone.</a:t>
            </a:r>
            <a:endParaRPr lang="en-US" sz="1300" dirty="0"/>
          </a:p>
        </p:txBody>
      </p:sp>
      <p:sp>
        <p:nvSpPr>
          <p:cNvPr id="16" name="card"/>
          <p:cNvSpPr/>
          <p:nvPr/>
        </p:nvSpPr>
        <p:spPr>
          <a:xfrm>
            <a:off x="548640" y="3886200"/>
            <a:ext cx="3566160" cy="2103120"/>
          </a:xfrm>
          <a:prstGeom prst="roundRect">
            <a:avLst>
              <a:gd name="adj" fmla="val 4348"/>
            </a:avLst>
          </a:prstGeom>
          <a:solidFill>
            <a:schemeClr val="tx2"/>
          </a:solidFill>
          <a:ln w="12700">
            <a:solidFill>
              <a:schemeClr val="accent2">
                <a:alpha val="38000"/>
              </a:schemeClr>
            </a:solidFill>
            <a:prstDash val="solid"/>
          </a:ln>
        </p:spPr>
      </p:sp>
      <p:sp>
        <p:nvSpPr>
          <p:cNvPr id="17" name="Text 15"/>
          <p:cNvSpPr txBox="1"/>
          <p:nvPr/>
        </p:nvSpPr>
        <p:spPr>
          <a:xfrm>
            <a:off x="822960" y="4114800"/>
            <a:ext cx="914400" cy="45720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04</a:t>
            </a:r>
            <a:endParaRPr lang="en-US" sz="2600" dirty="0"/>
          </a:p>
        </p:txBody>
      </p:sp>
      <p:sp>
        <p:nvSpPr>
          <p:cNvPr id="18" name="Text 16"/>
          <p:cNvSpPr txBox="1"/>
          <p:nvPr/>
        </p:nvSpPr>
        <p:spPr>
          <a:xfrm>
            <a:off x="822960" y="4617720"/>
            <a:ext cx="3017520" cy="365760"/>
          </a:xfrm>
          <a:prstGeom prst="rect">
            <a:avLst/>
          </a:prstGeom>
          <a:noFill/>
          <a:ln/>
        </p:spPr>
        <p:txBody>
          <a:bodyPr wrap="square" lIns="0" tIns="0" rIns="0" bIns="0" rtlCol="0" anchor="t"/>
          <a:lstStyle/>
          <a:p>
            <a:pPr indent="0" marL="0">
              <a:buNone/>
            </a:pPr>
            <a:r>
              <a:rPr lang="en-US" sz="1700" b="1" dirty="0">
                <a:solidFill>
                  <a:schemeClr val="bg1"/>
                </a:solidFill>
              </a:rPr>
              <a:t>Remediation planning</a:t>
            </a:r>
            <a:endParaRPr lang="en-US" sz="1700" dirty="0"/>
          </a:p>
        </p:txBody>
      </p:sp>
      <p:sp>
        <p:nvSpPr>
          <p:cNvPr id="19" name="Text 17"/>
          <p:cNvSpPr txBox="1"/>
          <p:nvPr/>
        </p:nvSpPr>
        <p:spPr>
          <a:xfrm>
            <a:off x="822960" y="5001768"/>
            <a:ext cx="3063240" cy="868680"/>
          </a:xfrm>
          <a:prstGeom prst="rect">
            <a:avLst/>
          </a:prstGeom>
          <a:noFill/>
          <a:ln/>
        </p:spPr>
        <p:txBody>
          <a:bodyPr wrap="square" lIns="0" tIns="0" rIns="0" bIns="0" rtlCol="0" anchor="t"/>
          <a:lstStyle/>
          <a:p>
            <a:pPr indent="0" marL="0">
              <a:buNone/>
            </a:pPr>
            <a:r>
              <a:rPr lang="en-US" sz="1300" dirty="0">
                <a:solidFill>
                  <a:schemeClr val="bg2"/>
                </a:solidFill>
              </a:rPr>
              <a:t>Propose a scoped permission change, dependency upgrade, workflow hardening or policy control.</a:t>
            </a:r>
            <a:endParaRPr lang="en-US" sz="1300" dirty="0"/>
          </a:p>
        </p:txBody>
      </p:sp>
      <p:sp>
        <p:nvSpPr>
          <p:cNvPr id="20" name="card"/>
          <p:cNvSpPr/>
          <p:nvPr/>
        </p:nvSpPr>
        <p:spPr>
          <a:xfrm>
            <a:off x="4297680" y="3886200"/>
            <a:ext cx="3566160" cy="2103120"/>
          </a:xfrm>
          <a:prstGeom prst="roundRect">
            <a:avLst>
              <a:gd name="adj" fmla="val 4348"/>
            </a:avLst>
          </a:prstGeom>
          <a:solidFill>
            <a:schemeClr val="tx2"/>
          </a:solidFill>
          <a:ln w="12700">
            <a:solidFill>
              <a:schemeClr val="accent2">
                <a:alpha val="38000"/>
              </a:schemeClr>
            </a:solidFill>
            <a:prstDash val="solid"/>
          </a:ln>
        </p:spPr>
      </p:sp>
      <p:sp>
        <p:nvSpPr>
          <p:cNvPr id="21" name="Text 19"/>
          <p:cNvSpPr txBox="1"/>
          <p:nvPr/>
        </p:nvSpPr>
        <p:spPr>
          <a:xfrm>
            <a:off x="4572000" y="4114800"/>
            <a:ext cx="914400" cy="45720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05</a:t>
            </a:r>
            <a:endParaRPr lang="en-US" sz="2600" dirty="0"/>
          </a:p>
        </p:txBody>
      </p:sp>
      <p:sp>
        <p:nvSpPr>
          <p:cNvPr id="22" name="Text 20"/>
          <p:cNvSpPr txBox="1"/>
          <p:nvPr/>
        </p:nvSpPr>
        <p:spPr>
          <a:xfrm>
            <a:off x="4572000" y="4617720"/>
            <a:ext cx="3017520" cy="365760"/>
          </a:xfrm>
          <a:prstGeom prst="rect">
            <a:avLst/>
          </a:prstGeom>
          <a:noFill/>
          <a:ln/>
        </p:spPr>
        <p:txBody>
          <a:bodyPr wrap="square" lIns="0" tIns="0" rIns="0" bIns="0" rtlCol="0" anchor="t"/>
          <a:lstStyle/>
          <a:p>
            <a:pPr indent="0" marL="0">
              <a:buNone/>
            </a:pPr>
            <a:r>
              <a:rPr lang="en-US" sz="1700" b="1" dirty="0">
                <a:solidFill>
                  <a:schemeClr val="bg1"/>
                </a:solidFill>
              </a:rPr>
              <a:t>Verification</a:t>
            </a:r>
            <a:endParaRPr lang="en-US" sz="1700" dirty="0"/>
          </a:p>
        </p:txBody>
      </p:sp>
      <p:sp>
        <p:nvSpPr>
          <p:cNvPr id="23" name="Text 21"/>
          <p:cNvSpPr txBox="1"/>
          <p:nvPr/>
        </p:nvSpPr>
        <p:spPr>
          <a:xfrm>
            <a:off x="4572000" y="5001768"/>
            <a:ext cx="3063240" cy="868680"/>
          </a:xfrm>
          <a:prstGeom prst="rect">
            <a:avLst/>
          </a:prstGeom>
          <a:noFill/>
          <a:ln/>
        </p:spPr>
        <p:txBody>
          <a:bodyPr wrap="square" lIns="0" tIns="0" rIns="0" bIns="0" rtlCol="0" anchor="t"/>
          <a:lstStyle/>
          <a:p>
            <a:pPr indent="0" marL="0">
              <a:buNone/>
            </a:pPr>
            <a:r>
              <a:rPr lang="en-US" sz="1300" dirty="0">
                <a:solidFill>
                  <a:schemeClr val="bg2"/>
                </a:solidFill>
              </a:rPr>
              <a:t>Rerun checks: the risky path is blocked and approved development behavior still works.</a:t>
            </a:r>
            <a:endParaRPr lang="en-US" sz="1300" dirty="0"/>
          </a:p>
        </p:txBody>
      </p:sp>
      <p:sp>
        <p:nvSpPr>
          <p:cNvPr id="24" name="card"/>
          <p:cNvSpPr/>
          <p:nvPr/>
        </p:nvSpPr>
        <p:spPr>
          <a:xfrm>
            <a:off x="8046720" y="3886200"/>
            <a:ext cx="3566160" cy="2103120"/>
          </a:xfrm>
          <a:prstGeom prst="roundRect">
            <a:avLst>
              <a:gd name="adj" fmla="val 4348"/>
            </a:avLst>
          </a:prstGeom>
          <a:solidFill>
            <a:schemeClr val="tx2"/>
          </a:solidFill>
          <a:ln w="12700">
            <a:solidFill>
              <a:schemeClr val="accent2">
                <a:alpha val="38000"/>
              </a:schemeClr>
            </a:solidFill>
            <a:prstDash val="solid"/>
          </a:ln>
        </p:spPr>
      </p:sp>
      <p:sp>
        <p:nvSpPr>
          <p:cNvPr id="25" name="Text 23"/>
          <p:cNvSpPr txBox="1"/>
          <p:nvPr/>
        </p:nvSpPr>
        <p:spPr>
          <a:xfrm>
            <a:off x="8321040" y="4114800"/>
            <a:ext cx="914400" cy="45720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06</a:t>
            </a:r>
            <a:endParaRPr lang="en-US" sz="2600" dirty="0"/>
          </a:p>
        </p:txBody>
      </p:sp>
      <p:sp>
        <p:nvSpPr>
          <p:cNvPr id="26" name="Text 24"/>
          <p:cNvSpPr txBox="1"/>
          <p:nvPr/>
        </p:nvSpPr>
        <p:spPr>
          <a:xfrm>
            <a:off x="8321040" y="4617720"/>
            <a:ext cx="3017520" cy="365760"/>
          </a:xfrm>
          <a:prstGeom prst="rect">
            <a:avLst/>
          </a:prstGeom>
          <a:noFill/>
          <a:ln/>
        </p:spPr>
        <p:txBody>
          <a:bodyPr wrap="square" lIns="0" tIns="0" rIns="0" bIns="0" rtlCol="0" anchor="t"/>
          <a:lstStyle/>
          <a:p>
            <a:pPr indent="0" marL="0">
              <a:buNone/>
            </a:pPr>
            <a:r>
              <a:rPr lang="en-US" sz="1700" b="1" dirty="0">
                <a:solidFill>
                  <a:schemeClr val="bg1"/>
                </a:solidFill>
              </a:rPr>
              <a:t>Audit and reporting</a:t>
            </a:r>
            <a:endParaRPr lang="en-US" sz="1700" dirty="0"/>
          </a:p>
        </p:txBody>
      </p:sp>
      <p:sp>
        <p:nvSpPr>
          <p:cNvPr id="27" name="Text 25"/>
          <p:cNvSpPr txBox="1"/>
          <p:nvPr/>
        </p:nvSpPr>
        <p:spPr>
          <a:xfrm>
            <a:off x="8321040" y="5001768"/>
            <a:ext cx="3063240" cy="868680"/>
          </a:xfrm>
          <a:prstGeom prst="rect">
            <a:avLst/>
          </a:prstGeom>
          <a:noFill/>
          <a:ln/>
        </p:spPr>
        <p:txBody>
          <a:bodyPr wrap="square" lIns="0" tIns="0" rIns="0" bIns="0" rtlCol="0" anchor="t"/>
          <a:lstStyle/>
          <a:p>
            <a:pPr indent="0" marL="0">
              <a:buNone/>
            </a:pPr>
            <a:r>
              <a:rPr lang="en-US" sz="1300" dirty="0">
                <a:solidFill>
                  <a:schemeClr val="bg2"/>
                </a:solidFill>
              </a:rPr>
              <a:t>Traceable evidence, ownership, status, approvals and exportable reports for security leads.</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03 · END-TO-END WORKFLOW</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From workspace to verified fix in seven steps</a:t>
            </a:r>
            <a:endParaRPr lang="en-US" sz="3200" dirty="0"/>
          </a:p>
        </p:txBody>
      </p:sp>
      <p:sp>
        <p:nvSpPr>
          <p:cNvPr id="4" name="connector"/>
          <p:cNvSpPr/>
          <p:nvPr/>
        </p:nvSpPr>
        <p:spPr>
          <a:xfrm>
            <a:off x="1338943" y="1965960"/>
            <a:ext cx="9483634" cy="914"/>
          </a:xfrm>
          <a:prstGeom prst="line">
            <a:avLst/>
          </a:prstGeom>
          <a:noFill/>
          <a:ln w="19050">
            <a:solidFill>
              <a:srgbClr val="8B5CF6">
                <a:alpha val="70000"/>
              </a:srgbClr>
            </a:solidFill>
            <a:prstDash val="solid"/>
          </a:ln>
        </p:spPr>
      </p:sp>
      <p:sp>
        <p:nvSpPr>
          <p:cNvPr id="5" name="step"/>
          <p:cNvSpPr/>
          <p:nvPr/>
        </p:nvSpPr>
        <p:spPr>
          <a:xfrm>
            <a:off x="1037191" y="1664208"/>
            <a:ext cx="603504" cy="603504"/>
          </a:xfrm>
          <a:prstGeom prst="ellipse">
            <a:avLst/>
          </a:prstGeom>
          <a:solidFill>
            <a:schemeClr val="tx2"/>
          </a:solidFill>
          <a:ln w="25400">
            <a:solidFill>
              <a:schemeClr val="accent1"/>
            </a:solidFill>
            <a:prstDash val="solid"/>
          </a:ln>
        </p:spPr>
      </p:sp>
      <p:sp>
        <p:nvSpPr>
          <p:cNvPr id="6" name="Text 4"/>
          <p:cNvSpPr txBox="1"/>
          <p:nvPr/>
        </p:nvSpPr>
        <p:spPr>
          <a:xfrm>
            <a:off x="1037191" y="1664208"/>
            <a:ext cx="603504" cy="60350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621792" y="2468880"/>
            <a:ext cx="1434302" cy="548640"/>
          </a:xfrm>
          <a:prstGeom prst="rect">
            <a:avLst/>
          </a:prstGeom>
          <a:noFill/>
          <a:ln/>
        </p:spPr>
        <p:txBody>
          <a:bodyPr wrap="square" lIns="0" tIns="0" rIns="0" bIns="0" rtlCol="0" anchor="t"/>
          <a:lstStyle/>
          <a:p>
            <a:pPr algn="ctr" indent="0" marL="0">
              <a:buNone/>
            </a:pPr>
            <a:r>
              <a:rPr lang="en-US" sz="1400" b="1" dirty="0">
                <a:solidFill>
                  <a:schemeClr val="bg1"/>
                </a:solidFill>
              </a:rPr>
              <a:t>Create workspace</a:t>
            </a:r>
            <a:endParaRPr lang="en-US" sz="1400" dirty="0"/>
          </a:p>
        </p:txBody>
      </p:sp>
      <p:sp>
        <p:nvSpPr>
          <p:cNvPr id="8" name="Text 6"/>
          <p:cNvSpPr txBox="1"/>
          <p:nvPr/>
        </p:nvSpPr>
        <p:spPr>
          <a:xfrm>
            <a:off x="640080" y="3017520"/>
            <a:ext cx="1397726" cy="2011680"/>
          </a:xfrm>
          <a:prstGeom prst="rect">
            <a:avLst/>
          </a:prstGeom>
          <a:noFill/>
          <a:ln/>
        </p:spPr>
        <p:txBody>
          <a:bodyPr wrap="square" lIns="0" tIns="0" rIns="0" bIns="0" rtlCol="0" anchor="t"/>
          <a:lstStyle/>
          <a:p>
            <a:pPr algn="ctr" indent="0" marL="0">
              <a:buNone/>
            </a:pPr>
            <a:r>
              <a:rPr lang="en-US" sz="1300" dirty="0">
                <a:solidFill>
                  <a:schemeClr val="accent6"/>
                </a:solidFill>
              </a:rPr>
              <a:t>Admin creates project, roles, repos and environment. Tenant boundaries enforced from request one.</a:t>
            </a:r>
            <a:endParaRPr lang="en-US" sz="1300" dirty="0"/>
          </a:p>
        </p:txBody>
      </p:sp>
      <p:sp>
        <p:nvSpPr>
          <p:cNvPr id="9" name="step"/>
          <p:cNvSpPr/>
          <p:nvPr/>
        </p:nvSpPr>
        <p:spPr>
          <a:xfrm>
            <a:off x="2617797" y="1664208"/>
            <a:ext cx="603504" cy="603504"/>
          </a:xfrm>
          <a:prstGeom prst="ellipse">
            <a:avLst/>
          </a:prstGeom>
          <a:solidFill>
            <a:schemeClr val="tx2"/>
          </a:solidFill>
          <a:ln w="25400">
            <a:solidFill>
              <a:schemeClr val="accent1"/>
            </a:solidFill>
            <a:prstDash val="solid"/>
          </a:ln>
        </p:spPr>
      </p:sp>
      <p:sp>
        <p:nvSpPr>
          <p:cNvPr id="10" name="Text 8"/>
          <p:cNvSpPr txBox="1"/>
          <p:nvPr/>
        </p:nvSpPr>
        <p:spPr>
          <a:xfrm>
            <a:off x="2617797" y="1664208"/>
            <a:ext cx="603504" cy="60350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2202398" y="2468880"/>
            <a:ext cx="1434302" cy="548640"/>
          </a:xfrm>
          <a:prstGeom prst="rect">
            <a:avLst/>
          </a:prstGeom>
          <a:noFill/>
          <a:ln/>
        </p:spPr>
        <p:txBody>
          <a:bodyPr wrap="square" lIns="0" tIns="0" rIns="0" bIns="0" rtlCol="0" anchor="t"/>
          <a:lstStyle/>
          <a:p>
            <a:pPr algn="ctr" indent="0" marL="0">
              <a:buNone/>
            </a:pPr>
            <a:r>
              <a:rPr lang="en-US" sz="1400" b="1" dirty="0">
                <a:solidFill>
                  <a:schemeClr val="bg1"/>
                </a:solidFill>
              </a:rPr>
              <a:t>Connect GitHub</a:t>
            </a:r>
            <a:endParaRPr lang="en-US" sz="1400" dirty="0"/>
          </a:p>
        </p:txBody>
      </p:sp>
      <p:sp>
        <p:nvSpPr>
          <p:cNvPr id="12" name="Text 10"/>
          <p:cNvSpPr txBox="1"/>
          <p:nvPr/>
        </p:nvSpPr>
        <p:spPr>
          <a:xfrm>
            <a:off x="2220686" y="3017520"/>
            <a:ext cx="1397726" cy="2011680"/>
          </a:xfrm>
          <a:prstGeom prst="rect">
            <a:avLst/>
          </a:prstGeom>
          <a:noFill/>
          <a:ln/>
        </p:spPr>
        <p:txBody>
          <a:bodyPr wrap="square" lIns="0" tIns="0" rIns="0" bIns="0" rtlCol="0" anchor="t"/>
          <a:lstStyle/>
          <a:p>
            <a:pPr algn="ctr" indent="0" marL="0">
              <a:buNone/>
            </a:pPr>
            <a:r>
              <a:rPr lang="en-US" sz="1300" dirty="0">
                <a:solidFill>
                  <a:schemeClr val="accent6"/>
                </a:solidFill>
              </a:rPr>
              <a:t>GitHub App with explicit repo selection. No personal access tokens pasted into the UI.</a:t>
            </a:r>
            <a:endParaRPr lang="en-US" sz="1300" dirty="0"/>
          </a:p>
        </p:txBody>
      </p:sp>
      <p:sp>
        <p:nvSpPr>
          <p:cNvPr id="13" name="step"/>
          <p:cNvSpPr/>
          <p:nvPr/>
        </p:nvSpPr>
        <p:spPr>
          <a:xfrm>
            <a:off x="4198402" y="1664208"/>
            <a:ext cx="603504" cy="603504"/>
          </a:xfrm>
          <a:prstGeom prst="ellipse">
            <a:avLst/>
          </a:prstGeom>
          <a:solidFill>
            <a:schemeClr val="tx2"/>
          </a:solidFill>
          <a:ln w="25400">
            <a:solidFill>
              <a:schemeClr val="accent1"/>
            </a:solidFill>
            <a:prstDash val="solid"/>
          </a:ln>
        </p:spPr>
      </p:sp>
      <p:sp>
        <p:nvSpPr>
          <p:cNvPr id="14" name="Text 12"/>
          <p:cNvSpPr txBox="1"/>
          <p:nvPr/>
        </p:nvSpPr>
        <p:spPr>
          <a:xfrm>
            <a:off x="4198402" y="1664208"/>
            <a:ext cx="603504" cy="60350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3"/>
          <p:cNvSpPr txBox="1"/>
          <p:nvPr/>
        </p:nvSpPr>
        <p:spPr>
          <a:xfrm>
            <a:off x="3783003" y="2468880"/>
            <a:ext cx="1434302" cy="548640"/>
          </a:xfrm>
          <a:prstGeom prst="rect">
            <a:avLst/>
          </a:prstGeom>
          <a:noFill/>
          <a:ln/>
        </p:spPr>
        <p:txBody>
          <a:bodyPr wrap="square" lIns="0" tIns="0" rIns="0" bIns="0" rtlCol="0" anchor="t"/>
          <a:lstStyle/>
          <a:p>
            <a:pPr algn="ctr" indent="0" marL="0">
              <a:buNone/>
            </a:pPr>
            <a:r>
              <a:rPr lang="en-US" sz="1400" b="1" dirty="0">
                <a:solidFill>
                  <a:schemeClr val="bg1"/>
                </a:solidFill>
              </a:rPr>
              <a:t>Ingest &amp; normalize</a:t>
            </a:r>
            <a:endParaRPr lang="en-US" sz="1400" dirty="0"/>
          </a:p>
        </p:txBody>
      </p:sp>
      <p:sp>
        <p:nvSpPr>
          <p:cNvPr id="16" name="Text 14"/>
          <p:cNvSpPr txBox="1"/>
          <p:nvPr/>
        </p:nvSpPr>
        <p:spPr>
          <a:xfrm>
            <a:off x="3801291" y="3017520"/>
            <a:ext cx="1397726" cy="2011680"/>
          </a:xfrm>
          <a:prstGeom prst="rect">
            <a:avLst/>
          </a:prstGeom>
          <a:noFill/>
          <a:ln/>
        </p:spPr>
        <p:txBody>
          <a:bodyPr wrap="square" lIns="0" tIns="0" rIns="0" bIns="0" rtlCol="0" anchor="t"/>
          <a:lstStyle/>
          <a:p>
            <a:pPr algn="ctr" indent="0" marL="0">
              <a:buNone/>
            </a:pPr>
            <a:r>
              <a:rPr lang="en-US" sz="1300" dirty="0">
                <a:solidFill>
                  <a:schemeClr val="accent6"/>
                </a:solidFill>
              </a:rPr>
              <a:t>Agents, tools, permissions, deps, assets, findings and evidence become a graph.</a:t>
            </a:r>
            <a:endParaRPr lang="en-US" sz="1300" dirty="0"/>
          </a:p>
        </p:txBody>
      </p:sp>
      <p:sp>
        <p:nvSpPr>
          <p:cNvPr id="17" name="step"/>
          <p:cNvSpPr/>
          <p:nvPr/>
        </p:nvSpPr>
        <p:spPr>
          <a:xfrm>
            <a:off x="5779008" y="1664208"/>
            <a:ext cx="603504" cy="603504"/>
          </a:xfrm>
          <a:prstGeom prst="ellipse">
            <a:avLst/>
          </a:prstGeom>
          <a:solidFill>
            <a:schemeClr val="tx2"/>
          </a:solidFill>
          <a:ln w="25400">
            <a:solidFill>
              <a:schemeClr val="accent1"/>
            </a:solidFill>
            <a:prstDash val="solid"/>
          </a:ln>
        </p:spPr>
      </p:sp>
      <p:sp>
        <p:nvSpPr>
          <p:cNvPr id="18" name="Text 16"/>
          <p:cNvSpPr txBox="1"/>
          <p:nvPr/>
        </p:nvSpPr>
        <p:spPr>
          <a:xfrm>
            <a:off x="5779008" y="1664208"/>
            <a:ext cx="603504" cy="60350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7"/>
          <p:cNvSpPr txBox="1"/>
          <p:nvPr/>
        </p:nvSpPr>
        <p:spPr>
          <a:xfrm>
            <a:off x="5363609" y="2468880"/>
            <a:ext cx="1434302" cy="548640"/>
          </a:xfrm>
          <a:prstGeom prst="rect">
            <a:avLst/>
          </a:prstGeom>
          <a:noFill/>
          <a:ln/>
        </p:spPr>
        <p:txBody>
          <a:bodyPr wrap="square" lIns="0" tIns="0" rIns="0" bIns="0" rtlCol="0" anchor="t"/>
          <a:lstStyle/>
          <a:p>
            <a:pPr algn="ctr" indent="0" marL="0">
              <a:buNone/>
            </a:pPr>
            <a:r>
              <a:rPr lang="en-US" sz="1400" b="1" dirty="0">
                <a:solidFill>
                  <a:schemeClr val="bg1"/>
                </a:solidFill>
              </a:rPr>
              <a:t>Investigate</a:t>
            </a:r>
            <a:endParaRPr lang="en-US" sz="1400" dirty="0"/>
          </a:p>
        </p:txBody>
      </p:sp>
      <p:sp>
        <p:nvSpPr>
          <p:cNvPr id="20" name="Text 18"/>
          <p:cNvSpPr txBox="1"/>
          <p:nvPr/>
        </p:nvSpPr>
        <p:spPr>
          <a:xfrm>
            <a:off x="5381897" y="3017520"/>
            <a:ext cx="1397726" cy="2011680"/>
          </a:xfrm>
          <a:prstGeom prst="rect">
            <a:avLst/>
          </a:prstGeom>
          <a:noFill/>
          <a:ln/>
        </p:spPr>
        <p:txBody>
          <a:bodyPr wrap="square" lIns="0" tIns="0" rIns="0" bIns="0" rtlCol="0" anchor="t"/>
          <a:lstStyle/>
          <a:p>
            <a:pPr algn="ctr" indent="0" marL="0">
              <a:buNone/>
            </a:pPr>
            <a:r>
              <a:rPr lang="en-US" sz="1300" dirty="0">
                <a:solidFill>
                  <a:schemeClr val="accent6"/>
                </a:solidFill>
              </a:rPr>
              <a:t>Agent runs approved graph tools and follow-up queries; conclusions link to evidence.</a:t>
            </a:r>
            <a:endParaRPr lang="en-US" sz="1300" dirty="0"/>
          </a:p>
        </p:txBody>
      </p:sp>
      <p:sp>
        <p:nvSpPr>
          <p:cNvPr id="21" name="step"/>
          <p:cNvSpPr/>
          <p:nvPr/>
        </p:nvSpPr>
        <p:spPr>
          <a:xfrm>
            <a:off x="7359614" y="1664208"/>
            <a:ext cx="603504" cy="603504"/>
          </a:xfrm>
          <a:prstGeom prst="ellipse">
            <a:avLst/>
          </a:prstGeom>
          <a:solidFill>
            <a:schemeClr val="tx2"/>
          </a:solidFill>
          <a:ln w="25400">
            <a:solidFill>
              <a:schemeClr val="accent1"/>
            </a:solidFill>
            <a:prstDash val="solid"/>
          </a:ln>
        </p:spPr>
      </p:sp>
      <p:sp>
        <p:nvSpPr>
          <p:cNvPr id="22" name="Text 20"/>
          <p:cNvSpPr txBox="1"/>
          <p:nvPr/>
        </p:nvSpPr>
        <p:spPr>
          <a:xfrm>
            <a:off x="7359614" y="1664208"/>
            <a:ext cx="603504" cy="603504"/>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3" name="Text 21"/>
          <p:cNvSpPr txBox="1"/>
          <p:nvPr/>
        </p:nvSpPr>
        <p:spPr>
          <a:xfrm>
            <a:off x="6944215" y="2468880"/>
            <a:ext cx="1434302" cy="548640"/>
          </a:xfrm>
          <a:prstGeom prst="rect">
            <a:avLst/>
          </a:prstGeom>
          <a:noFill/>
          <a:ln/>
        </p:spPr>
        <p:txBody>
          <a:bodyPr wrap="square" lIns="0" tIns="0" rIns="0" bIns="0" rtlCol="0" anchor="t"/>
          <a:lstStyle/>
          <a:p>
            <a:pPr algn="ctr" indent="0" marL="0">
              <a:buNone/>
            </a:pPr>
            <a:r>
              <a:rPr lang="en-US" sz="1400" b="1" dirty="0">
                <a:solidFill>
                  <a:schemeClr val="bg1"/>
                </a:solidFill>
              </a:rPr>
              <a:t>Review path &amp; fix</a:t>
            </a:r>
            <a:endParaRPr lang="en-US" sz="1400" dirty="0"/>
          </a:p>
        </p:txBody>
      </p:sp>
      <p:sp>
        <p:nvSpPr>
          <p:cNvPr id="24" name="Text 22"/>
          <p:cNvSpPr txBox="1"/>
          <p:nvPr/>
        </p:nvSpPr>
        <p:spPr>
          <a:xfrm>
            <a:off x="6962503" y="3017520"/>
            <a:ext cx="1397726" cy="2011680"/>
          </a:xfrm>
          <a:prstGeom prst="rect">
            <a:avLst/>
          </a:prstGeom>
          <a:noFill/>
          <a:ln/>
        </p:spPr>
        <p:txBody>
          <a:bodyPr wrap="square" lIns="0" tIns="0" rIns="0" bIns="0" rtlCol="0" anchor="t"/>
          <a:lstStyle/>
          <a:p>
            <a:pPr algn="ctr" indent="0" marL="0">
              <a:buNone/>
            </a:pPr>
            <a:r>
              <a:rPr lang="en-US" sz="1300" dirty="0">
                <a:solidFill>
                  <a:schemeClr val="accent6"/>
                </a:solidFill>
              </a:rPr>
              <a:t>User inspects path, risk factors and proposed change. High-impact actions need authorization.</a:t>
            </a:r>
            <a:endParaRPr lang="en-US" sz="1300" dirty="0"/>
          </a:p>
        </p:txBody>
      </p:sp>
      <p:sp>
        <p:nvSpPr>
          <p:cNvPr id="25" name="step"/>
          <p:cNvSpPr/>
          <p:nvPr/>
        </p:nvSpPr>
        <p:spPr>
          <a:xfrm>
            <a:off x="8940219" y="1664208"/>
            <a:ext cx="603504" cy="603504"/>
          </a:xfrm>
          <a:prstGeom prst="ellipse">
            <a:avLst/>
          </a:prstGeom>
          <a:solidFill>
            <a:schemeClr val="tx2"/>
          </a:solidFill>
          <a:ln w="25400">
            <a:solidFill>
              <a:schemeClr val="accent5"/>
            </a:solidFill>
            <a:prstDash val="solid"/>
          </a:ln>
        </p:spPr>
      </p:sp>
      <p:sp>
        <p:nvSpPr>
          <p:cNvPr id="26" name="Text 24"/>
          <p:cNvSpPr txBox="1"/>
          <p:nvPr/>
        </p:nvSpPr>
        <p:spPr>
          <a:xfrm>
            <a:off x="8940219" y="1664208"/>
            <a:ext cx="603504" cy="603504"/>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7" name="Text 25"/>
          <p:cNvSpPr txBox="1"/>
          <p:nvPr/>
        </p:nvSpPr>
        <p:spPr>
          <a:xfrm>
            <a:off x="8524821" y="2468880"/>
            <a:ext cx="1434302" cy="548640"/>
          </a:xfrm>
          <a:prstGeom prst="rect">
            <a:avLst/>
          </a:prstGeom>
          <a:noFill/>
          <a:ln/>
        </p:spPr>
        <p:txBody>
          <a:bodyPr wrap="square" lIns="0" tIns="0" rIns="0" bIns="0" rtlCol="0" anchor="t"/>
          <a:lstStyle/>
          <a:p>
            <a:pPr algn="ctr" indent="0" marL="0">
              <a:buNone/>
            </a:pPr>
            <a:r>
              <a:rPr lang="en-US" sz="1400" b="1" dirty="0">
                <a:solidFill>
                  <a:schemeClr val="accent5"/>
                </a:solidFill>
              </a:rPr>
              <a:t>Verify</a:t>
            </a:r>
            <a:endParaRPr lang="en-US" sz="1400" dirty="0"/>
          </a:p>
        </p:txBody>
      </p:sp>
      <p:sp>
        <p:nvSpPr>
          <p:cNvPr id="28" name="Text 26"/>
          <p:cNvSpPr txBox="1"/>
          <p:nvPr/>
        </p:nvSpPr>
        <p:spPr>
          <a:xfrm>
            <a:off x="8543109" y="3017520"/>
            <a:ext cx="1397726" cy="2011680"/>
          </a:xfrm>
          <a:prstGeom prst="rect">
            <a:avLst/>
          </a:prstGeom>
          <a:noFill/>
          <a:ln/>
        </p:spPr>
        <p:txBody>
          <a:bodyPr wrap="square" lIns="0" tIns="0" rIns="0" bIns="0" rtlCol="0" anchor="t"/>
          <a:lstStyle/>
          <a:p>
            <a:pPr algn="ctr" indent="0" marL="0">
              <a:buNone/>
            </a:pPr>
            <a:r>
              <a:rPr lang="en-US" sz="1300" dirty="0">
                <a:solidFill>
                  <a:schemeClr val="accent6"/>
                </a:solidFill>
              </a:rPr>
              <a:t>Static checks, graph re-evaluation and security tests must pass before closure.</a:t>
            </a:r>
            <a:endParaRPr lang="en-US" sz="1300" dirty="0"/>
          </a:p>
        </p:txBody>
      </p:sp>
      <p:sp>
        <p:nvSpPr>
          <p:cNvPr id="29" name="step"/>
          <p:cNvSpPr/>
          <p:nvPr/>
        </p:nvSpPr>
        <p:spPr>
          <a:xfrm>
            <a:off x="10520825" y="1664208"/>
            <a:ext cx="603504" cy="603504"/>
          </a:xfrm>
          <a:prstGeom prst="ellipse">
            <a:avLst/>
          </a:prstGeom>
          <a:solidFill>
            <a:schemeClr val="tx2"/>
          </a:solidFill>
          <a:ln w="25400">
            <a:solidFill>
              <a:schemeClr val="accent1"/>
            </a:solidFill>
            <a:prstDash val="solid"/>
          </a:ln>
        </p:spPr>
      </p:sp>
      <p:sp>
        <p:nvSpPr>
          <p:cNvPr id="30" name="Text 28"/>
          <p:cNvSpPr txBox="1"/>
          <p:nvPr/>
        </p:nvSpPr>
        <p:spPr>
          <a:xfrm>
            <a:off x="10520825" y="1664208"/>
            <a:ext cx="603504" cy="603504"/>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31" name="Text 29"/>
          <p:cNvSpPr txBox="1"/>
          <p:nvPr/>
        </p:nvSpPr>
        <p:spPr>
          <a:xfrm>
            <a:off x="10105426" y="2468880"/>
            <a:ext cx="1434302" cy="548640"/>
          </a:xfrm>
          <a:prstGeom prst="rect">
            <a:avLst/>
          </a:prstGeom>
          <a:noFill/>
          <a:ln/>
        </p:spPr>
        <p:txBody>
          <a:bodyPr wrap="square" lIns="0" tIns="0" rIns="0" bIns="0" rtlCol="0" anchor="t"/>
          <a:lstStyle/>
          <a:p>
            <a:pPr algn="ctr" indent="0" marL="0">
              <a:buNone/>
            </a:pPr>
            <a:r>
              <a:rPr lang="en-US" sz="1400" b="1" dirty="0">
                <a:solidFill>
                  <a:schemeClr val="bg1"/>
                </a:solidFill>
              </a:rPr>
              <a:t>Monitor drift</a:t>
            </a:r>
            <a:endParaRPr lang="en-US" sz="1400" dirty="0"/>
          </a:p>
        </p:txBody>
      </p:sp>
      <p:sp>
        <p:nvSpPr>
          <p:cNvPr id="32" name="Text 30"/>
          <p:cNvSpPr txBox="1"/>
          <p:nvPr/>
        </p:nvSpPr>
        <p:spPr>
          <a:xfrm>
            <a:off x="10123714" y="3017520"/>
            <a:ext cx="1397726" cy="2011680"/>
          </a:xfrm>
          <a:prstGeom prst="rect">
            <a:avLst/>
          </a:prstGeom>
          <a:noFill/>
          <a:ln/>
        </p:spPr>
        <p:txBody>
          <a:bodyPr wrap="square" lIns="0" tIns="0" rIns="0" bIns="0" rtlCol="0" anchor="t"/>
          <a:lstStyle/>
          <a:p>
            <a:pPr algn="ctr" indent="0" marL="0">
              <a:buNone/>
            </a:pPr>
            <a:r>
              <a:rPr lang="en-US" sz="1300" dirty="0">
                <a:solidFill>
                  <a:schemeClr val="accent6"/>
                </a:solidFill>
              </a:rPr>
              <a:t>On change, update the affected graph region and reopen findings if risk recurs.</a:t>
            </a:r>
            <a:endParaRPr lang="en-US" sz="1300" dirty="0"/>
          </a:p>
        </p:txBody>
      </p:sp>
      <p:sp>
        <p:nvSpPr>
          <p:cNvPr id="33" name="card"/>
          <p:cNvSpPr/>
          <p:nvPr/>
        </p:nvSpPr>
        <p:spPr>
          <a:xfrm>
            <a:off x="548640" y="5166360"/>
            <a:ext cx="11064240" cy="960120"/>
          </a:xfrm>
          <a:prstGeom prst="roundRect">
            <a:avLst>
              <a:gd name="adj" fmla="val 9524"/>
            </a:avLst>
          </a:prstGeom>
          <a:solidFill>
            <a:schemeClr val="accent5">
              <a:alpha val="10000"/>
            </a:schemeClr>
          </a:solidFill>
          <a:ln w="12700">
            <a:solidFill>
              <a:schemeClr val="accent5">
                <a:alpha val="65000"/>
              </a:schemeClr>
            </a:solidFill>
            <a:prstDash val="solid"/>
          </a:ln>
        </p:spPr>
      </p:sp>
      <p:sp>
        <p:nvSpPr>
          <p:cNvPr id="34" name="icon tile"/>
          <p:cNvSpPr/>
          <p:nvPr/>
        </p:nvSpPr>
        <p:spPr>
          <a:xfrm>
            <a:off x="777240" y="5321808"/>
            <a:ext cx="640080" cy="640080"/>
          </a:xfrm>
          <a:prstGeom prst="roundRect">
            <a:avLst>
              <a:gd name="adj" fmla="val 22000"/>
            </a:avLst>
          </a:prstGeom>
          <a:solidFill>
            <a:schemeClr val="accent5">
              <a:alpha val="20000"/>
            </a:schemeClr>
          </a:solidFill>
          <a:ln w="9525">
            <a:solidFill>
              <a:schemeClr val="accent5">
                <a:alpha val="55000"/>
              </a:schemeClr>
            </a:solidFill>
            <a:prstDash val="solid"/>
          </a:ln>
        </p:spPr>
      </p:sp>
      <p:pic>
        <p:nvPicPr>
          <p:cNvPr id="35" name="icon" descr="preencoded.png">    </p:cNvPr>
          <p:cNvPicPr>
            <a:picLocks noChangeAspect="1"/>
          </p:cNvPicPr>
          <p:nvPr/>
        </p:nvPicPr>
        <p:blipFill>
          <a:blip r:embed="rId1"/>
          <a:stretch>
            <a:fillRect/>
          </a:stretch>
        </p:blipFill>
        <p:spPr>
          <a:xfrm>
            <a:off x="930859" y="5475427"/>
            <a:ext cx="332842" cy="332842"/>
          </a:xfrm>
          <a:prstGeom prst="rect">
            <a:avLst/>
          </a:prstGeom>
        </p:spPr>
      </p:pic>
      <p:sp>
        <p:nvSpPr>
          <p:cNvPr id="36" name="Text 33"/>
          <p:cNvSpPr txBox="1"/>
          <p:nvPr/>
        </p:nvSpPr>
        <p:spPr>
          <a:xfrm>
            <a:off x="1645920" y="5230368"/>
            <a:ext cx="9784080" cy="822960"/>
          </a:xfrm>
          <a:prstGeom prst="rect">
            <a:avLst/>
          </a:prstGeom>
          <a:noFill/>
          <a:ln/>
        </p:spPr>
        <p:txBody>
          <a:bodyPr wrap="square" lIns="0" tIns="0" rIns="0" bIns="0" rtlCol="0" anchor="ctr"/>
          <a:lstStyle/>
          <a:p>
            <a:pPr indent="0" marL="0">
              <a:buNone/>
            </a:pPr>
            <a:r>
              <a:rPr lang="en-US" sz="1300" b="1" dirty="0">
                <a:solidFill>
                  <a:schemeClr val="accent5"/>
                </a:solidFill>
              </a:rPr>
              <a:t>First-session success condition
</a:t>
            </a:r>
            <a:pPr indent="0" marL="0">
              <a:buNone/>
            </a:pPr>
            <a:r>
              <a:rPr lang="en-US" sz="1400" dirty="0">
                <a:solidFill>
                  <a:schemeClr val="bg2"/>
                </a:solidFill>
              </a:rPr>
              <a:t>A business user connects a sample repository, sees a graph-backed finding with a traceable path, reviews a proposed fix, and watches a repeatable verification test pass.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04 · SYSTEM ARCHITECTURE</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A modular pipeline with FalkorDB at the core</a:t>
            </a:r>
            <a:endParaRPr lang="en-US" sz="3200" dirty="0"/>
          </a:p>
        </p:txBody>
      </p:sp>
      <p:sp>
        <p:nvSpPr>
          <p:cNvPr id="4" name="card"/>
          <p:cNvSpPr/>
          <p:nvPr/>
        </p:nvSpPr>
        <p:spPr>
          <a:xfrm>
            <a:off x="548640" y="1783080"/>
            <a:ext cx="1965960" cy="777240"/>
          </a:xfrm>
          <a:prstGeom prst="roundRect">
            <a:avLst>
              <a:gd name="adj" fmla="val 11765"/>
            </a:avLst>
          </a:prstGeom>
          <a:solidFill>
            <a:schemeClr val="tx2"/>
          </a:solidFill>
          <a:ln w="12700">
            <a:solidFill>
              <a:schemeClr val="accent6">
                <a:alpha val="65000"/>
              </a:schemeClr>
            </a:solidFill>
            <a:prstDash val="solid"/>
          </a:ln>
        </p:spPr>
      </p:sp>
      <p:sp>
        <p:nvSpPr>
          <p:cNvPr id="5" name="Text 3"/>
          <p:cNvSpPr txBox="1"/>
          <p:nvPr/>
        </p:nvSpPr>
        <p:spPr>
          <a:xfrm>
            <a:off x="640080" y="1783080"/>
            <a:ext cx="1783080" cy="777240"/>
          </a:xfrm>
          <a:prstGeom prst="rect">
            <a:avLst/>
          </a:prstGeom>
          <a:noFill/>
          <a:ln/>
        </p:spPr>
        <p:txBody>
          <a:bodyPr wrap="square" lIns="0" tIns="0" rIns="0" bIns="0" rtlCol="0" anchor="ctr"/>
          <a:lstStyle/>
          <a:p>
            <a:pPr algn="ctr" indent="0" marL="0">
              <a:buNone/>
            </a:pPr>
            <a:r>
              <a:rPr lang="en-US" sz="1300" b="1" dirty="0">
                <a:solidFill>
                  <a:schemeClr val="bg1"/>
                </a:solidFill>
              </a:rPr>
              <a:t>GitHub App · Webhooks · CI scanner output</a:t>
            </a:r>
            <a:endParaRPr lang="en-US" sz="1300" dirty="0"/>
          </a:p>
        </p:txBody>
      </p:sp>
      <p:sp>
        <p:nvSpPr>
          <p:cNvPr id="6" name="connector"/>
          <p:cNvSpPr/>
          <p:nvPr/>
        </p:nvSpPr>
        <p:spPr>
          <a:xfrm>
            <a:off x="2551176" y="2171700"/>
            <a:ext cx="235458" cy="914"/>
          </a:xfrm>
          <a:prstGeom prst="line">
            <a:avLst/>
          </a:prstGeom>
          <a:noFill/>
          <a:ln w="19050">
            <a:solidFill>
              <a:srgbClr val="00E5FF"/>
            </a:solidFill>
            <a:prstDash val="solid"/>
            <a:tailEnd type="triangle"/>
          </a:ln>
        </p:spPr>
      </p:sp>
      <p:sp>
        <p:nvSpPr>
          <p:cNvPr id="7" name="card"/>
          <p:cNvSpPr/>
          <p:nvPr/>
        </p:nvSpPr>
        <p:spPr>
          <a:xfrm>
            <a:off x="2823210" y="1783080"/>
            <a:ext cx="1965960" cy="777240"/>
          </a:xfrm>
          <a:prstGeom prst="roundRect">
            <a:avLst>
              <a:gd name="adj" fmla="val 11765"/>
            </a:avLst>
          </a:prstGeom>
          <a:solidFill>
            <a:schemeClr val="tx2"/>
          </a:solidFill>
          <a:ln w="12700">
            <a:solidFill>
              <a:schemeClr val="accent1">
                <a:alpha val="65000"/>
              </a:schemeClr>
            </a:solidFill>
            <a:prstDash val="solid"/>
          </a:ln>
        </p:spPr>
      </p:sp>
      <p:sp>
        <p:nvSpPr>
          <p:cNvPr id="8" name="Text 6"/>
          <p:cNvSpPr txBox="1"/>
          <p:nvPr/>
        </p:nvSpPr>
        <p:spPr>
          <a:xfrm>
            <a:off x="2914650" y="1783080"/>
            <a:ext cx="1783080" cy="777240"/>
          </a:xfrm>
          <a:prstGeom prst="rect">
            <a:avLst/>
          </a:prstGeom>
          <a:noFill/>
          <a:ln/>
        </p:spPr>
        <p:txBody>
          <a:bodyPr wrap="square" lIns="0" tIns="0" rIns="0" bIns="0" rtlCol="0" anchor="ctr"/>
          <a:lstStyle/>
          <a:p>
            <a:pPr algn="ctr" indent="0" marL="0">
              <a:buNone/>
            </a:pPr>
            <a:r>
              <a:rPr lang="en-US" sz="1300" b="1" dirty="0">
                <a:solidFill>
                  <a:schemeClr val="bg1"/>
                </a:solidFill>
              </a:rPr>
              <a:t>Ingestion + Normalization API</a:t>
            </a:r>
            <a:endParaRPr lang="en-US" sz="1300" dirty="0"/>
          </a:p>
        </p:txBody>
      </p:sp>
      <p:sp>
        <p:nvSpPr>
          <p:cNvPr id="9" name="connector"/>
          <p:cNvSpPr/>
          <p:nvPr/>
        </p:nvSpPr>
        <p:spPr>
          <a:xfrm>
            <a:off x="4825746" y="2171700"/>
            <a:ext cx="235458" cy="914"/>
          </a:xfrm>
          <a:prstGeom prst="line">
            <a:avLst/>
          </a:prstGeom>
          <a:noFill/>
          <a:ln w="19050">
            <a:solidFill>
              <a:srgbClr val="00E5FF"/>
            </a:solidFill>
            <a:prstDash val="solid"/>
            <a:tailEnd type="triangle"/>
          </a:ln>
        </p:spPr>
      </p:sp>
      <p:sp>
        <p:nvSpPr>
          <p:cNvPr id="10" name="card"/>
          <p:cNvSpPr/>
          <p:nvPr/>
        </p:nvSpPr>
        <p:spPr>
          <a:xfrm>
            <a:off x="5097780" y="1783080"/>
            <a:ext cx="1965960" cy="777240"/>
          </a:xfrm>
          <a:prstGeom prst="roundRect">
            <a:avLst>
              <a:gd name="adj" fmla="val 11765"/>
            </a:avLst>
          </a:prstGeom>
          <a:solidFill>
            <a:schemeClr val="accent2">
              <a:alpha val="30000"/>
            </a:schemeClr>
          </a:solidFill>
          <a:ln w="25400">
            <a:solidFill>
              <a:schemeClr val="accent2"/>
            </a:solidFill>
            <a:prstDash val="solid"/>
          </a:ln>
        </p:spPr>
      </p:sp>
      <p:sp>
        <p:nvSpPr>
          <p:cNvPr id="11" name="Text 9"/>
          <p:cNvSpPr txBox="1"/>
          <p:nvPr/>
        </p:nvSpPr>
        <p:spPr>
          <a:xfrm>
            <a:off x="5189220" y="1783080"/>
            <a:ext cx="1783080" cy="777240"/>
          </a:xfrm>
          <a:prstGeom prst="rect">
            <a:avLst/>
          </a:prstGeom>
          <a:noFill/>
          <a:ln/>
        </p:spPr>
        <p:txBody>
          <a:bodyPr wrap="square" lIns="0" tIns="0" rIns="0" bIns="0" rtlCol="0" anchor="ctr"/>
          <a:lstStyle/>
          <a:p>
            <a:pPr algn="ctr" indent="0" marL="0">
              <a:buNone/>
            </a:pPr>
            <a:r>
              <a:rPr lang="en-US" sz="1300" b="1" dirty="0">
                <a:solidFill>
                  <a:schemeClr val="bg1"/>
                </a:solidFill>
              </a:rPr>
              <a:t>FalkorDB Graph</a:t>
            </a:r>
            <a:endParaRPr lang="en-US" sz="1300" dirty="0"/>
          </a:p>
        </p:txBody>
      </p:sp>
      <p:sp>
        <p:nvSpPr>
          <p:cNvPr id="12" name="connector"/>
          <p:cNvSpPr/>
          <p:nvPr/>
        </p:nvSpPr>
        <p:spPr>
          <a:xfrm>
            <a:off x="7100316" y="2171700"/>
            <a:ext cx="235458" cy="914"/>
          </a:xfrm>
          <a:prstGeom prst="line">
            <a:avLst/>
          </a:prstGeom>
          <a:noFill/>
          <a:ln w="19050">
            <a:solidFill>
              <a:srgbClr val="00E5FF"/>
            </a:solidFill>
            <a:prstDash val="solid"/>
            <a:tailEnd type="triangle"/>
          </a:ln>
        </p:spPr>
      </p:sp>
      <p:sp>
        <p:nvSpPr>
          <p:cNvPr id="13" name="card"/>
          <p:cNvSpPr/>
          <p:nvPr/>
        </p:nvSpPr>
        <p:spPr>
          <a:xfrm>
            <a:off x="7372350" y="1783080"/>
            <a:ext cx="1965960" cy="777240"/>
          </a:xfrm>
          <a:prstGeom prst="roundRect">
            <a:avLst>
              <a:gd name="adj" fmla="val 11765"/>
            </a:avLst>
          </a:prstGeom>
          <a:solidFill>
            <a:schemeClr val="tx2"/>
          </a:solidFill>
          <a:ln w="12700">
            <a:solidFill>
              <a:schemeClr val="accent1">
                <a:alpha val="65000"/>
              </a:schemeClr>
            </a:solidFill>
            <a:prstDash val="solid"/>
          </a:ln>
        </p:spPr>
      </p:sp>
      <p:sp>
        <p:nvSpPr>
          <p:cNvPr id="14" name="Text 12"/>
          <p:cNvSpPr txBox="1"/>
          <p:nvPr/>
        </p:nvSpPr>
        <p:spPr>
          <a:xfrm>
            <a:off x="7463790" y="1783080"/>
            <a:ext cx="1783080" cy="777240"/>
          </a:xfrm>
          <a:prstGeom prst="rect">
            <a:avLst/>
          </a:prstGeom>
          <a:noFill/>
          <a:ln/>
        </p:spPr>
        <p:txBody>
          <a:bodyPr wrap="square" lIns="0" tIns="0" rIns="0" bIns="0" rtlCol="0" anchor="ctr"/>
          <a:lstStyle/>
          <a:p>
            <a:pPr algn="ctr" indent="0" marL="0">
              <a:buNone/>
            </a:pPr>
            <a:r>
              <a:rPr lang="en-US" sz="1300" b="1" dirty="0">
                <a:solidFill>
                  <a:schemeClr val="bg1"/>
                </a:solidFill>
              </a:rPr>
              <a:t>Controlled Graph Query Tools</a:t>
            </a:r>
            <a:endParaRPr lang="en-US" sz="1300" dirty="0"/>
          </a:p>
        </p:txBody>
      </p:sp>
      <p:sp>
        <p:nvSpPr>
          <p:cNvPr id="15" name="connector"/>
          <p:cNvSpPr/>
          <p:nvPr/>
        </p:nvSpPr>
        <p:spPr>
          <a:xfrm>
            <a:off x="9374886" y="2171700"/>
            <a:ext cx="235458" cy="914"/>
          </a:xfrm>
          <a:prstGeom prst="line">
            <a:avLst/>
          </a:prstGeom>
          <a:noFill/>
          <a:ln w="19050">
            <a:solidFill>
              <a:srgbClr val="00E5FF"/>
            </a:solidFill>
            <a:prstDash val="solid"/>
            <a:tailEnd type="triangle"/>
          </a:ln>
        </p:spPr>
      </p:sp>
      <p:sp>
        <p:nvSpPr>
          <p:cNvPr id="16" name="card"/>
          <p:cNvSpPr/>
          <p:nvPr/>
        </p:nvSpPr>
        <p:spPr>
          <a:xfrm>
            <a:off x="9646920" y="1783080"/>
            <a:ext cx="1965960" cy="777240"/>
          </a:xfrm>
          <a:prstGeom prst="roundRect">
            <a:avLst>
              <a:gd name="adj" fmla="val 11765"/>
            </a:avLst>
          </a:prstGeom>
          <a:solidFill>
            <a:schemeClr val="tx2"/>
          </a:solidFill>
          <a:ln w="12700">
            <a:solidFill>
              <a:schemeClr val="accent2">
                <a:alpha val="65000"/>
              </a:schemeClr>
            </a:solidFill>
            <a:prstDash val="solid"/>
          </a:ln>
        </p:spPr>
      </p:sp>
      <p:sp>
        <p:nvSpPr>
          <p:cNvPr id="17" name="Text 15"/>
          <p:cNvSpPr txBox="1"/>
          <p:nvPr/>
        </p:nvSpPr>
        <p:spPr>
          <a:xfrm>
            <a:off x="9738360" y="1783080"/>
            <a:ext cx="1783080" cy="777240"/>
          </a:xfrm>
          <a:prstGeom prst="rect">
            <a:avLst/>
          </a:prstGeom>
          <a:noFill/>
          <a:ln/>
        </p:spPr>
        <p:txBody>
          <a:bodyPr wrap="square" lIns="0" tIns="0" rIns="0" bIns="0" rtlCol="0" anchor="ctr"/>
          <a:lstStyle/>
          <a:p>
            <a:pPr algn="ctr" indent="0" marL="0">
              <a:buNone/>
            </a:pPr>
            <a:r>
              <a:rPr lang="en-US" sz="1300" b="1" dirty="0">
                <a:solidFill>
                  <a:schemeClr val="bg1"/>
                </a:solidFill>
              </a:rPr>
              <a:t>Security Investigation Agent</a:t>
            </a:r>
            <a:endParaRPr lang="en-US" sz="1300" dirty="0"/>
          </a:p>
        </p:txBody>
      </p:sp>
      <p:sp>
        <p:nvSpPr>
          <p:cNvPr id="18" name="connector"/>
          <p:cNvSpPr/>
          <p:nvPr/>
        </p:nvSpPr>
        <p:spPr>
          <a:xfrm>
            <a:off x="3806190" y="2578608"/>
            <a:ext cx="914" cy="146304"/>
          </a:xfrm>
          <a:prstGeom prst="line">
            <a:avLst/>
          </a:prstGeom>
          <a:noFill/>
          <a:ln w="12700">
            <a:solidFill>
              <a:srgbClr val="9AA0B8"/>
            </a:solidFill>
            <a:prstDash val="dash"/>
          </a:ln>
        </p:spPr>
      </p:sp>
      <p:sp>
        <p:nvSpPr>
          <p:cNvPr id="19" name="card"/>
          <p:cNvSpPr/>
          <p:nvPr/>
        </p:nvSpPr>
        <p:spPr>
          <a:xfrm>
            <a:off x="2823210" y="2743200"/>
            <a:ext cx="1965960" cy="548640"/>
          </a:xfrm>
          <a:prstGeom prst="roundRect">
            <a:avLst>
              <a:gd name="adj" fmla="val 16667"/>
            </a:avLst>
          </a:prstGeom>
          <a:solidFill>
            <a:schemeClr val="tx2"/>
          </a:solidFill>
          <a:ln w="12700">
            <a:solidFill>
              <a:schemeClr val="accent6">
                <a:alpha val="60000"/>
              </a:schemeClr>
            </a:solidFill>
            <a:prstDash val="solid"/>
          </a:ln>
        </p:spPr>
      </p:sp>
      <p:sp>
        <p:nvSpPr>
          <p:cNvPr id="20" name="Text 18"/>
          <p:cNvSpPr txBox="1"/>
          <p:nvPr/>
        </p:nvSpPr>
        <p:spPr>
          <a:xfrm>
            <a:off x="2896362" y="2743200"/>
            <a:ext cx="1819656" cy="548640"/>
          </a:xfrm>
          <a:prstGeom prst="rect">
            <a:avLst/>
          </a:prstGeom>
          <a:noFill/>
          <a:ln/>
        </p:spPr>
        <p:txBody>
          <a:bodyPr wrap="square" lIns="0" tIns="0" rIns="0" bIns="0" rtlCol="0" anchor="ctr"/>
          <a:lstStyle/>
          <a:p>
            <a:pPr algn="ctr" indent="0" marL="0">
              <a:buNone/>
            </a:pPr>
            <a:r>
              <a:rPr lang="en-US" sz="1100" dirty="0">
                <a:solidFill>
                  <a:schemeClr val="accent6"/>
                </a:solidFill>
              </a:rPr>
              <a:t>PostgreSQL · tenants, users, jobs, approvals</a:t>
            </a:r>
            <a:endParaRPr lang="en-US" sz="1100" dirty="0"/>
          </a:p>
        </p:txBody>
      </p:sp>
      <p:sp>
        <p:nvSpPr>
          <p:cNvPr id="21" name="connector"/>
          <p:cNvSpPr/>
          <p:nvPr/>
        </p:nvSpPr>
        <p:spPr>
          <a:xfrm>
            <a:off x="10629900" y="2596896"/>
            <a:ext cx="914" cy="1024128"/>
          </a:xfrm>
          <a:prstGeom prst="line">
            <a:avLst/>
          </a:prstGeom>
          <a:noFill/>
          <a:ln w="19050">
            <a:solidFill>
              <a:srgbClr val="00E5FF"/>
            </a:solidFill>
            <a:prstDash val="solid"/>
            <a:tailEnd type="triangle"/>
          </a:ln>
        </p:spPr>
      </p:sp>
      <p:sp>
        <p:nvSpPr>
          <p:cNvPr id="22" name="card"/>
          <p:cNvSpPr/>
          <p:nvPr/>
        </p:nvSpPr>
        <p:spPr>
          <a:xfrm>
            <a:off x="2823210" y="3657600"/>
            <a:ext cx="1965960" cy="777240"/>
          </a:xfrm>
          <a:prstGeom prst="roundRect">
            <a:avLst>
              <a:gd name="adj" fmla="val 11765"/>
            </a:avLst>
          </a:prstGeom>
          <a:solidFill>
            <a:schemeClr val="tx2"/>
          </a:solidFill>
          <a:ln w="12700">
            <a:solidFill>
              <a:schemeClr val="accent6">
                <a:alpha val="65000"/>
              </a:schemeClr>
            </a:solidFill>
            <a:prstDash val="solid"/>
          </a:ln>
        </p:spPr>
      </p:sp>
      <p:sp>
        <p:nvSpPr>
          <p:cNvPr id="23" name="Text 21"/>
          <p:cNvSpPr txBox="1"/>
          <p:nvPr/>
        </p:nvSpPr>
        <p:spPr>
          <a:xfrm>
            <a:off x="2914650" y="3657600"/>
            <a:ext cx="1783080" cy="777240"/>
          </a:xfrm>
          <a:prstGeom prst="rect">
            <a:avLst/>
          </a:prstGeom>
          <a:noFill/>
          <a:ln/>
        </p:spPr>
        <p:txBody>
          <a:bodyPr wrap="square" lIns="0" tIns="0" rIns="0" bIns="0" rtlCol="0" anchor="ctr"/>
          <a:lstStyle/>
          <a:p>
            <a:pPr algn="ctr" indent="0" marL="0">
              <a:buNone/>
            </a:pPr>
            <a:r>
              <a:rPr lang="en-US" sz="1300" b="1" dirty="0">
                <a:solidFill>
                  <a:schemeClr val="bg1"/>
                </a:solidFill>
              </a:rPr>
              <a:t>React / Vite Dashboard</a:t>
            </a:r>
            <a:endParaRPr lang="en-US" sz="1300" dirty="0"/>
          </a:p>
        </p:txBody>
      </p:sp>
      <p:sp>
        <p:nvSpPr>
          <p:cNvPr id="24" name="card"/>
          <p:cNvSpPr/>
          <p:nvPr/>
        </p:nvSpPr>
        <p:spPr>
          <a:xfrm>
            <a:off x="5097780" y="3657600"/>
            <a:ext cx="1965960" cy="777240"/>
          </a:xfrm>
          <a:prstGeom prst="roundRect">
            <a:avLst>
              <a:gd name="adj" fmla="val 11765"/>
            </a:avLst>
          </a:prstGeom>
          <a:solidFill>
            <a:schemeClr val="tx2"/>
          </a:solidFill>
          <a:ln w="12700">
            <a:solidFill>
              <a:schemeClr val="accent5">
                <a:alpha val="65000"/>
              </a:schemeClr>
            </a:solidFill>
            <a:prstDash val="solid"/>
          </a:ln>
        </p:spPr>
      </p:sp>
      <p:sp>
        <p:nvSpPr>
          <p:cNvPr id="25" name="Text 23"/>
          <p:cNvSpPr txBox="1"/>
          <p:nvPr/>
        </p:nvSpPr>
        <p:spPr>
          <a:xfrm>
            <a:off x="5189220" y="3657600"/>
            <a:ext cx="1783080" cy="777240"/>
          </a:xfrm>
          <a:prstGeom prst="rect">
            <a:avLst/>
          </a:prstGeom>
          <a:noFill/>
          <a:ln/>
        </p:spPr>
        <p:txBody>
          <a:bodyPr wrap="square" lIns="0" tIns="0" rIns="0" bIns="0" rtlCol="0" anchor="ctr"/>
          <a:lstStyle/>
          <a:p>
            <a:pPr algn="ctr" indent="0" marL="0">
              <a:buNone/>
            </a:pPr>
            <a:r>
              <a:rPr lang="en-US" sz="1300" b="1" dirty="0">
                <a:solidFill>
                  <a:schemeClr val="bg1"/>
                </a:solidFill>
              </a:rPr>
              <a:t>Approval + GitHub PR / CI Verification</a:t>
            </a:r>
            <a:endParaRPr lang="en-US" sz="1300" dirty="0"/>
          </a:p>
        </p:txBody>
      </p:sp>
      <p:sp>
        <p:nvSpPr>
          <p:cNvPr id="26" name="card"/>
          <p:cNvSpPr/>
          <p:nvPr/>
        </p:nvSpPr>
        <p:spPr>
          <a:xfrm>
            <a:off x="7372350" y="3657600"/>
            <a:ext cx="1965960" cy="777240"/>
          </a:xfrm>
          <a:prstGeom prst="roundRect">
            <a:avLst>
              <a:gd name="adj" fmla="val 11765"/>
            </a:avLst>
          </a:prstGeom>
          <a:solidFill>
            <a:schemeClr val="tx2"/>
          </a:solidFill>
          <a:ln w="12700">
            <a:solidFill>
              <a:schemeClr val="accent5">
                <a:alpha val="65000"/>
              </a:schemeClr>
            </a:solidFill>
            <a:prstDash val="solid"/>
          </a:ln>
        </p:spPr>
      </p:sp>
      <p:sp>
        <p:nvSpPr>
          <p:cNvPr id="27" name="Text 25"/>
          <p:cNvSpPr txBox="1"/>
          <p:nvPr/>
        </p:nvSpPr>
        <p:spPr>
          <a:xfrm>
            <a:off x="7463790" y="3657600"/>
            <a:ext cx="1783080" cy="777240"/>
          </a:xfrm>
          <a:prstGeom prst="rect">
            <a:avLst/>
          </a:prstGeom>
          <a:noFill/>
          <a:ln/>
        </p:spPr>
        <p:txBody>
          <a:bodyPr wrap="square" lIns="0" tIns="0" rIns="0" bIns="0" rtlCol="0" anchor="ctr"/>
          <a:lstStyle/>
          <a:p>
            <a:pPr algn="ctr" indent="0" marL="0">
              <a:buNone/>
            </a:pPr>
            <a:r>
              <a:rPr lang="en-US" sz="1300" b="1" dirty="0">
                <a:solidFill>
                  <a:schemeClr val="bg1"/>
                </a:solidFill>
              </a:rPr>
              <a:t>Remediation Planner</a:t>
            </a:r>
            <a:endParaRPr lang="en-US" sz="1300" dirty="0"/>
          </a:p>
        </p:txBody>
      </p:sp>
      <p:sp>
        <p:nvSpPr>
          <p:cNvPr id="28" name="card"/>
          <p:cNvSpPr/>
          <p:nvPr/>
        </p:nvSpPr>
        <p:spPr>
          <a:xfrm>
            <a:off x="9646920" y="3657600"/>
            <a:ext cx="1965960" cy="777240"/>
          </a:xfrm>
          <a:prstGeom prst="roundRect">
            <a:avLst>
              <a:gd name="adj" fmla="val 11765"/>
            </a:avLst>
          </a:prstGeom>
          <a:solidFill>
            <a:schemeClr val="tx2"/>
          </a:solidFill>
          <a:ln w="12700">
            <a:solidFill>
              <a:schemeClr val="accent4">
                <a:alpha val="65000"/>
              </a:schemeClr>
            </a:solidFill>
            <a:prstDash val="solid"/>
          </a:ln>
        </p:spPr>
      </p:sp>
      <p:sp>
        <p:nvSpPr>
          <p:cNvPr id="29" name="Text 27"/>
          <p:cNvSpPr txBox="1"/>
          <p:nvPr/>
        </p:nvSpPr>
        <p:spPr>
          <a:xfrm>
            <a:off x="9738360" y="3657600"/>
            <a:ext cx="1783080" cy="777240"/>
          </a:xfrm>
          <a:prstGeom prst="rect">
            <a:avLst/>
          </a:prstGeom>
          <a:noFill/>
          <a:ln/>
        </p:spPr>
        <p:txBody>
          <a:bodyPr wrap="square" lIns="0" tIns="0" rIns="0" bIns="0" rtlCol="0" anchor="ctr"/>
          <a:lstStyle/>
          <a:p>
            <a:pPr algn="ctr" indent="0" marL="0">
              <a:buNone/>
            </a:pPr>
            <a:r>
              <a:rPr lang="en-US" sz="1300" b="1" dirty="0">
                <a:solidFill>
                  <a:schemeClr val="bg1"/>
                </a:solidFill>
              </a:rPr>
              <a:t>Evidence / Risk Validation</a:t>
            </a:r>
            <a:endParaRPr lang="en-US" sz="1300" dirty="0"/>
          </a:p>
        </p:txBody>
      </p:sp>
      <p:sp>
        <p:nvSpPr>
          <p:cNvPr id="30" name="connector"/>
          <p:cNvSpPr/>
          <p:nvPr/>
        </p:nvSpPr>
        <p:spPr>
          <a:xfrm>
            <a:off x="9374886" y="4046220"/>
            <a:ext cx="235458" cy="914"/>
          </a:xfrm>
          <a:prstGeom prst="line">
            <a:avLst/>
          </a:prstGeom>
          <a:noFill/>
          <a:ln w="19050">
            <a:solidFill>
              <a:srgbClr val="00E5FF"/>
            </a:solidFill>
            <a:prstDash val="solid"/>
            <a:tailEnd type="triangle"/>
          </a:ln>
        </p:spPr>
      </p:sp>
      <p:sp>
        <p:nvSpPr>
          <p:cNvPr id="31" name="connector"/>
          <p:cNvSpPr/>
          <p:nvPr/>
        </p:nvSpPr>
        <p:spPr>
          <a:xfrm>
            <a:off x="7100316" y="4046220"/>
            <a:ext cx="235458" cy="914"/>
          </a:xfrm>
          <a:prstGeom prst="line">
            <a:avLst/>
          </a:prstGeom>
          <a:noFill/>
          <a:ln w="19050">
            <a:solidFill>
              <a:srgbClr val="00E5FF"/>
            </a:solidFill>
            <a:prstDash val="solid"/>
            <a:tailEnd type="triangle"/>
          </a:ln>
        </p:spPr>
      </p:sp>
      <p:sp>
        <p:nvSpPr>
          <p:cNvPr id="32" name="connector"/>
          <p:cNvSpPr/>
          <p:nvPr/>
        </p:nvSpPr>
        <p:spPr>
          <a:xfrm>
            <a:off x="4825746" y="4046220"/>
            <a:ext cx="235458" cy="914"/>
          </a:xfrm>
          <a:prstGeom prst="line">
            <a:avLst/>
          </a:prstGeom>
          <a:noFill/>
          <a:ln w="19050">
            <a:solidFill>
              <a:srgbClr val="00E5FF"/>
            </a:solidFill>
            <a:prstDash val="solid"/>
            <a:tailEnd type="triangle"/>
          </a:ln>
        </p:spPr>
      </p:sp>
      <p:sp>
        <p:nvSpPr>
          <p:cNvPr id="33" name="Text 31"/>
          <p:cNvSpPr txBox="1"/>
          <p:nvPr/>
        </p:nvSpPr>
        <p:spPr>
          <a:xfrm>
            <a:off x="548640" y="4892040"/>
            <a:ext cx="36576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RECOMMENDED STACK</a:t>
            </a:r>
            <a:endParaRPr lang="en-US" sz="1100" dirty="0"/>
          </a:p>
        </p:txBody>
      </p:sp>
      <p:sp>
        <p:nvSpPr>
          <p:cNvPr id="34" name="pill"/>
          <p:cNvSpPr/>
          <p:nvPr/>
        </p:nvSpPr>
        <p:spPr>
          <a:xfrm>
            <a:off x="548640" y="5257800"/>
            <a:ext cx="1280160" cy="384048"/>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35" name="Text 33"/>
          <p:cNvSpPr txBox="1"/>
          <p:nvPr/>
        </p:nvSpPr>
        <p:spPr>
          <a:xfrm>
            <a:off x="548640" y="5257800"/>
            <a:ext cx="1280160" cy="384048"/>
          </a:xfrm>
          <a:prstGeom prst="rect">
            <a:avLst/>
          </a:prstGeom>
          <a:noFill/>
          <a:ln/>
        </p:spPr>
        <p:txBody>
          <a:bodyPr wrap="square" lIns="0" tIns="0" rIns="0" bIns="0" rtlCol="0" anchor="ctr"/>
          <a:lstStyle/>
          <a:p>
            <a:pPr algn="ctr" indent="0" marL="0">
              <a:buNone/>
            </a:pPr>
            <a:r>
              <a:rPr lang="en-US" sz="1200" dirty="0">
                <a:solidFill>
                  <a:schemeClr val="bg1"/>
                </a:solidFill>
              </a:rPr>
              <a:t>React + Vite</a:t>
            </a:r>
            <a:endParaRPr lang="en-US" sz="1200" dirty="0"/>
          </a:p>
        </p:txBody>
      </p:sp>
      <p:sp>
        <p:nvSpPr>
          <p:cNvPr id="36" name="pill"/>
          <p:cNvSpPr/>
          <p:nvPr/>
        </p:nvSpPr>
        <p:spPr>
          <a:xfrm>
            <a:off x="1975104" y="5257800"/>
            <a:ext cx="1554480" cy="384048"/>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37" name="Text 35"/>
          <p:cNvSpPr txBox="1"/>
          <p:nvPr/>
        </p:nvSpPr>
        <p:spPr>
          <a:xfrm>
            <a:off x="1975104" y="5257800"/>
            <a:ext cx="1554480" cy="384048"/>
          </a:xfrm>
          <a:prstGeom prst="rect">
            <a:avLst/>
          </a:prstGeom>
          <a:noFill/>
          <a:ln/>
        </p:spPr>
        <p:txBody>
          <a:bodyPr wrap="square" lIns="0" tIns="0" rIns="0" bIns="0" rtlCol="0" anchor="ctr"/>
          <a:lstStyle/>
          <a:p>
            <a:pPr algn="ctr" indent="0" marL="0">
              <a:buNone/>
            </a:pPr>
            <a:r>
              <a:rPr lang="en-US" sz="1200" dirty="0">
                <a:solidFill>
                  <a:schemeClr val="bg1"/>
                </a:solidFill>
              </a:rPr>
              <a:t>Python + FastAPI</a:t>
            </a:r>
            <a:endParaRPr lang="en-US" sz="1200" dirty="0"/>
          </a:p>
        </p:txBody>
      </p:sp>
      <p:sp>
        <p:nvSpPr>
          <p:cNvPr id="38" name="pill"/>
          <p:cNvSpPr/>
          <p:nvPr/>
        </p:nvSpPr>
        <p:spPr>
          <a:xfrm>
            <a:off x="3675888" y="5257800"/>
            <a:ext cx="1600200" cy="384048"/>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39" name="Text 37"/>
          <p:cNvSpPr txBox="1"/>
          <p:nvPr/>
        </p:nvSpPr>
        <p:spPr>
          <a:xfrm>
            <a:off x="3675888" y="5257800"/>
            <a:ext cx="1600200" cy="384048"/>
          </a:xfrm>
          <a:prstGeom prst="rect">
            <a:avLst/>
          </a:prstGeom>
          <a:noFill/>
          <a:ln/>
        </p:spPr>
        <p:txBody>
          <a:bodyPr wrap="square" lIns="0" tIns="0" rIns="0" bIns="0" rtlCol="0" anchor="ctr"/>
          <a:lstStyle/>
          <a:p>
            <a:pPr algn="ctr" indent="0" marL="0">
              <a:buNone/>
            </a:pPr>
            <a:r>
              <a:rPr lang="en-US" sz="1200" dirty="0">
                <a:solidFill>
                  <a:schemeClr val="bg1"/>
                </a:solidFill>
              </a:rPr>
              <a:t>FalkorDB · Cypher</a:t>
            </a:r>
            <a:endParaRPr lang="en-US" sz="1200" dirty="0"/>
          </a:p>
        </p:txBody>
      </p:sp>
      <p:sp>
        <p:nvSpPr>
          <p:cNvPr id="40" name="pill"/>
          <p:cNvSpPr/>
          <p:nvPr/>
        </p:nvSpPr>
        <p:spPr>
          <a:xfrm>
            <a:off x="5422392" y="5257800"/>
            <a:ext cx="1188720" cy="384048"/>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41" name="Text 39"/>
          <p:cNvSpPr txBox="1"/>
          <p:nvPr/>
        </p:nvSpPr>
        <p:spPr>
          <a:xfrm>
            <a:off x="5422392" y="5257800"/>
            <a:ext cx="1188720" cy="384048"/>
          </a:xfrm>
          <a:prstGeom prst="rect">
            <a:avLst/>
          </a:prstGeom>
          <a:noFill/>
          <a:ln/>
        </p:spPr>
        <p:txBody>
          <a:bodyPr wrap="square" lIns="0" tIns="0" rIns="0" bIns="0" rtlCol="0" anchor="ctr"/>
          <a:lstStyle/>
          <a:p>
            <a:pPr algn="ctr" indent="0" marL="0">
              <a:buNone/>
            </a:pPr>
            <a:r>
              <a:rPr lang="en-US" sz="1200" dirty="0">
                <a:solidFill>
                  <a:schemeClr val="bg1"/>
                </a:solidFill>
              </a:rPr>
              <a:t>PostgreSQL</a:t>
            </a:r>
            <a:endParaRPr lang="en-US" sz="1200" dirty="0"/>
          </a:p>
        </p:txBody>
      </p:sp>
      <p:sp>
        <p:nvSpPr>
          <p:cNvPr id="42" name="pill"/>
          <p:cNvSpPr/>
          <p:nvPr/>
        </p:nvSpPr>
        <p:spPr>
          <a:xfrm>
            <a:off x="6757416" y="5257800"/>
            <a:ext cx="2103120" cy="384048"/>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43" name="Text 41"/>
          <p:cNvSpPr txBox="1"/>
          <p:nvPr/>
        </p:nvSpPr>
        <p:spPr>
          <a:xfrm>
            <a:off x="6757416" y="5257800"/>
            <a:ext cx="2103120" cy="384048"/>
          </a:xfrm>
          <a:prstGeom prst="rect">
            <a:avLst/>
          </a:prstGeom>
          <a:noFill/>
          <a:ln/>
        </p:spPr>
        <p:txBody>
          <a:bodyPr wrap="square" lIns="0" tIns="0" rIns="0" bIns="0" rtlCol="0" anchor="ctr"/>
          <a:lstStyle/>
          <a:p>
            <a:pPr algn="ctr" indent="0" marL="0">
              <a:buNone/>
            </a:pPr>
            <a:r>
              <a:rPr lang="en-US" sz="1200" dirty="0">
                <a:solidFill>
                  <a:schemeClr val="bg1"/>
                </a:solidFill>
              </a:rPr>
              <a:t>Background worker queue</a:t>
            </a:r>
            <a:endParaRPr lang="en-US" sz="1200" dirty="0"/>
          </a:p>
        </p:txBody>
      </p:sp>
      <p:sp>
        <p:nvSpPr>
          <p:cNvPr id="44" name="pill"/>
          <p:cNvSpPr/>
          <p:nvPr/>
        </p:nvSpPr>
        <p:spPr>
          <a:xfrm>
            <a:off x="9006840" y="5257800"/>
            <a:ext cx="2468880" cy="384048"/>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45" name="Text 43"/>
          <p:cNvSpPr txBox="1"/>
          <p:nvPr/>
        </p:nvSpPr>
        <p:spPr>
          <a:xfrm>
            <a:off x="9006840" y="5257800"/>
            <a:ext cx="2468880" cy="384048"/>
          </a:xfrm>
          <a:prstGeom prst="rect">
            <a:avLst/>
          </a:prstGeom>
          <a:noFill/>
          <a:ln/>
        </p:spPr>
        <p:txBody>
          <a:bodyPr wrap="square" lIns="0" tIns="0" rIns="0" bIns="0" rtlCol="0" anchor="ctr"/>
          <a:lstStyle/>
          <a:p>
            <a:pPr algn="ctr" indent="0" marL="0">
              <a:buNone/>
            </a:pPr>
            <a:r>
              <a:rPr lang="en-US" sz="1200" dirty="0">
                <a:solidFill>
                  <a:schemeClr val="bg1"/>
                </a:solidFill>
              </a:rPr>
              <a:t>LLM with structured tool calls</a:t>
            </a:r>
            <a:endParaRPr lang="en-US" sz="1200" dirty="0"/>
          </a:p>
        </p:txBody>
      </p:sp>
      <p:sp>
        <p:nvSpPr>
          <p:cNvPr id="46" name="Text 44"/>
          <p:cNvSpPr txBox="1"/>
          <p:nvPr/>
        </p:nvSpPr>
        <p:spPr>
          <a:xfrm>
            <a:off x="548640" y="5833872"/>
            <a:ext cx="7315200" cy="274320"/>
          </a:xfrm>
          <a:prstGeom prst="rect">
            <a:avLst/>
          </a:prstGeom>
          <a:noFill/>
          <a:ln/>
        </p:spPr>
        <p:txBody>
          <a:bodyPr wrap="square" lIns="0" tIns="0" rIns="0" bIns="0" rtlCol="0" anchor="t"/>
          <a:lstStyle/>
          <a:p>
            <a:pPr indent="0" marL="0">
              <a:buNone/>
            </a:pPr>
            <a:r>
              <a:rPr lang="en-US" sz="1200" i="1" dirty="0">
                <a:solidFill>
                  <a:schemeClr val="accent6"/>
                </a:solidFill>
              </a:rPr>
              <a:t>The model is never the policy-enforcement authority.</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BACKEND MODULES &amp; BOUNDARIES</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Each module has one job and one hard boundary</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498080" cy="914400"/>
        </p:xfrm>
        <a:graphic>
          <a:graphicData uri="http://schemas.openxmlformats.org/drawingml/2006/table">
            <a:tbl>
              <a:tblPr/>
              <a:tblGrid>
                <a:gridCol w="1828800"/>
                <a:gridCol w="3017520"/>
                <a:gridCol w="2651760"/>
              </a:tblGrid>
              <a:tr h="548640">
                <a:tc>
                  <a:txBody>
                    <a:bodyPr/>
                    <a:lstStyle/>
                    <a:p>
                      <a:pPr indent="0" marL="0">
                        <a:buNone/>
                      </a:pPr>
                      <a:r>
                        <a:rPr lang="en-US" sz="1200" b="1" dirty="0">
                          <a:solidFill>
                            <a:schemeClr val="accent1"/>
                          </a:solidFill>
                        </a:rPr>
                        <a:t>Module</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200" b="1" dirty="0">
                          <a:solidFill>
                            <a:schemeClr val="accent1"/>
                          </a:solidFill>
                        </a:rPr>
                        <a:t>Responsibility</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200" b="1" dirty="0">
                          <a:solidFill>
                            <a:schemeClr val="accent1"/>
                          </a:solidFill>
                        </a:rPr>
                        <a:t>Key boundary</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548640">
                <a:tc>
                  <a:txBody>
                    <a:bodyPr/>
                    <a:lstStyle/>
                    <a:p>
                      <a:pPr indent="0" marL="0">
                        <a:buNone/>
                      </a:pPr>
                      <a:r>
                        <a:rPr lang="en-US" sz="1200" b="1" dirty="0">
                          <a:solidFill>
                            <a:schemeClr val="bg1"/>
                          </a:solidFill>
                        </a:rPr>
                        <a:t>GitHub Connector</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dirty="0">
                          <a:solidFill>
                            <a:schemeClr val="bg2"/>
                          </a:solidFill>
                        </a:rPr>
                        <a:t>Installation lifecycle, repo metadata, webhook validation, PR creation</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dirty="0">
                          <a:solidFill>
                            <a:schemeClr val="bg2"/>
                          </a:solidFill>
                        </a:rPr>
                        <a:t>Minimum App permissions; validate signatures and replay</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548640">
                <a:tc>
                  <a:txBody>
                    <a:bodyPr/>
                    <a:lstStyle/>
                    <a:p>
                      <a:pPr indent="0" marL="0">
                        <a:buNone/>
                      </a:pPr>
                      <a:r>
                        <a:rPr lang="en-US" sz="1200" b="1" dirty="0">
                          <a:solidFill>
                            <a:schemeClr val="bg1"/>
                          </a:solidFill>
                        </a:rPr>
                        <a:t>Ingestion Service</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dirty="0">
                          <a:solidFill>
                            <a:schemeClr val="bg2"/>
                          </a:solidFill>
                        </a:rPr>
                        <a:t>Normalize data, upsert graph entities and relations, record provenance</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dirty="0">
                          <a:solidFill>
                            <a:schemeClr val="bg2"/>
                          </a:solidFill>
                        </a:rPr>
                        <a:t>Schema validation, idempotency, tenant mapping</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548640">
                <a:tc>
                  <a:txBody>
                    <a:bodyPr/>
                    <a:lstStyle/>
                    <a:p>
                      <a:pPr indent="0" marL="0">
                        <a:buNone/>
                      </a:pPr>
                      <a:r>
                        <a:rPr lang="en-US" sz="1200" b="1" dirty="0">
                          <a:solidFill>
                            <a:schemeClr val="bg1"/>
                          </a:solidFill>
                        </a:rPr>
                        <a:t>Graph Query Service</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dirty="0">
                          <a:solidFill>
                            <a:schemeClr val="bg2"/>
                          </a:solidFill>
                        </a:rPr>
                        <a:t>Run approved Cypher templates and traversal algorithms</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dirty="0">
                          <a:solidFill>
                            <a:schemeClr val="bg2"/>
                          </a:solidFill>
                        </a:rPr>
                        <a:t>Parameterized values; bounded depth, results, timeouts</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548640">
                <a:tc>
                  <a:txBody>
                    <a:bodyPr/>
                    <a:lstStyle/>
                    <a:p>
                      <a:pPr indent="0" marL="0">
                        <a:buNone/>
                      </a:pPr>
                      <a:r>
                        <a:rPr lang="en-US" sz="1200" b="1" dirty="0">
                          <a:solidFill>
                            <a:schemeClr val="bg1"/>
                          </a:solidFill>
                        </a:rPr>
                        <a:t>Investigation Agent</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dirty="0">
                          <a:solidFill>
                            <a:schemeClr val="bg2"/>
                          </a:solidFill>
                        </a:rPr>
                        <a:t>Choose graph tools, synthesize findings, request missing evidence</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dirty="0">
                          <a:solidFill>
                            <a:schemeClr val="bg2"/>
                          </a:solidFill>
                        </a:rPr>
                        <a:t>Tool allowlist, bounded iterations, untrusted-data handling</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548640">
                <a:tc>
                  <a:txBody>
                    <a:bodyPr/>
                    <a:lstStyle/>
                    <a:p>
                      <a:pPr indent="0" marL="0">
                        <a:buNone/>
                      </a:pPr>
                      <a:r>
                        <a:rPr lang="en-US" sz="1200" b="1" dirty="0">
                          <a:solidFill>
                            <a:schemeClr val="bg1"/>
                          </a:solidFill>
                        </a:rPr>
                        <a:t>Risk Engine</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dirty="0">
                          <a:solidFill>
                            <a:schemeClr val="bg2"/>
                          </a:solidFill>
                        </a:rPr>
                        <a:t>Compute risk from deterministic factors and evidence quality</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dirty="0">
                          <a:solidFill>
                            <a:schemeClr val="bg2"/>
                          </a:solidFill>
                        </a:rPr>
                        <a:t>LLM cannot set final severity or confidence</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548640">
                <a:tc>
                  <a:txBody>
                    <a:bodyPr/>
                    <a:lstStyle/>
                    <a:p>
                      <a:pPr indent="0" marL="0">
                        <a:buNone/>
                      </a:pPr>
                      <a:r>
                        <a:rPr lang="en-US" sz="1200" b="1" dirty="0">
                          <a:solidFill>
                            <a:schemeClr val="bg1"/>
                          </a:solidFill>
                        </a:rPr>
                        <a:t>Remediation Service</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dirty="0">
                          <a:solidFill>
                            <a:schemeClr val="bg2"/>
                          </a:solidFill>
                        </a:rPr>
                        <a:t>Patch proposals, approvals, PRs and verification jobs</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dirty="0">
                          <a:solidFill>
                            <a:schemeClr val="bg2"/>
                          </a:solidFill>
                        </a:rPr>
                        <a:t>Human approval for material changes; isolated execution</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548640">
                <a:tc>
                  <a:txBody>
                    <a:bodyPr/>
                    <a:lstStyle/>
                    <a:p>
                      <a:pPr indent="0" marL="0">
                        <a:buNone/>
                      </a:pPr>
                      <a:r>
                        <a:rPr lang="en-US" sz="1200" b="1" dirty="0">
                          <a:solidFill>
                            <a:schemeClr val="bg1"/>
                          </a:solidFill>
                        </a:rPr>
                        <a:t>Audit Service</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dirty="0">
                          <a:solidFill>
                            <a:schemeClr val="bg2"/>
                          </a:solidFill>
                        </a:rPr>
                        <a:t>Record actor, target, action, policy version, outcome, time</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dirty="0">
                          <a:solidFill>
                            <a:schemeClr val="bg2"/>
                          </a:solidFill>
                        </a:rPr>
                        <a:t>Append-only; tenant-scoped reads</a:t>
                      </a:r>
                      <a:endParaRPr lang="en-US" sz="12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bl>
          </a:graphicData>
        </a:graphic>
      </p:graphicFrame>
      <p:sp>
        <p:nvSpPr>
          <p:cNvPr id="5" name="card"/>
          <p:cNvSpPr/>
          <p:nvPr/>
        </p:nvSpPr>
        <p:spPr>
          <a:xfrm>
            <a:off x="8321040" y="1554480"/>
            <a:ext cx="3291840" cy="4572000"/>
          </a:xfrm>
          <a:prstGeom prst="roundRect">
            <a:avLst>
              <a:gd name="adj" fmla="val 2778"/>
            </a:avLst>
          </a:prstGeom>
          <a:solidFill>
            <a:schemeClr val="tx2"/>
          </a:solidFill>
          <a:ln w="12700">
            <a:solidFill>
              <a:schemeClr val="accent3">
                <a:alpha val="60000"/>
              </a:schemeClr>
            </a:solidFill>
            <a:prstDash val="solid"/>
          </a:ln>
        </p:spPr>
      </p:sp>
      <p:sp>
        <p:nvSpPr>
          <p:cNvPr id="6" name="icon tile"/>
          <p:cNvSpPr/>
          <p:nvPr/>
        </p:nvSpPr>
        <p:spPr>
          <a:xfrm>
            <a:off x="8595360" y="1783080"/>
            <a:ext cx="594360" cy="594360"/>
          </a:xfrm>
          <a:prstGeom prst="roundRect">
            <a:avLst>
              <a:gd name="adj" fmla="val 22000"/>
            </a:avLst>
          </a:prstGeom>
          <a:solidFill>
            <a:schemeClr val="accent3">
              <a:alpha val="20000"/>
            </a:schemeClr>
          </a:solidFill>
          <a:ln w="9525">
            <a:solidFill>
              <a:schemeClr val="accent3">
                <a:alpha val="55000"/>
              </a:schemeClr>
            </a:solidFill>
            <a:prstDash val="solid"/>
          </a:ln>
        </p:spPr>
      </p:sp>
      <p:pic>
        <p:nvPicPr>
          <p:cNvPr id="7" name="icon" descr="preencoded.png">    </p:cNvPr>
          <p:cNvPicPr>
            <a:picLocks noChangeAspect="1"/>
          </p:cNvPicPr>
          <p:nvPr/>
        </p:nvPicPr>
        <p:blipFill>
          <a:blip r:embed="rId1"/>
          <a:stretch>
            <a:fillRect/>
          </a:stretch>
        </p:blipFill>
        <p:spPr>
          <a:xfrm>
            <a:off x="8738006" y="1925726"/>
            <a:ext cx="309067" cy="309067"/>
          </a:xfrm>
          <a:prstGeom prst="rect">
            <a:avLst/>
          </a:prstGeom>
        </p:spPr>
      </p:pic>
      <p:sp>
        <p:nvSpPr>
          <p:cNvPr id="8" name="Text 4"/>
          <p:cNvSpPr txBox="1"/>
          <p:nvPr/>
        </p:nvSpPr>
        <p:spPr>
          <a:xfrm>
            <a:off x="8595360" y="2514600"/>
            <a:ext cx="2834640" cy="365760"/>
          </a:xfrm>
          <a:prstGeom prst="rect">
            <a:avLst/>
          </a:prstGeom>
          <a:noFill/>
          <a:ln/>
        </p:spPr>
        <p:txBody>
          <a:bodyPr wrap="square" lIns="0" tIns="0" rIns="0" bIns="0" rtlCol="0" anchor="t"/>
          <a:lstStyle/>
          <a:p>
            <a:pPr indent="0" marL="0">
              <a:buNone/>
            </a:pPr>
            <a:r>
              <a:rPr lang="en-US" sz="1600" b="1" dirty="0">
                <a:solidFill>
                  <a:schemeClr val="bg1"/>
                </a:solidFill>
              </a:rPr>
              <a:t>Architectural boundaries</a:t>
            </a:r>
            <a:endParaRPr lang="en-US" sz="1600" dirty="0"/>
          </a:p>
        </p:txBody>
      </p:sp>
      <p:sp>
        <p:nvSpPr>
          <p:cNvPr id="9" name="Text 5"/>
          <p:cNvSpPr txBox="1"/>
          <p:nvPr/>
        </p:nvSpPr>
        <p:spPr>
          <a:xfrm>
            <a:off x="8595360" y="2971800"/>
            <a:ext cx="2834640" cy="30175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bg2"/>
                </a:solidFill>
              </a:rPr>
              <a:t>Graph queries run through a small allowlisted tool layer</a:t>
            </a:r>
            <a:endParaRPr lang="en-US" sz="1300" dirty="0"/>
          </a:p>
          <a:p>
            <a:pPr marL="177800" indent="-177800">
              <a:spcAft>
                <a:spcPts val="600"/>
              </a:spcAft>
              <a:buSzPct val="100000"/>
              <a:buChar char="•"/>
            </a:pPr>
            <a:r>
              <a:rPr lang="en-US" sz="1300" dirty="0">
                <a:solidFill>
                  <a:schemeClr val="bg2"/>
                </a:solidFill>
              </a:rPr>
              <a:t>No unrestricted Cypher or shell from the LLM</a:t>
            </a:r>
            <a:endParaRPr lang="en-US" sz="1300" dirty="0"/>
          </a:p>
          <a:p>
            <a:pPr marL="177800" indent="-177800">
              <a:spcAft>
                <a:spcPts val="600"/>
              </a:spcAft>
              <a:buSzPct val="100000"/>
              <a:buChar char="•"/>
            </a:pPr>
            <a:r>
              <a:rPr lang="en-US" sz="1300" dirty="0">
                <a:solidFill>
                  <a:schemeClr val="bg2"/>
                </a:solidFill>
              </a:rPr>
              <a:t>Repo files and external content are untrusted data</a:t>
            </a:r>
            <a:endParaRPr lang="en-US" sz="1300" dirty="0"/>
          </a:p>
          <a:p>
            <a:pPr marL="177800" indent="-177800">
              <a:spcAft>
                <a:spcPts val="600"/>
              </a:spcAft>
              <a:buSzPct val="100000"/>
              <a:buChar char="•"/>
            </a:pPr>
            <a:r>
              <a:rPr lang="en-US" sz="1300" dirty="0">
                <a:solidFill>
                  <a:schemeClr val="bg2"/>
                </a:solidFill>
              </a:rPr>
              <a:t>Remediation generation is separate from approval and execution</a:t>
            </a:r>
            <a:endParaRPr lang="en-US" sz="1300" dirty="0"/>
          </a:p>
          <a:p>
            <a:pPr marL="177800" indent="-177800">
              <a:spcAft>
                <a:spcPts val="600"/>
              </a:spcAft>
              <a:buSzPct val="100000"/>
              <a:buChar char="•"/>
            </a:pPr>
            <a:r>
              <a:rPr lang="en-US" sz="1300" dirty="0">
                <a:solidFill>
                  <a:schemeClr val="bg2"/>
                </a:solidFill>
              </a:rPr>
              <a:t>Raw artifacts in controlled storage; nodes keep references and hashes</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05 · FALKORDB GRAPH MODEL</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Twenty typed relationships form the security model</a:t>
            </a:r>
            <a:endParaRPr lang="en-US" sz="3200" dirty="0"/>
          </a:p>
        </p:txBody>
      </p:sp>
      <p:sp>
        <p:nvSpPr>
          <p:cNvPr id="4" name="pill"/>
          <p:cNvSpPr/>
          <p:nvPr/>
        </p:nvSpPr>
        <p:spPr>
          <a:xfrm>
            <a:off x="548640" y="15544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5" name="Text 3"/>
          <p:cNvSpPr txBox="1"/>
          <p:nvPr/>
        </p:nvSpPr>
        <p:spPr>
          <a:xfrm>
            <a:off x="548640" y="15544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Organization</a:t>
            </a:r>
            <a:endParaRPr lang="en-US" sz="1100" dirty="0"/>
          </a:p>
        </p:txBody>
      </p:sp>
      <p:sp>
        <p:nvSpPr>
          <p:cNvPr id="6" name="Text 4"/>
          <p:cNvSpPr txBox="1"/>
          <p:nvPr/>
        </p:nvSpPr>
        <p:spPr>
          <a:xfrm>
            <a:off x="2194560" y="1554480"/>
            <a:ext cx="2240280" cy="347472"/>
          </a:xfrm>
          <a:prstGeom prst="rect">
            <a:avLst/>
          </a:prstGeom>
          <a:no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—OWNS_PROJECT→</a:t>
            </a:r>
            <a:endParaRPr lang="en-US" sz="1000" dirty="0"/>
          </a:p>
        </p:txBody>
      </p:sp>
      <p:sp>
        <p:nvSpPr>
          <p:cNvPr id="7" name="pill"/>
          <p:cNvSpPr/>
          <p:nvPr/>
        </p:nvSpPr>
        <p:spPr>
          <a:xfrm>
            <a:off x="4480560" y="15544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8" name="Text 6"/>
          <p:cNvSpPr txBox="1"/>
          <p:nvPr/>
        </p:nvSpPr>
        <p:spPr>
          <a:xfrm>
            <a:off x="4480560" y="15544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Project</a:t>
            </a:r>
            <a:endParaRPr lang="en-US" sz="1100" dirty="0"/>
          </a:p>
        </p:txBody>
      </p:sp>
      <p:sp>
        <p:nvSpPr>
          <p:cNvPr id="9" name="pill"/>
          <p:cNvSpPr/>
          <p:nvPr/>
        </p:nvSpPr>
        <p:spPr>
          <a:xfrm>
            <a:off x="548640" y="20116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10" name="Text 8"/>
          <p:cNvSpPr txBox="1"/>
          <p:nvPr/>
        </p:nvSpPr>
        <p:spPr>
          <a:xfrm>
            <a:off x="548640" y="20116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Project</a:t>
            </a:r>
            <a:endParaRPr lang="en-US" sz="1100" dirty="0"/>
          </a:p>
        </p:txBody>
      </p:sp>
      <p:sp>
        <p:nvSpPr>
          <p:cNvPr id="11" name="Text 9"/>
          <p:cNvSpPr txBox="1"/>
          <p:nvPr/>
        </p:nvSpPr>
        <p:spPr>
          <a:xfrm>
            <a:off x="2194560" y="2011680"/>
            <a:ext cx="2240280" cy="347472"/>
          </a:xfrm>
          <a:prstGeom prst="rect">
            <a:avLst/>
          </a:prstGeom>
          <a:no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—CONTAINS_REPOSITORY→</a:t>
            </a:r>
            <a:endParaRPr lang="en-US" sz="1000" dirty="0"/>
          </a:p>
        </p:txBody>
      </p:sp>
      <p:sp>
        <p:nvSpPr>
          <p:cNvPr id="12" name="pill"/>
          <p:cNvSpPr/>
          <p:nvPr/>
        </p:nvSpPr>
        <p:spPr>
          <a:xfrm>
            <a:off x="4480560" y="20116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13" name="Text 11"/>
          <p:cNvSpPr txBox="1"/>
          <p:nvPr/>
        </p:nvSpPr>
        <p:spPr>
          <a:xfrm>
            <a:off x="4480560" y="20116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Repository</a:t>
            </a:r>
            <a:endParaRPr lang="en-US" sz="1100" dirty="0"/>
          </a:p>
        </p:txBody>
      </p:sp>
      <p:sp>
        <p:nvSpPr>
          <p:cNvPr id="14" name="pill"/>
          <p:cNvSpPr/>
          <p:nvPr/>
        </p:nvSpPr>
        <p:spPr>
          <a:xfrm>
            <a:off x="548640" y="24688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15" name="Text 13"/>
          <p:cNvSpPr txBox="1"/>
          <p:nvPr/>
        </p:nvSpPr>
        <p:spPr>
          <a:xfrm>
            <a:off x="548640" y="24688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Repository</a:t>
            </a:r>
            <a:endParaRPr lang="en-US" sz="1100" dirty="0"/>
          </a:p>
        </p:txBody>
      </p:sp>
      <p:sp>
        <p:nvSpPr>
          <p:cNvPr id="16" name="Text 14"/>
          <p:cNvSpPr txBox="1"/>
          <p:nvPr/>
        </p:nvSpPr>
        <p:spPr>
          <a:xfrm>
            <a:off x="2194560" y="2468880"/>
            <a:ext cx="2240280" cy="347472"/>
          </a:xfrm>
          <a:prstGeom prst="rect">
            <a:avLst/>
          </a:prstGeom>
          <a:no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—HAS_WORKFLOW→</a:t>
            </a:r>
            <a:endParaRPr lang="en-US" sz="1000" dirty="0"/>
          </a:p>
        </p:txBody>
      </p:sp>
      <p:sp>
        <p:nvSpPr>
          <p:cNvPr id="17" name="pill"/>
          <p:cNvSpPr/>
          <p:nvPr/>
        </p:nvSpPr>
        <p:spPr>
          <a:xfrm>
            <a:off x="4480560" y="24688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18" name="Text 16"/>
          <p:cNvSpPr txBox="1"/>
          <p:nvPr/>
        </p:nvSpPr>
        <p:spPr>
          <a:xfrm>
            <a:off x="4480560" y="24688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Workflow</a:t>
            </a:r>
            <a:endParaRPr lang="en-US" sz="1100" dirty="0"/>
          </a:p>
        </p:txBody>
      </p:sp>
      <p:sp>
        <p:nvSpPr>
          <p:cNvPr id="19" name="pill"/>
          <p:cNvSpPr/>
          <p:nvPr/>
        </p:nvSpPr>
        <p:spPr>
          <a:xfrm>
            <a:off x="548640" y="29260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20" name="Text 18"/>
          <p:cNvSpPr txBox="1"/>
          <p:nvPr/>
        </p:nvSpPr>
        <p:spPr>
          <a:xfrm>
            <a:off x="548640" y="29260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Repository</a:t>
            </a:r>
            <a:endParaRPr lang="en-US" sz="1100" dirty="0"/>
          </a:p>
        </p:txBody>
      </p:sp>
      <p:sp>
        <p:nvSpPr>
          <p:cNvPr id="21" name="Text 19"/>
          <p:cNvSpPr txBox="1"/>
          <p:nvPr/>
        </p:nvSpPr>
        <p:spPr>
          <a:xfrm>
            <a:off x="2194560" y="2926080"/>
            <a:ext cx="2240280" cy="347472"/>
          </a:xfrm>
          <a:prstGeom prst="rect">
            <a:avLst/>
          </a:prstGeom>
          <a:no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—CONTAINS_PACKAGE→</a:t>
            </a:r>
            <a:endParaRPr lang="en-US" sz="1000" dirty="0"/>
          </a:p>
        </p:txBody>
      </p:sp>
      <p:sp>
        <p:nvSpPr>
          <p:cNvPr id="22" name="pill"/>
          <p:cNvSpPr/>
          <p:nvPr/>
        </p:nvSpPr>
        <p:spPr>
          <a:xfrm>
            <a:off x="4480560" y="29260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23" name="Text 21"/>
          <p:cNvSpPr txBox="1"/>
          <p:nvPr/>
        </p:nvSpPr>
        <p:spPr>
          <a:xfrm>
            <a:off x="4480560" y="29260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Package</a:t>
            </a:r>
            <a:endParaRPr lang="en-US" sz="1100" dirty="0"/>
          </a:p>
        </p:txBody>
      </p:sp>
      <p:sp>
        <p:nvSpPr>
          <p:cNvPr id="24" name="pill"/>
          <p:cNvSpPr/>
          <p:nvPr/>
        </p:nvSpPr>
        <p:spPr>
          <a:xfrm>
            <a:off x="548640" y="33832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25" name="Text 23"/>
          <p:cNvSpPr txBox="1"/>
          <p:nvPr/>
        </p:nvSpPr>
        <p:spPr>
          <a:xfrm>
            <a:off x="548640" y="33832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Repository</a:t>
            </a:r>
            <a:endParaRPr lang="en-US" sz="1100" dirty="0"/>
          </a:p>
        </p:txBody>
      </p:sp>
      <p:sp>
        <p:nvSpPr>
          <p:cNvPr id="26" name="Text 24"/>
          <p:cNvSpPr txBox="1"/>
          <p:nvPr/>
        </p:nvSpPr>
        <p:spPr>
          <a:xfrm>
            <a:off x="2194560" y="3383280"/>
            <a:ext cx="2240280" cy="347472"/>
          </a:xfrm>
          <a:prstGeom prst="rect">
            <a:avLst/>
          </a:prstGeom>
          <a:no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—HAS_FINDING→</a:t>
            </a:r>
            <a:endParaRPr lang="en-US" sz="1000" dirty="0"/>
          </a:p>
        </p:txBody>
      </p:sp>
      <p:sp>
        <p:nvSpPr>
          <p:cNvPr id="27" name="pill"/>
          <p:cNvSpPr/>
          <p:nvPr/>
        </p:nvSpPr>
        <p:spPr>
          <a:xfrm>
            <a:off x="4480560" y="33832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28" name="Text 26"/>
          <p:cNvSpPr txBox="1"/>
          <p:nvPr/>
        </p:nvSpPr>
        <p:spPr>
          <a:xfrm>
            <a:off x="4480560" y="33832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Finding</a:t>
            </a:r>
            <a:endParaRPr lang="en-US" sz="1100" dirty="0"/>
          </a:p>
        </p:txBody>
      </p:sp>
      <p:sp>
        <p:nvSpPr>
          <p:cNvPr id="29" name="pill"/>
          <p:cNvSpPr/>
          <p:nvPr/>
        </p:nvSpPr>
        <p:spPr>
          <a:xfrm>
            <a:off x="548640" y="38404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30" name="Text 28"/>
          <p:cNvSpPr txBox="1"/>
          <p:nvPr/>
        </p:nvSpPr>
        <p:spPr>
          <a:xfrm>
            <a:off x="548640" y="38404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Agent</a:t>
            </a:r>
            <a:endParaRPr lang="en-US" sz="1100" dirty="0"/>
          </a:p>
        </p:txBody>
      </p:sp>
      <p:sp>
        <p:nvSpPr>
          <p:cNvPr id="31" name="Text 29"/>
          <p:cNvSpPr txBox="1"/>
          <p:nvPr/>
        </p:nvSpPr>
        <p:spPr>
          <a:xfrm>
            <a:off x="2194560" y="3840480"/>
            <a:ext cx="2240280" cy="347472"/>
          </a:xfrm>
          <a:prstGeom prst="rect">
            <a:avLst/>
          </a:prstGeom>
          <a:no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—CONNECTS_TO→</a:t>
            </a:r>
            <a:endParaRPr lang="en-US" sz="1000" dirty="0"/>
          </a:p>
        </p:txBody>
      </p:sp>
      <p:sp>
        <p:nvSpPr>
          <p:cNvPr id="32" name="pill"/>
          <p:cNvSpPr/>
          <p:nvPr/>
        </p:nvSpPr>
        <p:spPr>
          <a:xfrm>
            <a:off x="4480560" y="38404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33" name="Text 31"/>
          <p:cNvSpPr txBox="1"/>
          <p:nvPr/>
        </p:nvSpPr>
        <p:spPr>
          <a:xfrm>
            <a:off x="4480560" y="38404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MCPServer</a:t>
            </a:r>
            <a:endParaRPr lang="en-US" sz="1100" dirty="0"/>
          </a:p>
        </p:txBody>
      </p:sp>
      <p:sp>
        <p:nvSpPr>
          <p:cNvPr id="34" name="pill"/>
          <p:cNvSpPr/>
          <p:nvPr/>
        </p:nvSpPr>
        <p:spPr>
          <a:xfrm>
            <a:off x="548640" y="42976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35" name="Text 33"/>
          <p:cNvSpPr txBox="1"/>
          <p:nvPr/>
        </p:nvSpPr>
        <p:spPr>
          <a:xfrm>
            <a:off x="548640" y="42976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Agent</a:t>
            </a:r>
            <a:endParaRPr lang="en-US" sz="1100" dirty="0"/>
          </a:p>
        </p:txBody>
      </p:sp>
      <p:sp>
        <p:nvSpPr>
          <p:cNvPr id="36" name="Text 34"/>
          <p:cNvSpPr txBox="1"/>
          <p:nvPr/>
        </p:nvSpPr>
        <p:spPr>
          <a:xfrm>
            <a:off x="2194560" y="4297680"/>
            <a:ext cx="2240280" cy="347472"/>
          </a:xfrm>
          <a:prstGeom prst="rect">
            <a:avLst/>
          </a:prstGeom>
          <a:noFill/>
          <a:ln/>
        </p:spPr>
        <p:txBody>
          <a:bodyPr wrap="square" lIns="0" tIns="0" rIns="0" bIns="0" rtlCol="0" anchor="ctr"/>
          <a:lstStyle/>
          <a:p>
            <a:pPr algn="ctr" indent="0" marL="0">
              <a:buNone/>
            </a:pPr>
            <a:r>
              <a:rPr lang="en-US" sz="1000" b="1" dirty="0">
                <a:solidFill>
                  <a:schemeClr val="accent3"/>
                </a:solidFill>
                <a:latin typeface="Courier New" pitchFamily="34" charset="0"/>
                <a:ea typeface="Courier New" pitchFamily="34" charset="-122"/>
                <a:cs typeface="Courier New" pitchFamily="34" charset="-120"/>
              </a:rPr>
              <a:t>—CAN_INVOKE→</a:t>
            </a:r>
            <a:endParaRPr lang="en-US" sz="1000" dirty="0"/>
          </a:p>
        </p:txBody>
      </p:sp>
      <p:sp>
        <p:nvSpPr>
          <p:cNvPr id="37" name="pill"/>
          <p:cNvSpPr/>
          <p:nvPr/>
        </p:nvSpPr>
        <p:spPr>
          <a:xfrm>
            <a:off x="4480560" y="42976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38" name="Text 36"/>
          <p:cNvSpPr txBox="1"/>
          <p:nvPr/>
        </p:nvSpPr>
        <p:spPr>
          <a:xfrm>
            <a:off x="4480560" y="42976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Tool</a:t>
            </a:r>
            <a:endParaRPr lang="en-US" sz="1100" dirty="0"/>
          </a:p>
        </p:txBody>
      </p:sp>
      <p:sp>
        <p:nvSpPr>
          <p:cNvPr id="39" name="pill"/>
          <p:cNvSpPr/>
          <p:nvPr/>
        </p:nvSpPr>
        <p:spPr>
          <a:xfrm>
            <a:off x="548640" y="47548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40" name="Text 38"/>
          <p:cNvSpPr txBox="1"/>
          <p:nvPr/>
        </p:nvSpPr>
        <p:spPr>
          <a:xfrm>
            <a:off x="548640" y="47548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Tool</a:t>
            </a:r>
            <a:endParaRPr lang="en-US" sz="1100" dirty="0"/>
          </a:p>
        </p:txBody>
      </p:sp>
      <p:sp>
        <p:nvSpPr>
          <p:cNvPr id="41" name="Text 39"/>
          <p:cNvSpPr txBox="1"/>
          <p:nvPr/>
        </p:nvSpPr>
        <p:spPr>
          <a:xfrm>
            <a:off x="2194560" y="4754880"/>
            <a:ext cx="2240280" cy="347472"/>
          </a:xfrm>
          <a:prstGeom prst="rect">
            <a:avLst/>
          </a:prstGeom>
          <a:noFill/>
          <a:ln/>
        </p:spPr>
        <p:txBody>
          <a:bodyPr wrap="square" lIns="0" tIns="0" rIns="0" bIns="0" rtlCol="0" anchor="ctr"/>
          <a:lstStyle/>
          <a:p>
            <a:pPr algn="ctr" indent="0" marL="0">
              <a:buNone/>
            </a:pPr>
            <a:r>
              <a:rPr lang="en-US" sz="1000" b="1" dirty="0">
                <a:solidFill>
                  <a:schemeClr val="accent3"/>
                </a:solidFill>
                <a:latin typeface="Courier New" pitchFamily="34" charset="0"/>
                <a:ea typeface="Courier New" pitchFamily="34" charset="-122"/>
                <a:cs typeface="Courier New" pitchFamily="34" charset="-120"/>
              </a:rPr>
              <a:t>—HAS_PERMISSION→</a:t>
            </a:r>
            <a:endParaRPr lang="en-US" sz="1000" dirty="0"/>
          </a:p>
        </p:txBody>
      </p:sp>
      <p:sp>
        <p:nvSpPr>
          <p:cNvPr id="42" name="pill"/>
          <p:cNvSpPr/>
          <p:nvPr/>
        </p:nvSpPr>
        <p:spPr>
          <a:xfrm>
            <a:off x="4480560" y="47548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43" name="Text 41"/>
          <p:cNvSpPr txBox="1"/>
          <p:nvPr/>
        </p:nvSpPr>
        <p:spPr>
          <a:xfrm>
            <a:off x="4480560" y="47548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Permission</a:t>
            </a:r>
            <a:endParaRPr lang="en-US" sz="1100" dirty="0"/>
          </a:p>
        </p:txBody>
      </p:sp>
      <p:sp>
        <p:nvSpPr>
          <p:cNvPr id="44" name="pill"/>
          <p:cNvSpPr/>
          <p:nvPr/>
        </p:nvSpPr>
        <p:spPr>
          <a:xfrm>
            <a:off x="548640" y="52120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45" name="Text 43"/>
          <p:cNvSpPr txBox="1"/>
          <p:nvPr/>
        </p:nvSpPr>
        <p:spPr>
          <a:xfrm>
            <a:off x="548640" y="52120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Permission</a:t>
            </a:r>
            <a:endParaRPr lang="en-US" sz="1100" dirty="0"/>
          </a:p>
        </p:txBody>
      </p:sp>
      <p:sp>
        <p:nvSpPr>
          <p:cNvPr id="46" name="Text 44"/>
          <p:cNvSpPr txBox="1"/>
          <p:nvPr/>
        </p:nvSpPr>
        <p:spPr>
          <a:xfrm>
            <a:off x="2194560" y="5212080"/>
            <a:ext cx="2240280" cy="347472"/>
          </a:xfrm>
          <a:prstGeom prst="rect">
            <a:avLst/>
          </a:prstGeom>
          <a:noFill/>
          <a:ln/>
        </p:spPr>
        <p:txBody>
          <a:bodyPr wrap="square" lIns="0" tIns="0" rIns="0" bIns="0" rtlCol="0" anchor="ctr"/>
          <a:lstStyle/>
          <a:p>
            <a:pPr algn="ctr" indent="0" marL="0">
              <a:buNone/>
            </a:pPr>
            <a:r>
              <a:rPr lang="en-US" sz="1000" b="1" dirty="0">
                <a:solidFill>
                  <a:schemeClr val="accent3"/>
                </a:solidFill>
                <a:latin typeface="Courier New" pitchFamily="34" charset="0"/>
                <a:ea typeface="Courier New" pitchFamily="34" charset="-122"/>
                <a:cs typeface="Courier New" pitchFamily="34" charset="-120"/>
              </a:rPr>
              <a:t>—CAN_ACCESS→</a:t>
            </a:r>
            <a:endParaRPr lang="en-US" sz="1000" dirty="0"/>
          </a:p>
        </p:txBody>
      </p:sp>
      <p:sp>
        <p:nvSpPr>
          <p:cNvPr id="47" name="pill"/>
          <p:cNvSpPr/>
          <p:nvPr/>
        </p:nvSpPr>
        <p:spPr>
          <a:xfrm>
            <a:off x="4480560" y="52120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48" name="Text 46"/>
          <p:cNvSpPr txBox="1"/>
          <p:nvPr/>
        </p:nvSpPr>
        <p:spPr>
          <a:xfrm>
            <a:off x="4480560" y="52120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Resource</a:t>
            </a:r>
            <a:endParaRPr lang="en-US" sz="1100" dirty="0"/>
          </a:p>
        </p:txBody>
      </p:sp>
      <p:sp>
        <p:nvSpPr>
          <p:cNvPr id="49" name="pill"/>
          <p:cNvSpPr/>
          <p:nvPr/>
        </p:nvSpPr>
        <p:spPr>
          <a:xfrm>
            <a:off x="548640" y="56692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50" name="Text 48"/>
          <p:cNvSpPr txBox="1"/>
          <p:nvPr/>
        </p:nvSpPr>
        <p:spPr>
          <a:xfrm>
            <a:off x="548640" y="56692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Workflow</a:t>
            </a:r>
            <a:endParaRPr lang="en-US" sz="1100" dirty="0"/>
          </a:p>
        </p:txBody>
      </p:sp>
      <p:sp>
        <p:nvSpPr>
          <p:cNvPr id="51" name="Text 49"/>
          <p:cNvSpPr txBox="1"/>
          <p:nvPr/>
        </p:nvSpPr>
        <p:spPr>
          <a:xfrm>
            <a:off x="2194560" y="5669280"/>
            <a:ext cx="2240280" cy="347472"/>
          </a:xfrm>
          <a:prstGeom prst="rect">
            <a:avLst/>
          </a:prstGeom>
          <a:no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—USES_SECRET→</a:t>
            </a:r>
            <a:endParaRPr lang="en-US" sz="1000" dirty="0"/>
          </a:p>
        </p:txBody>
      </p:sp>
      <p:sp>
        <p:nvSpPr>
          <p:cNvPr id="52" name="pill"/>
          <p:cNvSpPr/>
          <p:nvPr/>
        </p:nvSpPr>
        <p:spPr>
          <a:xfrm>
            <a:off x="4480560" y="56692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53" name="Text 51"/>
          <p:cNvSpPr txBox="1"/>
          <p:nvPr/>
        </p:nvSpPr>
        <p:spPr>
          <a:xfrm>
            <a:off x="4480560" y="56692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SecretReference</a:t>
            </a:r>
            <a:endParaRPr lang="en-US" sz="1100" dirty="0"/>
          </a:p>
        </p:txBody>
      </p:sp>
      <p:sp>
        <p:nvSpPr>
          <p:cNvPr id="54" name="pill"/>
          <p:cNvSpPr/>
          <p:nvPr/>
        </p:nvSpPr>
        <p:spPr>
          <a:xfrm>
            <a:off x="6172200" y="15544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55" name="Text 53"/>
          <p:cNvSpPr txBox="1"/>
          <p:nvPr/>
        </p:nvSpPr>
        <p:spPr>
          <a:xfrm>
            <a:off x="6172200" y="15544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Workflow</a:t>
            </a:r>
            <a:endParaRPr lang="en-US" sz="1100" dirty="0"/>
          </a:p>
        </p:txBody>
      </p:sp>
      <p:sp>
        <p:nvSpPr>
          <p:cNvPr id="56" name="Text 54"/>
          <p:cNvSpPr txBox="1"/>
          <p:nvPr/>
        </p:nvSpPr>
        <p:spPr>
          <a:xfrm>
            <a:off x="7818120" y="1554480"/>
            <a:ext cx="2240280" cy="347472"/>
          </a:xfrm>
          <a:prstGeom prst="rect">
            <a:avLst/>
          </a:prstGeom>
          <a:no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—USES_ACTION→</a:t>
            </a:r>
            <a:endParaRPr lang="en-US" sz="1000" dirty="0"/>
          </a:p>
        </p:txBody>
      </p:sp>
      <p:sp>
        <p:nvSpPr>
          <p:cNvPr id="57" name="pill"/>
          <p:cNvSpPr/>
          <p:nvPr/>
        </p:nvSpPr>
        <p:spPr>
          <a:xfrm>
            <a:off x="10104120" y="15544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58" name="Text 56"/>
          <p:cNvSpPr txBox="1"/>
          <p:nvPr/>
        </p:nvSpPr>
        <p:spPr>
          <a:xfrm>
            <a:off x="10104120" y="15544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DependencyOrAction</a:t>
            </a:r>
            <a:endParaRPr lang="en-US" sz="1100" dirty="0"/>
          </a:p>
        </p:txBody>
      </p:sp>
      <p:sp>
        <p:nvSpPr>
          <p:cNvPr id="59" name="pill"/>
          <p:cNvSpPr/>
          <p:nvPr/>
        </p:nvSpPr>
        <p:spPr>
          <a:xfrm>
            <a:off x="6172200" y="20116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60" name="Text 58"/>
          <p:cNvSpPr txBox="1"/>
          <p:nvPr/>
        </p:nvSpPr>
        <p:spPr>
          <a:xfrm>
            <a:off x="6172200" y="20116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Package</a:t>
            </a:r>
            <a:endParaRPr lang="en-US" sz="1100" dirty="0"/>
          </a:p>
        </p:txBody>
      </p:sp>
      <p:sp>
        <p:nvSpPr>
          <p:cNvPr id="61" name="Text 59"/>
          <p:cNvSpPr txBox="1"/>
          <p:nvPr/>
        </p:nvSpPr>
        <p:spPr>
          <a:xfrm>
            <a:off x="7818120" y="2011680"/>
            <a:ext cx="2240280" cy="347472"/>
          </a:xfrm>
          <a:prstGeom prst="rect">
            <a:avLst/>
          </a:prstGeom>
          <a:no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—AFFECTED_BY→</a:t>
            </a:r>
            <a:endParaRPr lang="en-US" sz="1000" dirty="0"/>
          </a:p>
        </p:txBody>
      </p:sp>
      <p:sp>
        <p:nvSpPr>
          <p:cNvPr id="62" name="pill"/>
          <p:cNvSpPr/>
          <p:nvPr/>
        </p:nvSpPr>
        <p:spPr>
          <a:xfrm>
            <a:off x="10104120" y="20116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63" name="Text 61"/>
          <p:cNvSpPr txBox="1"/>
          <p:nvPr/>
        </p:nvSpPr>
        <p:spPr>
          <a:xfrm>
            <a:off x="10104120" y="20116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Vulnerability</a:t>
            </a:r>
            <a:endParaRPr lang="en-US" sz="1100" dirty="0"/>
          </a:p>
        </p:txBody>
      </p:sp>
      <p:sp>
        <p:nvSpPr>
          <p:cNvPr id="64" name="pill"/>
          <p:cNvSpPr/>
          <p:nvPr/>
        </p:nvSpPr>
        <p:spPr>
          <a:xfrm>
            <a:off x="6172200" y="24688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65" name="Text 63"/>
          <p:cNvSpPr txBox="1"/>
          <p:nvPr/>
        </p:nvSpPr>
        <p:spPr>
          <a:xfrm>
            <a:off x="6172200" y="24688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Finding</a:t>
            </a:r>
            <a:endParaRPr lang="en-US" sz="1100" dirty="0"/>
          </a:p>
        </p:txBody>
      </p:sp>
      <p:sp>
        <p:nvSpPr>
          <p:cNvPr id="66" name="Text 64"/>
          <p:cNvSpPr txBox="1"/>
          <p:nvPr/>
        </p:nvSpPr>
        <p:spPr>
          <a:xfrm>
            <a:off x="7818120" y="2468880"/>
            <a:ext cx="2240280" cy="347472"/>
          </a:xfrm>
          <a:prstGeom prst="rect">
            <a:avLst/>
          </a:prstGeom>
          <a:no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—SUPPORTED_BY→</a:t>
            </a:r>
            <a:endParaRPr lang="en-US" sz="1000" dirty="0"/>
          </a:p>
        </p:txBody>
      </p:sp>
      <p:sp>
        <p:nvSpPr>
          <p:cNvPr id="67" name="pill"/>
          <p:cNvSpPr/>
          <p:nvPr/>
        </p:nvSpPr>
        <p:spPr>
          <a:xfrm>
            <a:off x="10104120" y="24688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68" name="Text 66"/>
          <p:cNvSpPr txBox="1"/>
          <p:nvPr/>
        </p:nvSpPr>
        <p:spPr>
          <a:xfrm>
            <a:off x="10104120" y="24688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Evidence</a:t>
            </a:r>
            <a:endParaRPr lang="en-US" sz="1100" dirty="0"/>
          </a:p>
        </p:txBody>
      </p:sp>
      <p:sp>
        <p:nvSpPr>
          <p:cNvPr id="69" name="pill"/>
          <p:cNvSpPr/>
          <p:nvPr/>
        </p:nvSpPr>
        <p:spPr>
          <a:xfrm>
            <a:off x="6172200" y="29260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70" name="Text 68"/>
          <p:cNvSpPr txBox="1"/>
          <p:nvPr/>
        </p:nvSpPr>
        <p:spPr>
          <a:xfrm>
            <a:off x="6172200" y="29260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Finding</a:t>
            </a:r>
            <a:endParaRPr lang="en-US" sz="1100" dirty="0"/>
          </a:p>
        </p:txBody>
      </p:sp>
      <p:sp>
        <p:nvSpPr>
          <p:cNvPr id="71" name="Text 69"/>
          <p:cNvSpPr txBox="1"/>
          <p:nvPr/>
        </p:nvSpPr>
        <p:spPr>
          <a:xfrm>
            <a:off x="7818120" y="2926080"/>
            <a:ext cx="2240280" cy="347472"/>
          </a:xfrm>
          <a:prstGeom prst="rect">
            <a:avLst/>
          </a:prstGeom>
          <a:no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—AFFECTS→</a:t>
            </a:r>
            <a:endParaRPr lang="en-US" sz="1000" dirty="0"/>
          </a:p>
        </p:txBody>
      </p:sp>
      <p:sp>
        <p:nvSpPr>
          <p:cNvPr id="72" name="pill"/>
          <p:cNvSpPr/>
          <p:nvPr/>
        </p:nvSpPr>
        <p:spPr>
          <a:xfrm>
            <a:off x="10104120" y="29260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73" name="Text 71"/>
          <p:cNvSpPr txBox="1"/>
          <p:nvPr/>
        </p:nvSpPr>
        <p:spPr>
          <a:xfrm>
            <a:off x="10104120" y="29260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Resource</a:t>
            </a:r>
            <a:endParaRPr lang="en-US" sz="1100" dirty="0"/>
          </a:p>
        </p:txBody>
      </p:sp>
      <p:sp>
        <p:nvSpPr>
          <p:cNvPr id="74" name="pill"/>
          <p:cNvSpPr/>
          <p:nvPr/>
        </p:nvSpPr>
        <p:spPr>
          <a:xfrm>
            <a:off x="6172200" y="33832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75" name="Text 73"/>
          <p:cNvSpPr txBox="1"/>
          <p:nvPr/>
        </p:nvSpPr>
        <p:spPr>
          <a:xfrm>
            <a:off x="6172200" y="33832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Finding</a:t>
            </a:r>
            <a:endParaRPr lang="en-US" sz="1100" dirty="0"/>
          </a:p>
        </p:txBody>
      </p:sp>
      <p:sp>
        <p:nvSpPr>
          <p:cNvPr id="76" name="Text 74"/>
          <p:cNvSpPr txBox="1"/>
          <p:nvPr/>
        </p:nvSpPr>
        <p:spPr>
          <a:xfrm>
            <a:off x="7818120" y="3383280"/>
            <a:ext cx="2240280" cy="347472"/>
          </a:xfrm>
          <a:prstGeom prst="rect">
            <a:avLst/>
          </a:prstGeom>
          <a:no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—HAS_CANDIDATE_PATH→</a:t>
            </a:r>
            <a:endParaRPr lang="en-US" sz="1000" dirty="0"/>
          </a:p>
        </p:txBody>
      </p:sp>
      <p:sp>
        <p:nvSpPr>
          <p:cNvPr id="77" name="pill"/>
          <p:cNvSpPr/>
          <p:nvPr/>
        </p:nvSpPr>
        <p:spPr>
          <a:xfrm>
            <a:off x="10104120" y="33832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78" name="Text 76"/>
          <p:cNvSpPr txBox="1"/>
          <p:nvPr/>
        </p:nvSpPr>
        <p:spPr>
          <a:xfrm>
            <a:off x="10104120" y="33832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AttackPath</a:t>
            </a:r>
            <a:endParaRPr lang="en-US" sz="1100" dirty="0"/>
          </a:p>
        </p:txBody>
      </p:sp>
      <p:sp>
        <p:nvSpPr>
          <p:cNvPr id="79" name="pill"/>
          <p:cNvSpPr/>
          <p:nvPr/>
        </p:nvSpPr>
        <p:spPr>
          <a:xfrm>
            <a:off x="6172200" y="38404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80" name="Text 78"/>
          <p:cNvSpPr txBox="1"/>
          <p:nvPr/>
        </p:nvSpPr>
        <p:spPr>
          <a:xfrm>
            <a:off x="6172200" y="38404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AttackPath</a:t>
            </a:r>
            <a:endParaRPr lang="en-US" sz="1100" dirty="0"/>
          </a:p>
        </p:txBody>
      </p:sp>
      <p:sp>
        <p:nvSpPr>
          <p:cNvPr id="81" name="Text 79"/>
          <p:cNvSpPr txBox="1"/>
          <p:nvPr/>
        </p:nvSpPr>
        <p:spPr>
          <a:xfrm>
            <a:off x="7818120" y="3840480"/>
            <a:ext cx="2240280" cy="347472"/>
          </a:xfrm>
          <a:prstGeom prst="rect">
            <a:avLst/>
          </a:prstGeom>
          <a:no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—CONTAINS_STEP→</a:t>
            </a:r>
            <a:endParaRPr lang="en-US" sz="1000" dirty="0"/>
          </a:p>
        </p:txBody>
      </p:sp>
      <p:sp>
        <p:nvSpPr>
          <p:cNvPr id="82" name="pill"/>
          <p:cNvSpPr/>
          <p:nvPr/>
        </p:nvSpPr>
        <p:spPr>
          <a:xfrm>
            <a:off x="10104120" y="38404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83" name="Text 81"/>
          <p:cNvSpPr txBox="1"/>
          <p:nvPr/>
        </p:nvSpPr>
        <p:spPr>
          <a:xfrm>
            <a:off x="10104120" y="38404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GraphEntity</a:t>
            </a:r>
            <a:endParaRPr lang="en-US" sz="1100" dirty="0"/>
          </a:p>
        </p:txBody>
      </p:sp>
      <p:sp>
        <p:nvSpPr>
          <p:cNvPr id="84" name="pill"/>
          <p:cNvSpPr/>
          <p:nvPr/>
        </p:nvSpPr>
        <p:spPr>
          <a:xfrm>
            <a:off x="6172200" y="42976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85" name="Text 83"/>
          <p:cNvSpPr txBox="1"/>
          <p:nvPr/>
        </p:nvSpPr>
        <p:spPr>
          <a:xfrm>
            <a:off x="6172200" y="42976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Finding</a:t>
            </a:r>
            <a:endParaRPr lang="en-US" sz="1100" dirty="0"/>
          </a:p>
        </p:txBody>
      </p:sp>
      <p:sp>
        <p:nvSpPr>
          <p:cNvPr id="86" name="Text 84"/>
          <p:cNvSpPr txBox="1"/>
          <p:nvPr/>
        </p:nvSpPr>
        <p:spPr>
          <a:xfrm>
            <a:off x="7818120" y="4297680"/>
            <a:ext cx="2240280" cy="347472"/>
          </a:xfrm>
          <a:prstGeom prst="rect">
            <a:avLst/>
          </a:prstGeom>
          <a:no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—REMEDIATED_BY→</a:t>
            </a:r>
            <a:endParaRPr lang="en-US" sz="1000" dirty="0"/>
          </a:p>
        </p:txBody>
      </p:sp>
      <p:sp>
        <p:nvSpPr>
          <p:cNvPr id="87" name="pill"/>
          <p:cNvSpPr/>
          <p:nvPr/>
        </p:nvSpPr>
        <p:spPr>
          <a:xfrm>
            <a:off x="10104120" y="42976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88" name="Text 86"/>
          <p:cNvSpPr txBox="1"/>
          <p:nvPr/>
        </p:nvSpPr>
        <p:spPr>
          <a:xfrm>
            <a:off x="10104120" y="42976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Remediation</a:t>
            </a:r>
            <a:endParaRPr lang="en-US" sz="1100" dirty="0"/>
          </a:p>
        </p:txBody>
      </p:sp>
      <p:sp>
        <p:nvSpPr>
          <p:cNvPr id="89" name="pill"/>
          <p:cNvSpPr/>
          <p:nvPr/>
        </p:nvSpPr>
        <p:spPr>
          <a:xfrm>
            <a:off x="6172200" y="47548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90" name="Text 88"/>
          <p:cNvSpPr txBox="1"/>
          <p:nvPr/>
        </p:nvSpPr>
        <p:spPr>
          <a:xfrm>
            <a:off x="6172200" y="47548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Remediation</a:t>
            </a:r>
            <a:endParaRPr lang="en-US" sz="1100" dirty="0"/>
          </a:p>
        </p:txBody>
      </p:sp>
      <p:sp>
        <p:nvSpPr>
          <p:cNvPr id="91" name="Text 89"/>
          <p:cNvSpPr txBox="1"/>
          <p:nvPr/>
        </p:nvSpPr>
        <p:spPr>
          <a:xfrm>
            <a:off x="7818120" y="4754880"/>
            <a:ext cx="2240280" cy="347472"/>
          </a:xfrm>
          <a:prstGeom prst="rect">
            <a:avLst/>
          </a:prstGeom>
          <a:no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—VERIFIED_BY→</a:t>
            </a:r>
            <a:endParaRPr lang="en-US" sz="1000" dirty="0"/>
          </a:p>
        </p:txBody>
      </p:sp>
      <p:sp>
        <p:nvSpPr>
          <p:cNvPr id="92" name="pill"/>
          <p:cNvSpPr/>
          <p:nvPr/>
        </p:nvSpPr>
        <p:spPr>
          <a:xfrm>
            <a:off x="10104120" y="47548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93" name="Text 91"/>
          <p:cNvSpPr txBox="1"/>
          <p:nvPr/>
        </p:nvSpPr>
        <p:spPr>
          <a:xfrm>
            <a:off x="10104120" y="47548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VerificationRun</a:t>
            </a:r>
            <a:endParaRPr lang="en-US" sz="1100" dirty="0"/>
          </a:p>
        </p:txBody>
      </p:sp>
      <p:sp>
        <p:nvSpPr>
          <p:cNvPr id="94" name="pill"/>
          <p:cNvSpPr/>
          <p:nvPr/>
        </p:nvSpPr>
        <p:spPr>
          <a:xfrm>
            <a:off x="6172200" y="52120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95" name="Text 93"/>
          <p:cNvSpPr txBox="1"/>
          <p:nvPr/>
        </p:nvSpPr>
        <p:spPr>
          <a:xfrm>
            <a:off x="6172200" y="52120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Team</a:t>
            </a:r>
            <a:endParaRPr lang="en-US" sz="1100" dirty="0"/>
          </a:p>
        </p:txBody>
      </p:sp>
      <p:sp>
        <p:nvSpPr>
          <p:cNvPr id="96" name="Text 94"/>
          <p:cNvSpPr txBox="1"/>
          <p:nvPr/>
        </p:nvSpPr>
        <p:spPr>
          <a:xfrm>
            <a:off x="7818120" y="5212080"/>
            <a:ext cx="2240280" cy="347472"/>
          </a:xfrm>
          <a:prstGeom prst="rect">
            <a:avLst/>
          </a:prstGeom>
          <a:no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—OWNS→</a:t>
            </a:r>
            <a:endParaRPr lang="en-US" sz="1000" dirty="0"/>
          </a:p>
        </p:txBody>
      </p:sp>
      <p:sp>
        <p:nvSpPr>
          <p:cNvPr id="97" name="pill"/>
          <p:cNvSpPr/>
          <p:nvPr/>
        </p:nvSpPr>
        <p:spPr>
          <a:xfrm>
            <a:off x="10104120" y="52120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98" name="Text 96"/>
          <p:cNvSpPr txBox="1"/>
          <p:nvPr/>
        </p:nvSpPr>
        <p:spPr>
          <a:xfrm>
            <a:off x="10104120" y="52120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Repository</a:t>
            </a:r>
            <a:endParaRPr lang="en-US" sz="1100" dirty="0"/>
          </a:p>
        </p:txBody>
      </p:sp>
      <p:sp>
        <p:nvSpPr>
          <p:cNvPr id="99" name="pill"/>
          <p:cNvSpPr/>
          <p:nvPr/>
        </p:nvSpPr>
        <p:spPr>
          <a:xfrm>
            <a:off x="6172200" y="56692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100" name="Text 98"/>
          <p:cNvSpPr txBox="1"/>
          <p:nvPr/>
        </p:nvSpPr>
        <p:spPr>
          <a:xfrm>
            <a:off x="6172200" y="56692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User</a:t>
            </a:r>
            <a:endParaRPr lang="en-US" sz="1100" dirty="0"/>
          </a:p>
        </p:txBody>
      </p:sp>
      <p:sp>
        <p:nvSpPr>
          <p:cNvPr id="101" name="Text 99"/>
          <p:cNvSpPr txBox="1"/>
          <p:nvPr/>
        </p:nvSpPr>
        <p:spPr>
          <a:xfrm>
            <a:off x="7818120" y="5669280"/>
            <a:ext cx="2240280" cy="347472"/>
          </a:xfrm>
          <a:prstGeom prst="rect">
            <a:avLst/>
          </a:prstGeom>
          <a:no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—APPROVED→</a:t>
            </a:r>
            <a:endParaRPr lang="en-US" sz="1000" dirty="0"/>
          </a:p>
        </p:txBody>
      </p:sp>
      <p:sp>
        <p:nvSpPr>
          <p:cNvPr id="102" name="pill"/>
          <p:cNvSpPr/>
          <p:nvPr/>
        </p:nvSpPr>
        <p:spPr>
          <a:xfrm>
            <a:off x="10104120" y="5669280"/>
            <a:ext cx="1600200" cy="347472"/>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103" name="Text 101"/>
          <p:cNvSpPr txBox="1"/>
          <p:nvPr/>
        </p:nvSpPr>
        <p:spPr>
          <a:xfrm>
            <a:off x="10104120" y="5669280"/>
            <a:ext cx="1600200" cy="347472"/>
          </a:xfrm>
          <a:prstGeom prst="rect">
            <a:avLst/>
          </a:prstGeom>
          <a:noFill/>
          <a:ln/>
        </p:spPr>
        <p:txBody>
          <a:bodyPr wrap="square" lIns="0" tIns="0" rIns="0" bIns="0" rtlCol="0" anchor="ctr"/>
          <a:lstStyle/>
          <a:p>
            <a:pPr algn="ctr" indent="0" marL="0">
              <a:buNone/>
            </a:pPr>
            <a:r>
              <a:rPr lang="en-US" sz="1100" b="1" dirty="0">
                <a:solidFill>
                  <a:schemeClr val="bg1"/>
                </a:solidFill>
              </a:rPr>
              <a:t>Remediation</a:t>
            </a:r>
            <a:endParaRPr lang="en-US" sz="1100" dirty="0"/>
          </a:p>
        </p:txBody>
      </p:sp>
      <p:sp>
        <p:nvSpPr>
          <p:cNvPr id="104" name="Text 102"/>
          <p:cNvSpPr txBox="1"/>
          <p:nvPr/>
        </p:nvSpPr>
        <p:spPr>
          <a:xfrm>
            <a:off x="548640" y="6172200"/>
            <a:ext cx="10058400" cy="228600"/>
          </a:xfrm>
          <a:prstGeom prst="rect">
            <a:avLst/>
          </a:prstGeom>
          <a:noFill/>
          <a:ln/>
        </p:spPr>
        <p:txBody>
          <a:bodyPr wrap="square" lIns="0" tIns="0" rIns="0" bIns="0" rtlCol="0" anchor="t"/>
          <a:lstStyle/>
          <a:p>
            <a:pPr indent="0" marL="0">
              <a:buNone/>
            </a:pPr>
            <a:r>
              <a:rPr lang="en-US" sz="1100" b="1" dirty="0">
                <a:solidFill>
                  <a:schemeClr val="accent3"/>
                </a:solidFill>
              </a:rPr>
              <a:t>Red</a:t>
            </a:r>
            <a:pPr indent="0" marL="0">
              <a:buNone/>
            </a:pPr>
            <a:r>
              <a:rPr lang="en-US" sz="1100" dirty="0">
                <a:solidFill>
                  <a:schemeClr val="accent6"/>
                </a:solidFill>
              </a:rPr>
              <a:t> = the core agent → tool → permission → resource traversal the investigation agent walks first.</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GRAPH QUERY CONCEPT</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Traversing from an agent to a sensitive resource</a:t>
            </a:r>
            <a:endParaRPr lang="en-US" sz="3200" dirty="0"/>
          </a:p>
        </p:txBody>
      </p:sp>
      <p:sp>
        <p:nvSpPr>
          <p:cNvPr id="4" name="path node"/>
          <p:cNvSpPr/>
          <p:nvPr/>
        </p:nvSpPr>
        <p:spPr>
          <a:xfrm>
            <a:off x="548640" y="1600200"/>
            <a:ext cx="1325880" cy="548640"/>
          </a:xfrm>
          <a:prstGeom prst="roundRect">
            <a:avLst>
              <a:gd name="adj" fmla="val 50000"/>
            </a:avLst>
          </a:prstGeom>
          <a:solidFill>
            <a:schemeClr val="tx2"/>
          </a:solidFill>
          <a:ln w="25400">
            <a:solidFill>
              <a:schemeClr val="accent2"/>
            </a:solidFill>
            <a:prstDash val="solid"/>
          </a:ln>
        </p:spPr>
      </p:sp>
      <p:sp>
        <p:nvSpPr>
          <p:cNvPr id="5" name="Text 3"/>
          <p:cNvSpPr txBox="1"/>
          <p:nvPr/>
        </p:nvSpPr>
        <p:spPr>
          <a:xfrm>
            <a:off x="548640" y="1600200"/>
            <a:ext cx="1325880" cy="548640"/>
          </a:xfrm>
          <a:prstGeom prst="rect">
            <a:avLst/>
          </a:prstGeom>
          <a:noFill/>
          <a:ln/>
        </p:spPr>
        <p:txBody>
          <a:bodyPr wrap="square" lIns="0" tIns="0" rIns="0" bIns="0" rtlCol="0" anchor="ctr"/>
          <a:lstStyle/>
          <a:p>
            <a:pPr algn="ctr" indent="0" marL="0">
              <a:buNone/>
            </a:pPr>
            <a:r>
              <a:rPr lang="en-US" sz="1400" b="1" dirty="0">
                <a:solidFill>
                  <a:schemeClr val="bg1"/>
                </a:solidFill>
              </a:rPr>
              <a:t>Agent</a:t>
            </a:r>
            <a:endParaRPr lang="en-US" sz="1400" dirty="0"/>
          </a:p>
        </p:txBody>
      </p:sp>
      <p:sp>
        <p:nvSpPr>
          <p:cNvPr id="6" name="connector"/>
          <p:cNvSpPr/>
          <p:nvPr/>
        </p:nvSpPr>
        <p:spPr>
          <a:xfrm>
            <a:off x="1901952" y="1874520"/>
            <a:ext cx="188976" cy="914"/>
          </a:xfrm>
          <a:prstGeom prst="line">
            <a:avLst/>
          </a:prstGeom>
          <a:noFill/>
          <a:ln w="25400">
            <a:solidFill>
              <a:srgbClr val="FF4D6D"/>
            </a:solidFill>
            <a:prstDash val="solid"/>
            <a:tailEnd type="triangle"/>
          </a:ln>
        </p:spPr>
      </p:sp>
      <p:sp>
        <p:nvSpPr>
          <p:cNvPr id="7" name="path node"/>
          <p:cNvSpPr/>
          <p:nvPr/>
        </p:nvSpPr>
        <p:spPr>
          <a:xfrm>
            <a:off x="2118360" y="1600200"/>
            <a:ext cx="1325880" cy="548640"/>
          </a:xfrm>
          <a:prstGeom prst="roundRect">
            <a:avLst>
              <a:gd name="adj" fmla="val 50000"/>
            </a:avLst>
          </a:prstGeom>
          <a:solidFill>
            <a:schemeClr val="tx2"/>
          </a:solidFill>
          <a:ln w="25400">
            <a:solidFill>
              <a:schemeClr val="accent2"/>
            </a:solidFill>
            <a:prstDash val="solid"/>
          </a:ln>
        </p:spPr>
      </p:sp>
      <p:sp>
        <p:nvSpPr>
          <p:cNvPr id="8" name="Text 6"/>
          <p:cNvSpPr txBox="1"/>
          <p:nvPr/>
        </p:nvSpPr>
        <p:spPr>
          <a:xfrm>
            <a:off x="2118360" y="1600200"/>
            <a:ext cx="1325880" cy="548640"/>
          </a:xfrm>
          <a:prstGeom prst="rect">
            <a:avLst/>
          </a:prstGeom>
          <a:noFill/>
          <a:ln/>
        </p:spPr>
        <p:txBody>
          <a:bodyPr wrap="square" lIns="0" tIns="0" rIns="0" bIns="0" rtlCol="0" anchor="ctr"/>
          <a:lstStyle/>
          <a:p>
            <a:pPr algn="ctr" indent="0" marL="0">
              <a:buNone/>
            </a:pPr>
            <a:r>
              <a:rPr lang="en-US" sz="1400" b="1" dirty="0">
                <a:solidFill>
                  <a:schemeClr val="bg1"/>
                </a:solidFill>
              </a:rPr>
              <a:t>Tool</a:t>
            </a:r>
            <a:endParaRPr lang="en-US" sz="1400" dirty="0"/>
          </a:p>
        </p:txBody>
      </p:sp>
      <p:sp>
        <p:nvSpPr>
          <p:cNvPr id="9" name="connector"/>
          <p:cNvSpPr/>
          <p:nvPr/>
        </p:nvSpPr>
        <p:spPr>
          <a:xfrm>
            <a:off x="3471672" y="1874520"/>
            <a:ext cx="188976" cy="914"/>
          </a:xfrm>
          <a:prstGeom prst="line">
            <a:avLst/>
          </a:prstGeom>
          <a:noFill/>
          <a:ln w="25400">
            <a:solidFill>
              <a:srgbClr val="FF4D6D"/>
            </a:solidFill>
            <a:prstDash val="solid"/>
            <a:tailEnd type="triangle"/>
          </a:ln>
        </p:spPr>
      </p:sp>
      <p:sp>
        <p:nvSpPr>
          <p:cNvPr id="10" name="path node"/>
          <p:cNvSpPr/>
          <p:nvPr/>
        </p:nvSpPr>
        <p:spPr>
          <a:xfrm>
            <a:off x="3688080" y="1600200"/>
            <a:ext cx="1325880" cy="548640"/>
          </a:xfrm>
          <a:prstGeom prst="roundRect">
            <a:avLst>
              <a:gd name="adj" fmla="val 50000"/>
            </a:avLst>
          </a:prstGeom>
          <a:solidFill>
            <a:schemeClr val="tx2"/>
          </a:solidFill>
          <a:ln w="25400">
            <a:solidFill>
              <a:schemeClr val="accent4"/>
            </a:solidFill>
            <a:prstDash val="solid"/>
          </a:ln>
        </p:spPr>
      </p:sp>
      <p:sp>
        <p:nvSpPr>
          <p:cNvPr id="11" name="Text 9"/>
          <p:cNvSpPr txBox="1"/>
          <p:nvPr/>
        </p:nvSpPr>
        <p:spPr>
          <a:xfrm>
            <a:off x="3688080" y="1600200"/>
            <a:ext cx="1325880" cy="548640"/>
          </a:xfrm>
          <a:prstGeom prst="rect">
            <a:avLst/>
          </a:prstGeom>
          <a:noFill/>
          <a:ln/>
        </p:spPr>
        <p:txBody>
          <a:bodyPr wrap="square" lIns="0" tIns="0" rIns="0" bIns="0" rtlCol="0" anchor="ctr"/>
          <a:lstStyle/>
          <a:p>
            <a:pPr algn="ctr" indent="0" marL="0">
              <a:buNone/>
            </a:pPr>
            <a:r>
              <a:rPr lang="en-US" sz="1400" b="1" dirty="0">
                <a:solidFill>
                  <a:schemeClr val="bg1"/>
                </a:solidFill>
              </a:rPr>
              <a:t>Permission</a:t>
            </a:r>
            <a:endParaRPr lang="en-US" sz="1400" dirty="0"/>
          </a:p>
        </p:txBody>
      </p:sp>
      <p:sp>
        <p:nvSpPr>
          <p:cNvPr id="12" name="connector"/>
          <p:cNvSpPr/>
          <p:nvPr/>
        </p:nvSpPr>
        <p:spPr>
          <a:xfrm>
            <a:off x="5041392" y="1874520"/>
            <a:ext cx="188976" cy="914"/>
          </a:xfrm>
          <a:prstGeom prst="line">
            <a:avLst/>
          </a:prstGeom>
          <a:noFill/>
          <a:ln w="25400">
            <a:solidFill>
              <a:srgbClr val="FF4D6D"/>
            </a:solidFill>
            <a:prstDash val="solid"/>
            <a:tailEnd type="triangle"/>
          </a:ln>
        </p:spPr>
      </p:sp>
      <p:sp>
        <p:nvSpPr>
          <p:cNvPr id="13" name="path node"/>
          <p:cNvSpPr/>
          <p:nvPr/>
        </p:nvSpPr>
        <p:spPr>
          <a:xfrm>
            <a:off x="5257800" y="1600200"/>
            <a:ext cx="1325880" cy="548640"/>
          </a:xfrm>
          <a:prstGeom prst="roundRect">
            <a:avLst>
              <a:gd name="adj" fmla="val 50000"/>
            </a:avLst>
          </a:prstGeom>
          <a:solidFill>
            <a:schemeClr val="tx2"/>
          </a:solidFill>
          <a:ln w="25400">
            <a:solidFill>
              <a:schemeClr val="accent3"/>
            </a:solidFill>
            <a:prstDash val="solid"/>
          </a:ln>
        </p:spPr>
      </p:sp>
      <p:sp>
        <p:nvSpPr>
          <p:cNvPr id="14" name="Text 12"/>
          <p:cNvSpPr txBox="1"/>
          <p:nvPr/>
        </p:nvSpPr>
        <p:spPr>
          <a:xfrm>
            <a:off x="5257800" y="1600200"/>
            <a:ext cx="1325880" cy="548640"/>
          </a:xfrm>
          <a:prstGeom prst="rect">
            <a:avLst/>
          </a:prstGeom>
          <a:noFill/>
          <a:ln/>
        </p:spPr>
        <p:txBody>
          <a:bodyPr wrap="square" lIns="0" tIns="0" rIns="0" bIns="0" rtlCol="0" anchor="ctr"/>
          <a:lstStyle/>
          <a:p>
            <a:pPr algn="ctr" indent="0" marL="0">
              <a:buNone/>
            </a:pPr>
            <a:r>
              <a:rPr lang="en-US" sz="1400" b="1" dirty="0">
                <a:solidFill>
                  <a:schemeClr val="bg1"/>
                </a:solidFill>
              </a:rPr>
              <a:t>Resource</a:t>
            </a:r>
            <a:endParaRPr lang="en-US" sz="1400" dirty="0"/>
          </a:p>
        </p:txBody>
      </p:sp>
      <p:sp>
        <p:nvSpPr>
          <p:cNvPr id="15" name="Text 13"/>
          <p:cNvSpPr txBox="1"/>
          <p:nvPr/>
        </p:nvSpPr>
        <p:spPr>
          <a:xfrm>
            <a:off x="1325880" y="2240280"/>
            <a:ext cx="1341120" cy="228600"/>
          </a:xfrm>
          <a:prstGeom prst="rect">
            <a:avLst/>
          </a:prstGeom>
          <a:noFill/>
          <a:ln/>
        </p:spPr>
        <p:txBody>
          <a:bodyPr wrap="square" lIns="0" tIns="0" rIns="0" bIns="0" rtlCol="0" anchor="t"/>
          <a:lstStyle/>
          <a:p>
            <a:pPr algn="ctr" indent="0" marL="0">
              <a:buNone/>
            </a:pPr>
            <a:r>
              <a:rPr lang="en-US" sz="900" b="1" dirty="0">
                <a:solidFill>
                  <a:schemeClr val="accent3"/>
                </a:solidFill>
                <a:latin typeface="Courier New" pitchFamily="34" charset="0"/>
                <a:ea typeface="Courier New" pitchFamily="34" charset="-122"/>
                <a:cs typeface="Courier New" pitchFamily="34" charset="-120"/>
              </a:rPr>
              <a:t>CAN_INVOKE</a:t>
            </a:r>
            <a:endParaRPr lang="en-US" sz="900" dirty="0"/>
          </a:p>
        </p:txBody>
      </p:sp>
      <p:sp>
        <p:nvSpPr>
          <p:cNvPr id="16" name="Text 14"/>
          <p:cNvSpPr txBox="1"/>
          <p:nvPr/>
        </p:nvSpPr>
        <p:spPr>
          <a:xfrm>
            <a:off x="2895600" y="2240280"/>
            <a:ext cx="1341120" cy="228600"/>
          </a:xfrm>
          <a:prstGeom prst="rect">
            <a:avLst/>
          </a:prstGeom>
          <a:noFill/>
          <a:ln/>
        </p:spPr>
        <p:txBody>
          <a:bodyPr wrap="square" lIns="0" tIns="0" rIns="0" bIns="0" rtlCol="0" anchor="t"/>
          <a:lstStyle/>
          <a:p>
            <a:pPr algn="ctr" indent="0" marL="0">
              <a:buNone/>
            </a:pPr>
            <a:r>
              <a:rPr lang="en-US" sz="900" b="1" dirty="0">
                <a:solidFill>
                  <a:schemeClr val="accent3"/>
                </a:solidFill>
                <a:latin typeface="Courier New" pitchFamily="34" charset="0"/>
                <a:ea typeface="Courier New" pitchFamily="34" charset="-122"/>
                <a:cs typeface="Courier New" pitchFamily="34" charset="-120"/>
              </a:rPr>
              <a:t>HAS_PERMISSION</a:t>
            </a:r>
            <a:endParaRPr lang="en-US" sz="900" dirty="0"/>
          </a:p>
        </p:txBody>
      </p:sp>
      <p:sp>
        <p:nvSpPr>
          <p:cNvPr id="17" name="Text 15"/>
          <p:cNvSpPr txBox="1"/>
          <p:nvPr/>
        </p:nvSpPr>
        <p:spPr>
          <a:xfrm>
            <a:off x="4465320" y="2240280"/>
            <a:ext cx="1341120" cy="228600"/>
          </a:xfrm>
          <a:prstGeom prst="rect">
            <a:avLst/>
          </a:prstGeom>
          <a:noFill/>
          <a:ln/>
        </p:spPr>
        <p:txBody>
          <a:bodyPr wrap="square" lIns="0" tIns="0" rIns="0" bIns="0" rtlCol="0" anchor="t"/>
          <a:lstStyle/>
          <a:p>
            <a:pPr algn="ctr" indent="0" marL="0">
              <a:buNone/>
            </a:pPr>
            <a:r>
              <a:rPr lang="en-US" sz="900" b="1" dirty="0">
                <a:solidFill>
                  <a:schemeClr val="accent3"/>
                </a:solidFill>
                <a:latin typeface="Courier New" pitchFamily="34" charset="0"/>
                <a:ea typeface="Courier New" pitchFamily="34" charset="-122"/>
                <a:cs typeface="Courier New" pitchFamily="34" charset="-120"/>
              </a:rPr>
              <a:t>CAN_ACCESS</a:t>
            </a:r>
            <a:endParaRPr lang="en-US" sz="900" dirty="0"/>
          </a:p>
        </p:txBody>
      </p:sp>
      <p:sp>
        <p:nvSpPr>
          <p:cNvPr id="18" name="card"/>
          <p:cNvSpPr/>
          <p:nvPr/>
        </p:nvSpPr>
        <p:spPr>
          <a:xfrm>
            <a:off x="548640" y="2697480"/>
            <a:ext cx="6035040" cy="3429000"/>
          </a:xfrm>
          <a:prstGeom prst="roundRect">
            <a:avLst>
              <a:gd name="adj" fmla="val 2667"/>
            </a:avLst>
          </a:prstGeom>
          <a:solidFill>
            <a:schemeClr val="tx1"/>
          </a:solidFill>
          <a:ln w="12700">
            <a:solidFill>
              <a:schemeClr val="accent1">
                <a:alpha val="50000"/>
              </a:schemeClr>
            </a:solidFill>
            <a:prstDash val="solid"/>
          </a:ln>
        </p:spPr>
      </p:sp>
      <p:sp>
        <p:nvSpPr>
          <p:cNvPr id="19" name="Text 17"/>
          <p:cNvSpPr txBox="1"/>
          <p:nvPr/>
        </p:nvSpPr>
        <p:spPr>
          <a:xfrm>
            <a:off x="777240" y="2880360"/>
            <a:ext cx="5669280" cy="274320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MATCH (a:Agent)-[:CAN_INVOKE]-&gt;(t:Tool)</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  -[:HAS_PERMISSION]-&gt;(p:Permission)</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  -[:CAN_ACCESS]-&gt;(r:Resource)</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WHERE a.id = $agent_id</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  AND r.sensitivity IN ['confidential','restricted']</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RETURN a.id AS agent, t.name AS tool,</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  p.scope AS permission_scope,</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  r.id AS resource, r.sensitivity AS sensitivity</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LIMIT 100</a:t>
            </a:r>
            <a:endParaRPr lang="en-US" sz="1200" dirty="0"/>
          </a:p>
        </p:txBody>
      </p:sp>
      <p:sp>
        <p:nvSpPr>
          <p:cNvPr id="20" name="Text 18"/>
          <p:cNvSpPr txBox="1"/>
          <p:nvPr/>
        </p:nvSpPr>
        <p:spPr>
          <a:xfrm>
            <a:off x="777240" y="5532120"/>
            <a:ext cx="5623560" cy="502920"/>
          </a:xfrm>
          <a:prstGeom prst="rect">
            <a:avLst/>
          </a:prstGeom>
          <a:noFill/>
          <a:ln/>
        </p:spPr>
        <p:txBody>
          <a:bodyPr wrap="square" lIns="0" tIns="0" rIns="0" bIns="0" rtlCol="0" anchor="t"/>
          <a:lstStyle/>
          <a:p>
            <a:pPr indent="0" marL="0">
              <a:buNone/>
            </a:pPr>
            <a:r>
              <a:rPr lang="en-US" sz="1100" i="1" dirty="0">
                <a:solidFill>
                  <a:schemeClr val="accent6"/>
                </a:solidFill>
              </a:rPr>
              <a:t>Validate syntax, indexes and parameter binding against the chosen FalkorDB version. Add a tenant/project constraint to every production query.</a:t>
            </a:r>
            <a:endParaRPr lang="en-US" sz="1100" dirty="0"/>
          </a:p>
        </p:txBody>
      </p:sp>
      <p:sp>
        <p:nvSpPr>
          <p:cNvPr id="21" name="card"/>
          <p:cNvSpPr/>
          <p:nvPr/>
        </p:nvSpPr>
        <p:spPr>
          <a:xfrm>
            <a:off x="6858000" y="1600200"/>
            <a:ext cx="4754880" cy="4526280"/>
          </a:xfrm>
          <a:prstGeom prst="roundRect">
            <a:avLst>
              <a:gd name="adj" fmla="val 2020"/>
            </a:avLst>
          </a:prstGeom>
          <a:solidFill>
            <a:schemeClr val="tx2"/>
          </a:solidFill>
          <a:ln w="12700">
            <a:solidFill>
              <a:schemeClr val="accent2">
                <a:alpha val="38000"/>
              </a:schemeClr>
            </a:solidFill>
            <a:prstDash val="solid"/>
          </a:ln>
        </p:spPr>
      </p:sp>
      <p:sp>
        <p:nvSpPr>
          <p:cNvPr id="22" name="icon tile"/>
          <p:cNvSpPr/>
          <p:nvPr/>
        </p:nvSpPr>
        <p:spPr>
          <a:xfrm>
            <a:off x="7132320" y="1828800"/>
            <a:ext cx="594360" cy="594360"/>
          </a:xfrm>
          <a:prstGeom prst="roundRect">
            <a:avLst>
              <a:gd name="adj" fmla="val 22000"/>
            </a:avLst>
          </a:prstGeom>
          <a:solidFill>
            <a:schemeClr val="accent1">
              <a:alpha val="20000"/>
            </a:schemeClr>
          </a:solidFill>
          <a:ln w="9525">
            <a:solidFill>
              <a:schemeClr val="accent1">
                <a:alpha val="55000"/>
              </a:schemeClr>
            </a:solidFill>
            <a:prstDash val="solid"/>
          </a:ln>
        </p:spPr>
      </p:sp>
      <p:pic>
        <p:nvPicPr>
          <p:cNvPr id="23" name="icon" descr="preencoded.png">    </p:cNvPr>
          <p:cNvPicPr>
            <a:picLocks noChangeAspect="1"/>
          </p:cNvPicPr>
          <p:nvPr/>
        </p:nvPicPr>
        <p:blipFill>
          <a:blip r:embed="rId1"/>
          <a:stretch>
            <a:fillRect/>
          </a:stretch>
        </p:blipFill>
        <p:spPr>
          <a:xfrm>
            <a:off x="7274966" y="1971446"/>
            <a:ext cx="309067" cy="309067"/>
          </a:xfrm>
          <a:prstGeom prst="rect">
            <a:avLst/>
          </a:prstGeom>
        </p:spPr>
      </p:pic>
      <p:sp>
        <p:nvSpPr>
          <p:cNvPr id="24" name="Text 21"/>
          <p:cNvSpPr txBox="1"/>
          <p:nvPr/>
        </p:nvSpPr>
        <p:spPr>
          <a:xfrm>
            <a:off x="7863840" y="1938528"/>
            <a:ext cx="3566160" cy="365760"/>
          </a:xfrm>
          <a:prstGeom prst="rect">
            <a:avLst/>
          </a:prstGeom>
          <a:noFill/>
          <a:ln/>
        </p:spPr>
        <p:txBody>
          <a:bodyPr wrap="square" lIns="0" tIns="0" rIns="0" bIns="0" rtlCol="0" anchor="t"/>
          <a:lstStyle/>
          <a:p>
            <a:pPr indent="0" marL="0">
              <a:buNone/>
            </a:pPr>
            <a:r>
              <a:rPr lang="en-US" sz="1700" b="1" dirty="0">
                <a:solidFill>
                  <a:schemeClr val="bg1"/>
                </a:solidFill>
              </a:rPr>
              <a:t>Graph design rules</a:t>
            </a:r>
            <a:endParaRPr lang="en-US" sz="1700" dirty="0"/>
          </a:p>
        </p:txBody>
      </p:sp>
      <p:sp>
        <p:nvSpPr>
          <p:cNvPr id="25" name="Text 22"/>
          <p:cNvSpPr txBox="1"/>
          <p:nvPr/>
        </p:nvSpPr>
        <p:spPr>
          <a:xfrm>
            <a:off x="7132320" y="2606040"/>
            <a:ext cx="4251960" cy="33832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chemeClr val="bg2"/>
                </a:solidFill>
              </a:rPr>
              <a:t>Stable internal IDs with uniqueness constraints and indexes</a:t>
            </a:r>
            <a:endParaRPr lang="en-US" sz="1300" dirty="0"/>
          </a:p>
          <a:p>
            <a:pPr marL="177800" indent="-177800">
              <a:spcAft>
                <a:spcPts val="700"/>
              </a:spcAft>
              <a:buSzPct val="100000"/>
              <a:buChar char="•"/>
            </a:pPr>
            <a:r>
              <a:rPr lang="en-US" sz="1300" dirty="0">
                <a:solidFill>
                  <a:schemeClr val="bg2"/>
                </a:solidFill>
              </a:rPr>
              <a:t>tenant_id and project scope on nodes; enforced in the query service, not prompts</a:t>
            </a:r>
            <a:endParaRPr lang="en-US" sz="1300" dirty="0"/>
          </a:p>
          <a:p>
            <a:pPr marL="177800" indent="-177800">
              <a:spcAft>
                <a:spcPts val="700"/>
              </a:spcAft>
              <a:buSzPct val="100000"/>
              <a:buChar char="•"/>
            </a:pPr>
            <a:r>
              <a:rPr lang="en-US" sz="1300" dirty="0">
                <a:solidFill>
                  <a:schemeClr val="bg2"/>
                </a:solidFill>
              </a:rPr>
              <a:t>Explicit provenance: assertion_source, observed_at, validation_status</a:t>
            </a:r>
            <a:endParaRPr lang="en-US" sz="1300" dirty="0"/>
          </a:p>
          <a:p>
            <a:pPr marL="177800" indent="-177800">
              <a:spcAft>
                <a:spcPts val="700"/>
              </a:spcAft>
              <a:buSzPct val="100000"/>
              <a:buChar char="•"/>
            </a:pPr>
            <a:r>
              <a:rPr lang="en-US" sz="1300" dirty="0">
                <a:solidFill>
                  <a:schemeClr val="bg2"/>
                </a:solidFill>
              </a:rPr>
              <a:t>Upserts and stable external IDs so replayed webhooks never duplicate</a:t>
            </a:r>
            <a:endParaRPr lang="en-US" sz="1300" dirty="0"/>
          </a:p>
          <a:p>
            <a:pPr marL="177800" indent="-177800">
              <a:spcAft>
                <a:spcPts val="700"/>
              </a:spcAft>
              <a:buSzPct val="100000"/>
              <a:buChar char="•"/>
            </a:pPr>
            <a:r>
              <a:rPr lang="en-US" sz="1300" dirty="0">
                <a:solidFill>
                  <a:schemeClr val="bg2"/>
                </a:solidFill>
              </a:rPr>
              <a:t>Bound depth, result count, query time and relationship types</a:t>
            </a:r>
            <a:endParaRPr lang="en-US" sz="1300" dirty="0"/>
          </a:p>
          <a:p>
            <a:pPr marL="177800" indent="-177800">
              <a:spcAft>
                <a:spcPts val="700"/>
              </a:spcAft>
              <a:buSzPct val="100000"/>
              <a:buChar char="•"/>
            </a:pPr>
            <a:r>
              <a:rPr lang="en-US" sz="1300" dirty="0">
                <a:solidFill>
                  <a:schemeClr val="bg2"/>
                </a:solidFill>
              </a:rPr>
              <a:t>No secrets, credentials or large source files in graph properties</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NODE LABELS</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Sixteen labels, each with a clear purpose</a:t>
            </a:r>
            <a:endParaRPr lang="en-US" sz="3200" dirty="0"/>
          </a:p>
        </p:txBody>
      </p:sp>
      <p:sp>
        <p:nvSpPr>
          <p:cNvPr id="4" name="card"/>
          <p:cNvSpPr/>
          <p:nvPr/>
        </p:nvSpPr>
        <p:spPr>
          <a:xfrm>
            <a:off x="548640" y="1554480"/>
            <a:ext cx="2651760" cy="1005840"/>
          </a:xfrm>
          <a:prstGeom prst="roundRect">
            <a:avLst>
              <a:gd name="adj" fmla="val 9091"/>
            </a:avLst>
          </a:prstGeom>
          <a:solidFill>
            <a:schemeClr val="tx2"/>
          </a:solidFill>
          <a:ln w="12700">
            <a:solidFill>
              <a:schemeClr val="accent2">
                <a:alpha val="38000"/>
              </a:schemeClr>
            </a:solidFill>
            <a:prstDash val="solid"/>
          </a:ln>
        </p:spPr>
      </p:sp>
      <p:sp>
        <p:nvSpPr>
          <p:cNvPr id="5" name="dot"/>
          <p:cNvSpPr/>
          <p:nvPr/>
        </p:nvSpPr>
        <p:spPr>
          <a:xfrm>
            <a:off x="777240" y="1828800"/>
            <a:ext cx="146304" cy="146304"/>
          </a:xfrm>
          <a:prstGeom prst="ellipse">
            <a:avLst/>
          </a:prstGeom>
          <a:solidFill>
            <a:schemeClr val="accent2"/>
          </a:solidFill>
          <a:ln w="12700">
            <a:solidFill>
              <a:schemeClr val="accent2"/>
            </a:solidFill>
            <a:prstDash val="solid"/>
          </a:ln>
        </p:spPr>
      </p:sp>
      <p:sp>
        <p:nvSpPr>
          <p:cNvPr id="6" name="Text 4"/>
          <p:cNvSpPr txBox="1"/>
          <p:nvPr/>
        </p:nvSpPr>
        <p:spPr>
          <a:xfrm>
            <a:off x="1024128" y="1737360"/>
            <a:ext cx="2057400" cy="320040"/>
          </a:xfrm>
          <a:prstGeom prst="rect">
            <a:avLst/>
          </a:prstGeom>
          <a:noFill/>
          <a:ln/>
        </p:spPr>
        <p:txBody>
          <a:bodyPr wrap="square" lIns="0" tIns="0" rIns="0" bIns="0" rtlCol="0" anchor="t"/>
          <a:lstStyle/>
          <a:p>
            <a:pPr indent="0" marL="0">
              <a:buNone/>
            </a:pPr>
            <a:r>
              <a:rPr lang="en-US" sz="1500" b="1" dirty="0">
                <a:solidFill>
                  <a:schemeClr val="bg1"/>
                </a:solidFill>
              </a:rPr>
              <a:t>Organization</a:t>
            </a:r>
            <a:endParaRPr lang="en-US" sz="1500" dirty="0"/>
          </a:p>
        </p:txBody>
      </p:sp>
      <p:sp>
        <p:nvSpPr>
          <p:cNvPr id="7" name="Text 5"/>
          <p:cNvSpPr txBox="1"/>
          <p:nvPr/>
        </p:nvSpPr>
        <p:spPr>
          <a:xfrm>
            <a:off x="777240" y="2084832"/>
            <a:ext cx="2286000" cy="411480"/>
          </a:xfrm>
          <a:prstGeom prst="rect">
            <a:avLst/>
          </a:prstGeom>
          <a:noFill/>
          <a:ln/>
        </p:spPr>
        <p:txBody>
          <a:bodyPr wrap="square" lIns="0" tIns="0" rIns="0" bIns="0" rtlCol="0" anchor="t"/>
          <a:lstStyle/>
          <a:p>
            <a:pPr indent="0" marL="0">
              <a:buNone/>
            </a:pPr>
            <a:r>
              <a:rPr lang="en-US" sz="1200" dirty="0">
                <a:solidFill>
                  <a:schemeClr val="accent6"/>
                </a:solidFill>
              </a:rPr>
              <a:t>Business / tenant boundary</a:t>
            </a:r>
            <a:endParaRPr lang="en-US" sz="1200" dirty="0"/>
          </a:p>
        </p:txBody>
      </p:sp>
      <p:sp>
        <p:nvSpPr>
          <p:cNvPr id="8" name="card"/>
          <p:cNvSpPr/>
          <p:nvPr/>
        </p:nvSpPr>
        <p:spPr>
          <a:xfrm>
            <a:off x="3355848" y="1554480"/>
            <a:ext cx="2651760" cy="1005840"/>
          </a:xfrm>
          <a:prstGeom prst="roundRect">
            <a:avLst>
              <a:gd name="adj" fmla="val 9091"/>
            </a:avLst>
          </a:prstGeom>
          <a:solidFill>
            <a:schemeClr val="tx2"/>
          </a:solidFill>
          <a:ln w="12700">
            <a:solidFill>
              <a:schemeClr val="accent2">
                <a:alpha val="38000"/>
              </a:schemeClr>
            </a:solidFill>
            <a:prstDash val="solid"/>
          </a:ln>
        </p:spPr>
      </p:sp>
      <p:sp>
        <p:nvSpPr>
          <p:cNvPr id="9" name="dot"/>
          <p:cNvSpPr/>
          <p:nvPr/>
        </p:nvSpPr>
        <p:spPr>
          <a:xfrm>
            <a:off x="3584448" y="1828800"/>
            <a:ext cx="146304" cy="146304"/>
          </a:xfrm>
          <a:prstGeom prst="ellipse">
            <a:avLst/>
          </a:prstGeom>
          <a:solidFill>
            <a:schemeClr val="accent2"/>
          </a:solidFill>
          <a:ln w="12700">
            <a:solidFill>
              <a:schemeClr val="accent2"/>
            </a:solidFill>
            <a:prstDash val="solid"/>
          </a:ln>
        </p:spPr>
      </p:sp>
      <p:sp>
        <p:nvSpPr>
          <p:cNvPr id="10" name="Text 8"/>
          <p:cNvSpPr txBox="1"/>
          <p:nvPr/>
        </p:nvSpPr>
        <p:spPr>
          <a:xfrm>
            <a:off x="3831336" y="1737360"/>
            <a:ext cx="2057400" cy="320040"/>
          </a:xfrm>
          <a:prstGeom prst="rect">
            <a:avLst/>
          </a:prstGeom>
          <a:noFill/>
          <a:ln/>
        </p:spPr>
        <p:txBody>
          <a:bodyPr wrap="square" lIns="0" tIns="0" rIns="0" bIns="0" rtlCol="0" anchor="t"/>
          <a:lstStyle/>
          <a:p>
            <a:pPr indent="0" marL="0">
              <a:buNone/>
            </a:pPr>
            <a:r>
              <a:rPr lang="en-US" sz="1500" b="1" dirty="0">
                <a:solidFill>
                  <a:schemeClr val="bg1"/>
                </a:solidFill>
              </a:rPr>
              <a:t>Project</a:t>
            </a:r>
            <a:endParaRPr lang="en-US" sz="1500" dirty="0"/>
          </a:p>
        </p:txBody>
      </p:sp>
      <p:sp>
        <p:nvSpPr>
          <p:cNvPr id="11" name="Text 9"/>
          <p:cNvSpPr txBox="1"/>
          <p:nvPr/>
        </p:nvSpPr>
        <p:spPr>
          <a:xfrm>
            <a:off x="3584448" y="2084832"/>
            <a:ext cx="2286000" cy="411480"/>
          </a:xfrm>
          <a:prstGeom prst="rect">
            <a:avLst/>
          </a:prstGeom>
          <a:noFill/>
          <a:ln/>
        </p:spPr>
        <p:txBody>
          <a:bodyPr wrap="square" lIns="0" tIns="0" rIns="0" bIns="0" rtlCol="0" anchor="t"/>
          <a:lstStyle/>
          <a:p>
            <a:pPr indent="0" marL="0">
              <a:buNone/>
            </a:pPr>
            <a:r>
              <a:rPr lang="en-US" sz="1200" dirty="0">
                <a:solidFill>
                  <a:schemeClr val="accent6"/>
                </a:solidFill>
              </a:rPr>
              <a:t>Logical security scope</a:t>
            </a:r>
            <a:endParaRPr lang="en-US" sz="1200" dirty="0"/>
          </a:p>
        </p:txBody>
      </p:sp>
      <p:sp>
        <p:nvSpPr>
          <p:cNvPr id="12" name="card"/>
          <p:cNvSpPr/>
          <p:nvPr/>
        </p:nvSpPr>
        <p:spPr>
          <a:xfrm>
            <a:off x="6163056" y="1554480"/>
            <a:ext cx="2651760" cy="1005840"/>
          </a:xfrm>
          <a:prstGeom prst="roundRect">
            <a:avLst>
              <a:gd name="adj" fmla="val 9091"/>
            </a:avLst>
          </a:prstGeom>
          <a:solidFill>
            <a:schemeClr val="tx2"/>
          </a:solidFill>
          <a:ln w="12700">
            <a:solidFill>
              <a:schemeClr val="accent2">
                <a:alpha val="38000"/>
              </a:schemeClr>
            </a:solidFill>
            <a:prstDash val="solid"/>
          </a:ln>
        </p:spPr>
      </p:sp>
      <p:sp>
        <p:nvSpPr>
          <p:cNvPr id="13" name="dot"/>
          <p:cNvSpPr/>
          <p:nvPr/>
        </p:nvSpPr>
        <p:spPr>
          <a:xfrm>
            <a:off x="6391656" y="1828800"/>
            <a:ext cx="146304" cy="146304"/>
          </a:xfrm>
          <a:prstGeom prst="ellipse">
            <a:avLst/>
          </a:prstGeom>
          <a:solidFill>
            <a:schemeClr val="accent1"/>
          </a:solidFill>
          <a:ln w="12700">
            <a:solidFill>
              <a:schemeClr val="accent1"/>
            </a:solidFill>
            <a:prstDash val="solid"/>
          </a:ln>
        </p:spPr>
      </p:sp>
      <p:sp>
        <p:nvSpPr>
          <p:cNvPr id="14" name="Text 12"/>
          <p:cNvSpPr txBox="1"/>
          <p:nvPr/>
        </p:nvSpPr>
        <p:spPr>
          <a:xfrm>
            <a:off x="6638544" y="1737360"/>
            <a:ext cx="2057400" cy="320040"/>
          </a:xfrm>
          <a:prstGeom prst="rect">
            <a:avLst/>
          </a:prstGeom>
          <a:noFill/>
          <a:ln/>
        </p:spPr>
        <p:txBody>
          <a:bodyPr wrap="square" lIns="0" tIns="0" rIns="0" bIns="0" rtlCol="0" anchor="t"/>
          <a:lstStyle/>
          <a:p>
            <a:pPr indent="0" marL="0">
              <a:buNone/>
            </a:pPr>
            <a:r>
              <a:rPr lang="en-US" sz="1500" b="1" dirty="0">
                <a:solidFill>
                  <a:schemeClr val="bg1"/>
                </a:solidFill>
              </a:rPr>
              <a:t>Repository</a:t>
            </a:r>
            <a:endParaRPr lang="en-US" sz="1500" dirty="0"/>
          </a:p>
        </p:txBody>
      </p:sp>
      <p:sp>
        <p:nvSpPr>
          <p:cNvPr id="15" name="Text 13"/>
          <p:cNvSpPr txBox="1"/>
          <p:nvPr/>
        </p:nvSpPr>
        <p:spPr>
          <a:xfrm>
            <a:off x="6391656" y="2084832"/>
            <a:ext cx="2286000" cy="411480"/>
          </a:xfrm>
          <a:prstGeom prst="rect">
            <a:avLst/>
          </a:prstGeom>
          <a:noFill/>
          <a:ln/>
        </p:spPr>
        <p:txBody>
          <a:bodyPr wrap="square" lIns="0" tIns="0" rIns="0" bIns="0" rtlCol="0" anchor="t"/>
          <a:lstStyle/>
          <a:p>
            <a:pPr indent="0" marL="0">
              <a:buNone/>
            </a:pPr>
            <a:r>
              <a:rPr lang="en-US" sz="1200" dirty="0">
                <a:solidFill>
                  <a:schemeClr val="accent6"/>
                </a:solidFill>
              </a:rPr>
              <a:t>GitHub repo and sync state</a:t>
            </a:r>
            <a:endParaRPr lang="en-US" sz="1200" dirty="0"/>
          </a:p>
        </p:txBody>
      </p:sp>
      <p:sp>
        <p:nvSpPr>
          <p:cNvPr id="16" name="card"/>
          <p:cNvSpPr/>
          <p:nvPr/>
        </p:nvSpPr>
        <p:spPr>
          <a:xfrm>
            <a:off x="8970264" y="1554480"/>
            <a:ext cx="2651760" cy="1005840"/>
          </a:xfrm>
          <a:prstGeom prst="roundRect">
            <a:avLst>
              <a:gd name="adj" fmla="val 9091"/>
            </a:avLst>
          </a:prstGeom>
          <a:solidFill>
            <a:schemeClr val="tx2"/>
          </a:solidFill>
          <a:ln w="12700">
            <a:solidFill>
              <a:schemeClr val="accent2">
                <a:alpha val="38000"/>
              </a:schemeClr>
            </a:solidFill>
            <a:prstDash val="solid"/>
          </a:ln>
        </p:spPr>
      </p:sp>
      <p:sp>
        <p:nvSpPr>
          <p:cNvPr id="17" name="dot"/>
          <p:cNvSpPr/>
          <p:nvPr/>
        </p:nvSpPr>
        <p:spPr>
          <a:xfrm>
            <a:off x="9198864" y="1828800"/>
            <a:ext cx="146304" cy="146304"/>
          </a:xfrm>
          <a:prstGeom prst="ellipse">
            <a:avLst/>
          </a:prstGeom>
          <a:solidFill>
            <a:schemeClr val="accent1"/>
          </a:solidFill>
          <a:ln w="12700">
            <a:solidFill>
              <a:schemeClr val="accent1"/>
            </a:solidFill>
            <a:prstDash val="solid"/>
          </a:ln>
        </p:spPr>
      </p:sp>
      <p:sp>
        <p:nvSpPr>
          <p:cNvPr id="18" name="Text 16"/>
          <p:cNvSpPr txBox="1"/>
          <p:nvPr/>
        </p:nvSpPr>
        <p:spPr>
          <a:xfrm>
            <a:off x="9445752" y="1737360"/>
            <a:ext cx="2057400" cy="320040"/>
          </a:xfrm>
          <a:prstGeom prst="rect">
            <a:avLst/>
          </a:prstGeom>
          <a:noFill/>
          <a:ln/>
        </p:spPr>
        <p:txBody>
          <a:bodyPr wrap="square" lIns="0" tIns="0" rIns="0" bIns="0" rtlCol="0" anchor="t"/>
          <a:lstStyle/>
          <a:p>
            <a:pPr indent="0" marL="0">
              <a:buNone/>
            </a:pPr>
            <a:r>
              <a:rPr lang="en-US" sz="1500" b="1" dirty="0">
                <a:solidFill>
                  <a:schemeClr val="bg1"/>
                </a:solidFill>
              </a:rPr>
              <a:t>Workflow</a:t>
            </a:r>
            <a:endParaRPr lang="en-US" sz="1500" dirty="0"/>
          </a:p>
        </p:txBody>
      </p:sp>
      <p:sp>
        <p:nvSpPr>
          <p:cNvPr id="19" name="Text 17"/>
          <p:cNvSpPr txBox="1"/>
          <p:nvPr/>
        </p:nvSpPr>
        <p:spPr>
          <a:xfrm>
            <a:off x="9198864" y="2084832"/>
            <a:ext cx="2286000" cy="411480"/>
          </a:xfrm>
          <a:prstGeom prst="rect">
            <a:avLst/>
          </a:prstGeom>
          <a:noFill/>
          <a:ln/>
        </p:spPr>
        <p:txBody>
          <a:bodyPr wrap="square" lIns="0" tIns="0" rIns="0" bIns="0" rtlCol="0" anchor="t"/>
          <a:lstStyle/>
          <a:p>
            <a:pPr indent="0" marL="0">
              <a:buNone/>
            </a:pPr>
            <a:r>
              <a:rPr lang="en-US" sz="1200" dirty="0">
                <a:solidFill>
                  <a:schemeClr val="accent6"/>
                </a:solidFill>
              </a:rPr>
              <a:t>CI/CD workflow and granted capabilities</a:t>
            </a:r>
            <a:endParaRPr lang="en-US" sz="1200" dirty="0"/>
          </a:p>
        </p:txBody>
      </p:sp>
      <p:sp>
        <p:nvSpPr>
          <p:cNvPr id="20" name="card"/>
          <p:cNvSpPr/>
          <p:nvPr/>
        </p:nvSpPr>
        <p:spPr>
          <a:xfrm>
            <a:off x="548640" y="2697480"/>
            <a:ext cx="2651760" cy="1005840"/>
          </a:xfrm>
          <a:prstGeom prst="roundRect">
            <a:avLst>
              <a:gd name="adj" fmla="val 9091"/>
            </a:avLst>
          </a:prstGeom>
          <a:solidFill>
            <a:schemeClr val="tx2"/>
          </a:solidFill>
          <a:ln w="12700">
            <a:solidFill>
              <a:schemeClr val="accent2">
                <a:alpha val="38000"/>
              </a:schemeClr>
            </a:solidFill>
            <a:prstDash val="solid"/>
          </a:ln>
        </p:spPr>
      </p:sp>
      <p:sp>
        <p:nvSpPr>
          <p:cNvPr id="21" name="dot"/>
          <p:cNvSpPr/>
          <p:nvPr/>
        </p:nvSpPr>
        <p:spPr>
          <a:xfrm>
            <a:off x="777240" y="2971800"/>
            <a:ext cx="146304" cy="146304"/>
          </a:xfrm>
          <a:prstGeom prst="ellipse">
            <a:avLst/>
          </a:prstGeom>
          <a:solidFill>
            <a:schemeClr val="accent2"/>
          </a:solidFill>
          <a:ln w="12700">
            <a:solidFill>
              <a:schemeClr val="accent2"/>
            </a:solidFill>
            <a:prstDash val="solid"/>
          </a:ln>
        </p:spPr>
      </p:sp>
      <p:sp>
        <p:nvSpPr>
          <p:cNvPr id="22" name="Text 20"/>
          <p:cNvSpPr txBox="1"/>
          <p:nvPr/>
        </p:nvSpPr>
        <p:spPr>
          <a:xfrm>
            <a:off x="1024128" y="2880360"/>
            <a:ext cx="2057400" cy="320040"/>
          </a:xfrm>
          <a:prstGeom prst="rect">
            <a:avLst/>
          </a:prstGeom>
          <a:noFill/>
          <a:ln/>
        </p:spPr>
        <p:txBody>
          <a:bodyPr wrap="square" lIns="0" tIns="0" rIns="0" bIns="0" rtlCol="0" anchor="t"/>
          <a:lstStyle/>
          <a:p>
            <a:pPr indent="0" marL="0">
              <a:buNone/>
            </a:pPr>
            <a:r>
              <a:rPr lang="en-US" sz="1500" b="1" dirty="0">
                <a:solidFill>
                  <a:schemeClr val="bg1"/>
                </a:solidFill>
              </a:rPr>
              <a:t>Agent</a:t>
            </a:r>
            <a:endParaRPr lang="en-US" sz="1500" dirty="0"/>
          </a:p>
        </p:txBody>
      </p:sp>
      <p:sp>
        <p:nvSpPr>
          <p:cNvPr id="23" name="Text 21"/>
          <p:cNvSpPr txBox="1"/>
          <p:nvPr/>
        </p:nvSpPr>
        <p:spPr>
          <a:xfrm>
            <a:off x="777240" y="3227832"/>
            <a:ext cx="2286000" cy="411480"/>
          </a:xfrm>
          <a:prstGeom prst="rect">
            <a:avLst/>
          </a:prstGeom>
          <a:noFill/>
          <a:ln/>
        </p:spPr>
        <p:txBody>
          <a:bodyPr wrap="square" lIns="0" tIns="0" rIns="0" bIns="0" rtlCol="0" anchor="t"/>
          <a:lstStyle/>
          <a:p>
            <a:pPr indent="0" marL="0">
              <a:buNone/>
            </a:pPr>
            <a:r>
              <a:rPr lang="en-US" sz="1200" dirty="0">
                <a:solidFill>
                  <a:schemeClr val="accent6"/>
                </a:solidFill>
              </a:rPr>
              <a:t>AI coding agent or declared integration</a:t>
            </a:r>
            <a:endParaRPr lang="en-US" sz="1200" dirty="0"/>
          </a:p>
        </p:txBody>
      </p:sp>
      <p:sp>
        <p:nvSpPr>
          <p:cNvPr id="24" name="card"/>
          <p:cNvSpPr/>
          <p:nvPr/>
        </p:nvSpPr>
        <p:spPr>
          <a:xfrm>
            <a:off x="3355848" y="2697480"/>
            <a:ext cx="2651760" cy="1005840"/>
          </a:xfrm>
          <a:prstGeom prst="roundRect">
            <a:avLst>
              <a:gd name="adj" fmla="val 9091"/>
            </a:avLst>
          </a:prstGeom>
          <a:solidFill>
            <a:schemeClr val="tx2"/>
          </a:solidFill>
          <a:ln w="12700">
            <a:solidFill>
              <a:schemeClr val="accent2">
                <a:alpha val="38000"/>
              </a:schemeClr>
            </a:solidFill>
            <a:prstDash val="solid"/>
          </a:ln>
        </p:spPr>
      </p:sp>
      <p:sp>
        <p:nvSpPr>
          <p:cNvPr id="25" name="dot"/>
          <p:cNvSpPr/>
          <p:nvPr/>
        </p:nvSpPr>
        <p:spPr>
          <a:xfrm>
            <a:off x="3584448" y="2971800"/>
            <a:ext cx="146304" cy="146304"/>
          </a:xfrm>
          <a:prstGeom prst="ellipse">
            <a:avLst/>
          </a:prstGeom>
          <a:solidFill>
            <a:schemeClr val="accent6"/>
          </a:solidFill>
          <a:ln w="12700">
            <a:solidFill>
              <a:schemeClr val="accent6"/>
            </a:solidFill>
            <a:prstDash val="solid"/>
          </a:ln>
        </p:spPr>
      </p:sp>
      <p:sp>
        <p:nvSpPr>
          <p:cNvPr id="26" name="Text 24"/>
          <p:cNvSpPr txBox="1"/>
          <p:nvPr/>
        </p:nvSpPr>
        <p:spPr>
          <a:xfrm>
            <a:off x="3831336" y="2880360"/>
            <a:ext cx="2057400" cy="320040"/>
          </a:xfrm>
          <a:prstGeom prst="rect">
            <a:avLst/>
          </a:prstGeom>
          <a:noFill/>
          <a:ln/>
        </p:spPr>
        <p:txBody>
          <a:bodyPr wrap="square" lIns="0" tIns="0" rIns="0" bIns="0" rtlCol="0" anchor="t"/>
          <a:lstStyle/>
          <a:p>
            <a:pPr indent="0" marL="0">
              <a:buNone/>
            </a:pPr>
            <a:r>
              <a:rPr lang="en-US" sz="1500" b="1" dirty="0">
                <a:solidFill>
                  <a:schemeClr val="bg1"/>
                </a:solidFill>
              </a:rPr>
              <a:t>MCPServer</a:t>
            </a:r>
            <a:endParaRPr lang="en-US" sz="1500" dirty="0"/>
          </a:p>
        </p:txBody>
      </p:sp>
      <p:sp>
        <p:nvSpPr>
          <p:cNvPr id="27" name="Text 25"/>
          <p:cNvSpPr txBox="1"/>
          <p:nvPr/>
        </p:nvSpPr>
        <p:spPr>
          <a:xfrm>
            <a:off x="3584448" y="3227832"/>
            <a:ext cx="2286000" cy="411480"/>
          </a:xfrm>
          <a:prstGeom prst="rect">
            <a:avLst/>
          </a:prstGeom>
          <a:noFill/>
          <a:ln/>
        </p:spPr>
        <p:txBody>
          <a:bodyPr wrap="square" lIns="0" tIns="0" rIns="0" bIns="0" rtlCol="0" anchor="t"/>
          <a:lstStyle/>
          <a:p>
            <a:pPr indent="0" marL="0">
              <a:buNone/>
            </a:pPr>
            <a:r>
              <a:rPr lang="en-US" sz="1200" dirty="0">
                <a:solidFill>
                  <a:schemeClr val="accent6"/>
                </a:solidFill>
              </a:rPr>
              <a:t>Tool-server metadata; never auth secrets</a:t>
            </a:r>
            <a:endParaRPr lang="en-US" sz="1200" dirty="0"/>
          </a:p>
        </p:txBody>
      </p:sp>
      <p:sp>
        <p:nvSpPr>
          <p:cNvPr id="28" name="card"/>
          <p:cNvSpPr/>
          <p:nvPr/>
        </p:nvSpPr>
        <p:spPr>
          <a:xfrm>
            <a:off x="6163056" y="2697480"/>
            <a:ext cx="2651760" cy="1005840"/>
          </a:xfrm>
          <a:prstGeom prst="roundRect">
            <a:avLst>
              <a:gd name="adj" fmla="val 9091"/>
            </a:avLst>
          </a:prstGeom>
          <a:solidFill>
            <a:schemeClr val="tx2"/>
          </a:solidFill>
          <a:ln w="12700">
            <a:solidFill>
              <a:schemeClr val="accent2">
                <a:alpha val="38000"/>
              </a:schemeClr>
            </a:solidFill>
            <a:prstDash val="solid"/>
          </a:ln>
        </p:spPr>
      </p:sp>
      <p:sp>
        <p:nvSpPr>
          <p:cNvPr id="29" name="dot"/>
          <p:cNvSpPr/>
          <p:nvPr/>
        </p:nvSpPr>
        <p:spPr>
          <a:xfrm>
            <a:off x="6391656" y="2971800"/>
            <a:ext cx="146304" cy="146304"/>
          </a:xfrm>
          <a:prstGeom prst="ellipse">
            <a:avLst/>
          </a:prstGeom>
          <a:solidFill>
            <a:schemeClr val="accent2"/>
          </a:solidFill>
          <a:ln w="12700">
            <a:solidFill>
              <a:schemeClr val="accent2"/>
            </a:solidFill>
            <a:prstDash val="solid"/>
          </a:ln>
        </p:spPr>
      </p:sp>
      <p:sp>
        <p:nvSpPr>
          <p:cNvPr id="30" name="Text 28"/>
          <p:cNvSpPr txBox="1"/>
          <p:nvPr/>
        </p:nvSpPr>
        <p:spPr>
          <a:xfrm>
            <a:off x="6638544" y="2880360"/>
            <a:ext cx="2057400" cy="320040"/>
          </a:xfrm>
          <a:prstGeom prst="rect">
            <a:avLst/>
          </a:prstGeom>
          <a:noFill/>
          <a:ln/>
        </p:spPr>
        <p:txBody>
          <a:bodyPr wrap="square" lIns="0" tIns="0" rIns="0" bIns="0" rtlCol="0" anchor="t"/>
          <a:lstStyle/>
          <a:p>
            <a:pPr indent="0" marL="0">
              <a:buNone/>
            </a:pPr>
            <a:r>
              <a:rPr lang="en-US" sz="1500" b="1" dirty="0">
                <a:solidFill>
                  <a:schemeClr val="bg1"/>
                </a:solidFill>
              </a:rPr>
              <a:t>Tool</a:t>
            </a:r>
            <a:endParaRPr lang="en-US" sz="1500" dirty="0"/>
          </a:p>
        </p:txBody>
      </p:sp>
      <p:sp>
        <p:nvSpPr>
          <p:cNvPr id="31" name="Text 29"/>
          <p:cNvSpPr txBox="1"/>
          <p:nvPr/>
        </p:nvSpPr>
        <p:spPr>
          <a:xfrm>
            <a:off x="6391656" y="3227832"/>
            <a:ext cx="2286000" cy="411480"/>
          </a:xfrm>
          <a:prstGeom prst="rect">
            <a:avLst/>
          </a:prstGeom>
          <a:noFill/>
          <a:ln/>
        </p:spPr>
        <p:txBody>
          <a:bodyPr wrap="square" lIns="0" tIns="0" rIns="0" bIns="0" rtlCol="0" anchor="t"/>
          <a:lstStyle/>
          <a:p>
            <a:pPr indent="0" marL="0">
              <a:buNone/>
            </a:pPr>
            <a:r>
              <a:rPr lang="en-US" sz="1200" dirty="0">
                <a:solidFill>
                  <a:schemeClr val="accent6"/>
                </a:solidFill>
              </a:rPr>
              <a:t>Tool an agent can invoke</a:t>
            </a:r>
            <a:endParaRPr lang="en-US" sz="1200" dirty="0"/>
          </a:p>
        </p:txBody>
      </p:sp>
      <p:sp>
        <p:nvSpPr>
          <p:cNvPr id="32" name="card"/>
          <p:cNvSpPr/>
          <p:nvPr/>
        </p:nvSpPr>
        <p:spPr>
          <a:xfrm>
            <a:off x="8970264" y="2697480"/>
            <a:ext cx="2651760" cy="1005840"/>
          </a:xfrm>
          <a:prstGeom prst="roundRect">
            <a:avLst>
              <a:gd name="adj" fmla="val 9091"/>
            </a:avLst>
          </a:prstGeom>
          <a:solidFill>
            <a:schemeClr val="tx2"/>
          </a:solidFill>
          <a:ln w="12700">
            <a:solidFill>
              <a:schemeClr val="accent2">
                <a:alpha val="38000"/>
              </a:schemeClr>
            </a:solidFill>
            <a:prstDash val="solid"/>
          </a:ln>
        </p:spPr>
      </p:sp>
      <p:sp>
        <p:nvSpPr>
          <p:cNvPr id="33" name="dot"/>
          <p:cNvSpPr/>
          <p:nvPr/>
        </p:nvSpPr>
        <p:spPr>
          <a:xfrm>
            <a:off x="9198864" y="2971800"/>
            <a:ext cx="146304" cy="146304"/>
          </a:xfrm>
          <a:prstGeom prst="ellipse">
            <a:avLst/>
          </a:prstGeom>
          <a:solidFill>
            <a:schemeClr val="accent4"/>
          </a:solidFill>
          <a:ln w="12700">
            <a:solidFill>
              <a:schemeClr val="accent4"/>
            </a:solidFill>
            <a:prstDash val="solid"/>
          </a:ln>
        </p:spPr>
      </p:sp>
      <p:sp>
        <p:nvSpPr>
          <p:cNvPr id="34" name="Text 32"/>
          <p:cNvSpPr txBox="1"/>
          <p:nvPr/>
        </p:nvSpPr>
        <p:spPr>
          <a:xfrm>
            <a:off x="9445752" y="2880360"/>
            <a:ext cx="2057400" cy="320040"/>
          </a:xfrm>
          <a:prstGeom prst="rect">
            <a:avLst/>
          </a:prstGeom>
          <a:noFill/>
          <a:ln/>
        </p:spPr>
        <p:txBody>
          <a:bodyPr wrap="square" lIns="0" tIns="0" rIns="0" bIns="0" rtlCol="0" anchor="t"/>
          <a:lstStyle/>
          <a:p>
            <a:pPr indent="0" marL="0">
              <a:buNone/>
            </a:pPr>
            <a:r>
              <a:rPr lang="en-US" sz="1500" b="1" dirty="0">
                <a:solidFill>
                  <a:schemeClr val="bg1"/>
                </a:solidFill>
              </a:rPr>
              <a:t>Permission</a:t>
            </a:r>
            <a:endParaRPr lang="en-US" sz="1500" dirty="0"/>
          </a:p>
        </p:txBody>
      </p:sp>
      <p:sp>
        <p:nvSpPr>
          <p:cNvPr id="35" name="Text 33"/>
          <p:cNvSpPr txBox="1"/>
          <p:nvPr/>
        </p:nvSpPr>
        <p:spPr>
          <a:xfrm>
            <a:off x="9198864" y="3227832"/>
            <a:ext cx="2286000" cy="411480"/>
          </a:xfrm>
          <a:prstGeom prst="rect">
            <a:avLst/>
          </a:prstGeom>
          <a:noFill/>
          <a:ln/>
        </p:spPr>
        <p:txBody>
          <a:bodyPr wrap="square" lIns="0" tIns="0" rIns="0" bIns="0" rtlCol="0" anchor="t"/>
          <a:lstStyle/>
          <a:p>
            <a:pPr indent="0" marL="0">
              <a:buNone/>
            </a:pPr>
            <a:r>
              <a:rPr lang="en-US" sz="1200" dirty="0">
                <a:solidFill>
                  <a:schemeClr val="accent6"/>
                </a:solidFill>
              </a:rPr>
              <a:t>Declared or verified access capability</a:t>
            </a:r>
            <a:endParaRPr lang="en-US" sz="1200" dirty="0"/>
          </a:p>
        </p:txBody>
      </p:sp>
      <p:sp>
        <p:nvSpPr>
          <p:cNvPr id="36" name="card"/>
          <p:cNvSpPr/>
          <p:nvPr/>
        </p:nvSpPr>
        <p:spPr>
          <a:xfrm>
            <a:off x="548640" y="3840480"/>
            <a:ext cx="2651760" cy="1005840"/>
          </a:xfrm>
          <a:prstGeom prst="roundRect">
            <a:avLst>
              <a:gd name="adj" fmla="val 9091"/>
            </a:avLst>
          </a:prstGeom>
          <a:solidFill>
            <a:schemeClr val="tx2"/>
          </a:solidFill>
          <a:ln w="12700">
            <a:solidFill>
              <a:schemeClr val="accent2">
                <a:alpha val="38000"/>
              </a:schemeClr>
            </a:solidFill>
            <a:prstDash val="solid"/>
          </a:ln>
        </p:spPr>
      </p:sp>
      <p:sp>
        <p:nvSpPr>
          <p:cNvPr id="37" name="dot"/>
          <p:cNvSpPr/>
          <p:nvPr/>
        </p:nvSpPr>
        <p:spPr>
          <a:xfrm>
            <a:off x="777240" y="4114800"/>
            <a:ext cx="146304" cy="146304"/>
          </a:xfrm>
          <a:prstGeom prst="ellipse">
            <a:avLst/>
          </a:prstGeom>
          <a:solidFill>
            <a:schemeClr val="accent3"/>
          </a:solidFill>
          <a:ln w="12700">
            <a:solidFill>
              <a:schemeClr val="accent3"/>
            </a:solidFill>
            <a:prstDash val="solid"/>
          </a:ln>
        </p:spPr>
      </p:sp>
      <p:sp>
        <p:nvSpPr>
          <p:cNvPr id="38" name="Text 36"/>
          <p:cNvSpPr txBox="1"/>
          <p:nvPr/>
        </p:nvSpPr>
        <p:spPr>
          <a:xfrm>
            <a:off x="1024128" y="4023360"/>
            <a:ext cx="2057400" cy="320040"/>
          </a:xfrm>
          <a:prstGeom prst="rect">
            <a:avLst/>
          </a:prstGeom>
          <a:noFill/>
          <a:ln/>
        </p:spPr>
        <p:txBody>
          <a:bodyPr wrap="square" lIns="0" tIns="0" rIns="0" bIns="0" rtlCol="0" anchor="t"/>
          <a:lstStyle/>
          <a:p>
            <a:pPr indent="0" marL="0">
              <a:buNone/>
            </a:pPr>
            <a:r>
              <a:rPr lang="en-US" sz="1500" b="1" dirty="0">
                <a:solidFill>
                  <a:schemeClr val="bg1"/>
                </a:solidFill>
              </a:rPr>
              <a:t>Resource</a:t>
            </a:r>
            <a:endParaRPr lang="en-US" sz="1500" dirty="0"/>
          </a:p>
        </p:txBody>
      </p:sp>
      <p:sp>
        <p:nvSpPr>
          <p:cNvPr id="39" name="Text 37"/>
          <p:cNvSpPr txBox="1"/>
          <p:nvPr/>
        </p:nvSpPr>
        <p:spPr>
          <a:xfrm>
            <a:off x="777240" y="4370832"/>
            <a:ext cx="2286000" cy="411480"/>
          </a:xfrm>
          <a:prstGeom prst="rect">
            <a:avLst/>
          </a:prstGeom>
          <a:noFill/>
          <a:ln/>
        </p:spPr>
        <p:txBody>
          <a:bodyPr wrap="square" lIns="0" tIns="0" rIns="0" bIns="0" rtlCol="0" anchor="t"/>
          <a:lstStyle/>
          <a:p>
            <a:pPr indent="0" marL="0">
              <a:buNone/>
            </a:pPr>
            <a:r>
              <a:rPr lang="en-US" sz="1200" dirty="0">
                <a:solidFill>
                  <a:schemeClr val="accent6"/>
                </a:solidFill>
              </a:rPr>
              <a:t>Repo, file class, artifact, API or data</a:t>
            </a:r>
            <a:endParaRPr lang="en-US" sz="1200" dirty="0"/>
          </a:p>
        </p:txBody>
      </p:sp>
      <p:sp>
        <p:nvSpPr>
          <p:cNvPr id="40" name="card"/>
          <p:cNvSpPr/>
          <p:nvPr/>
        </p:nvSpPr>
        <p:spPr>
          <a:xfrm>
            <a:off x="3355848" y="3840480"/>
            <a:ext cx="2651760" cy="1005840"/>
          </a:xfrm>
          <a:prstGeom prst="roundRect">
            <a:avLst>
              <a:gd name="adj" fmla="val 9091"/>
            </a:avLst>
          </a:prstGeom>
          <a:solidFill>
            <a:schemeClr val="tx2"/>
          </a:solidFill>
          <a:ln w="12700">
            <a:solidFill>
              <a:schemeClr val="accent2">
                <a:alpha val="38000"/>
              </a:schemeClr>
            </a:solidFill>
            <a:prstDash val="solid"/>
          </a:ln>
        </p:spPr>
      </p:sp>
      <p:sp>
        <p:nvSpPr>
          <p:cNvPr id="41" name="dot"/>
          <p:cNvSpPr/>
          <p:nvPr/>
        </p:nvSpPr>
        <p:spPr>
          <a:xfrm>
            <a:off x="3584448" y="4114800"/>
            <a:ext cx="146304" cy="146304"/>
          </a:xfrm>
          <a:prstGeom prst="ellipse">
            <a:avLst/>
          </a:prstGeom>
          <a:solidFill>
            <a:schemeClr val="accent4"/>
          </a:solidFill>
          <a:ln w="12700">
            <a:solidFill>
              <a:schemeClr val="accent4"/>
            </a:solidFill>
            <a:prstDash val="solid"/>
          </a:ln>
        </p:spPr>
      </p:sp>
      <p:sp>
        <p:nvSpPr>
          <p:cNvPr id="42" name="Text 40"/>
          <p:cNvSpPr txBox="1"/>
          <p:nvPr/>
        </p:nvSpPr>
        <p:spPr>
          <a:xfrm>
            <a:off x="3831336" y="4023360"/>
            <a:ext cx="2057400" cy="320040"/>
          </a:xfrm>
          <a:prstGeom prst="rect">
            <a:avLst/>
          </a:prstGeom>
          <a:noFill/>
          <a:ln/>
        </p:spPr>
        <p:txBody>
          <a:bodyPr wrap="square" lIns="0" tIns="0" rIns="0" bIns="0" rtlCol="0" anchor="t"/>
          <a:lstStyle/>
          <a:p>
            <a:pPr indent="0" marL="0">
              <a:buNone/>
            </a:pPr>
            <a:r>
              <a:rPr lang="en-US" sz="1500" b="1" dirty="0">
                <a:solidFill>
                  <a:schemeClr val="bg1"/>
                </a:solidFill>
              </a:rPr>
              <a:t>Package</a:t>
            </a:r>
            <a:endParaRPr lang="en-US" sz="1500" dirty="0"/>
          </a:p>
        </p:txBody>
      </p:sp>
      <p:sp>
        <p:nvSpPr>
          <p:cNvPr id="43" name="Text 41"/>
          <p:cNvSpPr txBox="1"/>
          <p:nvPr/>
        </p:nvSpPr>
        <p:spPr>
          <a:xfrm>
            <a:off x="3584448" y="4370832"/>
            <a:ext cx="2286000" cy="411480"/>
          </a:xfrm>
          <a:prstGeom prst="rect">
            <a:avLst/>
          </a:prstGeom>
          <a:noFill/>
          <a:ln/>
        </p:spPr>
        <p:txBody>
          <a:bodyPr wrap="square" lIns="0" tIns="0" rIns="0" bIns="0" rtlCol="0" anchor="t"/>
          <a:lstStyle/>
          <a:p>
            <a:pPr indent="0" marL="0">
              <a:buNone/>
            </a:pPr>
            <a:r>
              <a:rPr lang="en-US" sz="1200" dirty="0">
                <a:solidFill>
                  <a:schemeClr val="accent6"/>
                </a:solidFill>
              </a:rPr>
              <a:t>Dependency identity and version</a:t>
            </a:r>
            <a:endParaRPr lang="en-US" sz="1200" dirty="0"/>
          </a:p>
        </p:txBody>
      </p:sp>
      <p:sp>
        <p:nvSpPr>
          <p:cNvPr id="44" name="card"/>
          <p:cNvSpPr/>
          <p:nvPr/>
        </p:nvSpPr>
        <p:spPr>
          <a:xfrm>
            <a:off x="6163056" y="3840480"/>
            <a:ext cx="2651760" cy="1005840"/>
          </a:xfrm>
          <a:prstGeom prst="roundRect">
            <a:avLst>
              <a:gd name="adj" fmla="val 9091"/>
            </a:avLst>
          </a:prstGeom>
          <a:solidFill>
            <a:schemeClr val="tx2"/>
          </a:solidFill>
          <a:ln w="12700">
            <a:solidFill>
              <a:schemeClr val="accent2">
                <a:alpha val="38000"/>
              </a:schemeClr>
            </a:solidFill>
            <a:prstDash val="solid"/>
          </a:ln>
        </p:spPr>
      </p:sp>
      <p:sp>
        <p:nvSpPr>
          <p:cNvPr id="45" name="dot"/>
          <p:cNvSpPr/>
          <p:nvPr/>
        </p:nvSpPr>
        <p:spPr>
          <a:xfrm>
            <a:off x="6391656" y="4114800"/>
            <a:ext cx="146304" cy="146304"/>
          </a:xfrm>
          <a:prstGeom prst="ellipse">
            <a:avLst/>
          </a:prstGeom>
          <a:solidFill>
            <a:schemeClr val="accent3"/>
          </a:solidFill>
          <a:ln w="12700">
            <a:solidFill>
              <a:schemeClr val="accent3"/>
            </a:solidFill>
            <a:prstDash val="solid"/>
          </a:ln>
        </p:spPr>
      </p:sp>
      <p:sp>
        <p:nvSpPr>
          <p:cNvPr id="46" name="Text 44"/>
          <p:cNvSpPr txBox="1"/>
          <p:nvPr/>
        </p:nvSpPr>
        <p:spPr>
          <a:xfrm>
            <a:off x="6638544" y="4023360"/>
            <a:ext cx="2057400" cy="320040"/>
          </a:xfrm>
          <a:prstGeom prst="rect">
            <a:avLst/>
          </a:prstGeom>
          <a:noFill/>
          <a:ln/>
        </p:spPr>
        <p:txBody>
          <a:bodyPr wrap="square" lIns="0" tIns="0" rIns="0" bIns="0" rtlCol="0" anchor="t"/>
          <a:lstStyle/>
          <a:p>
            <a:pPr indent="0" marL="0">
              <a:buNone/>
            </a:pPr>
            <a:r>
              <a:rPr lang="en-US" sz="1500" b="1" dirty="0">
                <a:solidFill>
                  <a:schemeClr val="bg1"/>
                </a:solidFill>
              </a:rPr>
              <a:t>Vulnerability</a:t>
            </a:r>
            <a:endParaRPr lang="en-US" sz="1500" dirty="0"/>
          </a:p>
        </p:txBody>
      </p:sp>
      <p:sp>
        <p:nvSpPr>
          <p:cNvPr id="47" name="Text 45"/>
          <p:cNvSpPr txBox="1"/>
          <p:nvPr/>
        </p:nvSpPr>
        <p:spPr>
          <a:xfrm>
            <a:off x="6391656" y="4370832"/>
            <a:ext cx="2286000" cy="411480"/>
          </a:xfrm>
          <a:prstGeom prst="rect">
            <a:avLst/>
          </a:prstGeom>
          <a:noFill/>
          <a:ln/>
        </p:spPr>
        <p:txBody>
          <a:bodyPr wrap="square" lIns="0" tIns="0" rIns="0" bIns="0" rtlCol="0" anchor="t"/>
          <a:lstStyle/>
          <a:p>
            <a:pPr indent="0" marL="0">
              <a:buNone/>
            </a:pPr>
            <a:r>
              <a:rPr lang="en-US" sz="1200" dirty="0">
                <a:solidFill>
                  <a:schemeClr val="accent6"/>
                </a:solidFill>
              </a:rPr>
              <a:t>Advisory metadata and version ranges</a:t>
            </a:r>
            <a:endParaRPr lang="en-US" sz="1200" dirty="0"/>
          </a:p>
        </p:txBody>
      </p:sp>
      <p:sp>
        <p:nvSpPr>
          <p:cNvPr id="48" name="card"/>
          <p:cNvSpPr/>
          <p:nvPr/>
        </p:nvSpPr>
        <p:spPr>
          <a:xfrm>
            <a:off x="8970264" y="3840480"/>
            <a:ext cx="2651760" cy="1005840"/>
          </a:xfrm>
          <a:prstGeom prst="roundRect">
            <a:avLst>
              <a:gd name="adj" fmla="val 9091"/>
            </a:avLst>
          </a:prstGeom>
          <a:solidFill>
            <a:schemeClr val="tx2"/>
          </a:solidFill>
          <a:ln w="12700">
            <a:solidFill>
              <a:schemeClr val="accent2">
                <a:alpha val="38000"/>
              </a:schemeClr>
            </a:solidFill>
            <a:prstDash val="solid"/>
          </a:ln>
        </p:spPr>
      </p:sp>
      <p:sp>
        <p:nvSpPr>
          <p:cNvPr id="49" name="dot"/>
          <p:cNvSpPr/>
          <p:nvPr/>
        </p:nvSpPr>
        <p:spPr>
          <a:xfrm>
            <a:off x="9198864" y="4114800"/>
            <a:ext cx="146304" cy="146304"/>
          </a:xfrm>
          <a:prstGeom prst="ellipse">
            <a:avLst/>
          </a:prstGeom>
          <a:solidFill>
            <a:schemeClr val="accent3"/>
          </a:solidFill>
          <a:ln w="12700">
            <a:solidFill>
              <a:schemeClr val="accent3"/>
            </a:solidFill>
            <a:prstDash val="solid"/>
          </a:ln>
        </p:spPr>
      </p:sp>
      <p:sp>
        <p:nvSpPr>
          <p:cNvPr id="50" name="Text 48"/>
          <p:cNvSpPr txBox="1"/>
          <p:nvPr/>
        </p:nvSpPr>
        <p:spPr>
          <a:xfrm>
            <a:off x="9445752" y="4023360"/>
            <a:ext cx="2057400" cy="320040"/>
          </a:xfrm>
          <a:prstGeom prst="rect">
            <a:avLst/>
          </a:prstGeom>
          <a:noFill/>
          <a:ln/>
        </p:spPr>
        <p:txBody>
          <a:bodyPr wrap="square" lIns="0" tIns="0" rIns="0" bIns="0" rtlCol="0" anchor="t"/>
          <a:lstStyle/>
          <a:p>
            <a:pPr indent="0" marL="0">
              <a:buNone/>
            </a:pPr>
            <a:r>
              <a:rPr lang="en-US" sz="1500" b="1" dirty="0">
                <a:solidFill>
                  <a:schemeClr val="bg1"/>
                </a:solidFill>
              </a:rPr>
              <a:t>Finding</a:t>
            </a:r>
            <a:endParaRPr lang="en-US" sz="1500" dirty="0"/>
          </a:p>
        </p:txBody>
      </p:sp>
      <p:sp>
        <p:nvSpPr>
          <p:cNvPr id="51" name="Text 49"/>
          <p:cNvSpPr txBox="1"/>
          <p:nvPr/>
        </p:nvSpPr>
        <p:spPr>
          <a:xfrm>
            <a:off x="9198864" y="4370832"/>
            <a:ext cx="2286000" cy="411480"/>
          </a:xfrm>
          <a:prstGeom prst="rect">
            <a:avLst/>
          </a:prstGeom>
          <a:noFill/>
          <a:ln/>
        </p:spPr>
        <p:txBody>
          <a:bodyPr wrap="square" lIns="0" tIns="0" rIns="0" bIns="0" rtlCol="0" anchor="t"/>
          <a:lstStyle/>
          <a:p>
            <a:pPr indent="0" marL="0">
              <a:buNone/>
            </a:pPr>
            <a:r>
              <a:rPr lang="en-US" sz="1200" dirty="0">
                <a:solidFill>
                  <a:schemeClr val="accent6"/>
                </a:solidFill>
              </a:rPr>
              <a:t>Canonical security issue</a:t>
            </a:r>
            <a:endParaRPr lang="en-US" sz="1200" dirty="0"/>
          </a:p>
        </p:txBody>
      </p:sp>
      <p:sp>
        <p:nvSpPr>
          <p:cNvPr id="52" name="card"/>
          <p:cNvSpPr/>
          <p:nvPr/>
        </p:nvSpPr>
        <p:spPr>
          <a:xfrm>
            <a:off x="548640" y="4983480"/>
            <a:ext cx="2651760" cy="1005840"/>
          </a:xfrm>
          <a:prstGeom prst="roundRect">
            <a:avLst>
              <a:gd name="adj" fmla="val 9091"/>
            </a:avLst>
          </a:prstGeom>
          <a:solidFill>
            <a:schemeClr val="tx2"/>
          </a:solidFill>
          <a:ln w="12700">
            <a:solidFill>
              <a:schemeClr val="accent2">
                <a:alpha val="38000"/>
              </a:schemeClr>
            </a:solidFill>
            <a:prstDash val="solid"/>
          </a:ln>
        </p:spPr>
      </p:sp>
      <p:sp>
        <p:nvSpPr>
          <p:cNvPr id="53" name="dot"/>
          <p:cNvSpPr/>
          <p:nvPr/>
        </p:nvSpPr>
        <p:spPr>
          <a:xfrm>
            <a:off x="777240" y="5257800"/>
            <a:ext cx="146304" cy="146304"/>
          </a:xfrm>
          <a:prstGeom prst="ellipse">
            <a:avLst/>
          </a:prstGeom>
          <a:solidFill>
            <a:schemeClr val="accent5"/>
          </a:solidFill>
          <a:ln w="12700">
            <a:solidFill>
              <a:schemeClr val="accent5"/>
            </a:solidFill>
            <a:prstDash val="solid"/>
          </a:ln>
        </p:spPr>
      </p:sp>
      <p:sp>
        <p:nvSpPr>
          <p:cNvPr id="54" name="Text 52"/>
          <p:cNvSpPr txBox="1"/>
          <p:nvPr/>
        </p:nvSpPr>
        <p:spPr>
          <a:xfrm>
            <a:off x="1024128" y="5166360"/>
            <a:ext cx="2057400" cy="320040"/>
          </a:xfrm>
          <a:prstGeom prst="rect">
            <a:avLst/>
          </a:prstGeom>
          <a:noFill/>
          <a:ln/>
        </p:spPr>
        <p:txBody>
          <a:bodyPr wrap="square" lIns="0" tIns="0" rIns="0" bIns="0" rtlCol="0" anchor="t"/>
          <a:lstStyle/>
          <a:p>
            <a:pPr indent="0" marL="0">
              <a:buNone/>
            </a:pPr>
            <a:r>
              <a:rPr lang="en-US" sz="1500" b="1" dirty="0">
                <a:solidFill>
                  <a:schemeClr val="bg1"/>
                </a:solidFill>
              </a:rPr>
              <a:t>Evidence</a:t>
            </a:r>
            <a:endParaRPr lang="en-US" sz="1500" dirty="0"/>
          </a:p>
        </p:txBody>
      </p:sp>
      <p:sp>
        <p:nvSpPr>
          <p:cNvPr id="55" name="Text 53"/>
          <p:cNvSpPr txBox="1"/>
          <p:nvPr/>
        </p:nvSpPr>
        <p:spPr>
          <a:xfrm>
            <a:off x="777240" y="5513832"/>
            <a:ext cx="2286000" cy="411480"/>
          </a:xfrm>
          <a:prstGeom prst="rect">
            <a:avLst/>
          </a:prstGeom>
          <a:noFill/>
          <a:ln/>
        </p:spPr>
        <p:txBody>
          <a:bodyPr wrap="square" lIns="0" tIns="0" rIns="0" bIns="0" rtlCol="0" anchor="t"/>
          <a:lstStyle/>
          <a:p>
            <a:pPr indent="0" marL="0">
              <a:buNone/>
            </a:pPr>
            <a:r>
              <a:rPr lang="en-US" sz="1200" dirty="0">
                <a:solidFill>
                  <a:schemeClr val="accent6"/>
                </a:solidFill>
              </a:rPr>
              <a:t>Claim-level provenance</a:t>
            </a:r>
            <a:endParaRPr lang="en-US" sz="1200" dirty="0"/>
          </a:p>
        </p:txBody>
      </p:sp>
      <p:sp>
        <p:nvSpPr>
          <p:cNvPr id="56" name="card"/>
          <p:cNvSpPr/>
          <p:nvPr/>
        </p:nvSpPr>
        <p:spPr>
          <a:xfrm>
            <a:off x="3355848" y="4983480"/>
            <a:ext cx="2651760" cy="1005840"/>
          </a:xfrm>
          <a:prstGeom prst="roundRect">
            <a:avLst>
              <a:gd name="adj" fmla="val 9091"/>
            </a:avLst>
          </a:prstGeom>
          <a:solidFill>
            <a:schemeClr val="tx2"/>
          </a:solidFill>
          <a:ln w="12700">
            <a:solidFill>
              <a:schemeClr val="accent2">
                <a:alpha val="38000"/>
              </a:schemeClr>
            </a:solidFill>
            <a:prstDash val="solid"/>
          </a:ln>
        </p:spPr>
      </p:sp>
      <p:sp>
        <p:nvSpPr>
          <p:cNvPr id="57" name="dot"/>
          <p:cNvSpPr/>
          <p:nvPr/>
        </p:nvSpPr>
        <p:spPr>
          <a:xfrm>
            <a:off x="3584448" y="5257800"/>
            <a:ext cx="146304" cy="146304"/>
          </a:xfrm>
          <a:prstGeom prst="ellipse">
            <a:avLst/>
          </a:prstGeom>
          <a:solidFill>
            <a:schemeClr val="accent3"/>
          </a:solidFill>
          <a:ln w="12700">
            <a:solidFill>
              <a:schemeClr val="accent3"/>
            </a:solidFill>
            <a:prstDash val="solid"/>
          </a:ln>
        </p:spPr>
      </p:sp>
      <p:sp>
        <p:nvSpPr>
          <p:cNvPr id="58" name="Text 56"/>
          <p:cNvSpPr txBox="1"/>
          <p:nvPr/>
        </p:nvSpPr>
        <p:spPr>
          <a:xfrm>
            <a:off x="3831336" y="5166360"/>
            <a:ext cx="2057400" cy="320040"/>
          </a:xfrm>
          <a:prstGeom prst="rect">
            <a:avLst/>
          </a:prstGeom>
          <a:noFill/>
          <a:ln/>
        </p:spPr>
        <p:txBody>
          <a:bodyPr wrap="square" lIns="0" tIns="0" rIns="0" bIns="0" rtlCol="0" anchor="t"/>
          <a:lstStyle/>
          <a:p>
            <a:pPr indent="0" marL="0">
              <a:buNone/>
            </a:pPr>
            <a:r>
              <a:rPr lang="en-US" sz="1500" b="1" dirty="0">
                <a:solidFill>
                  <a:schemeClr val="bg1"/>
                </a:solidFill>
              </a:rPr>
              <a:t>AttackPath</a:t>
            </a:r>
            <a:endParaRPr lang="en-US" sz="1500" dirty="0"/>
          </a:p>
        </p:txBody>
      </p:sp>
      <p:sp>
        <p:nvSpPr>
          <p:cNvPr id="59" name="Text 57"/>
          <p:cNvSpPr txBox="1"/>
          <p:nvPr/>
        </p:nvSpPr>
        <p:spPr>
          <a:xfrm>
            <a:off x="3584448" y="5513832"/>
            <a:ext cx="2286000" cy="411480"/>
          </a:xfrm>
          <a:prstGeom prst="rect">
            <a:avLst/>
          </a:prstGeom>
          <a:noFill/>
          <a:ln/>
        </p:spPr>
        <p:txBody>
          <a:bodyPr wrap="square" lIns="0" tIns="0" rIns="0" bIns="0" rtlCol="0" anchor="t"/>
          <a:lstStyle/>
          <a:p>
            <a:pPr indent="0" marL="0">
              <a:buNone/>
            </a:pPr>
            <a:r>
              <a:rPr lang="en-US" sz="1200" dirty="0">
                <a:solidFill>
                  <a:schemeClr val="accent6"/>
                </a:solidFill>
              </a:rPr>
              <a:t>Candidate or validated ordered path</a:t>
            </a:r>
            <a:endParaRPr lang="en-US" sz="1200" dirty="0"/>
          </a:p>
        </p:txBody>
      </p:sp>
      <p:sp>
        <p:nvSpPr>
          <p:cNvPr id="60" name="card"/>
          <p:cNvSpPr/>
          <p:nvPr/>
        </p:nvSpPr>
        <p:spPr>
          <a:xfrm>
            <a:off x="6163056" y="4983480"/>
            <a:ext cx="2651760" cy="1005840"/>
          </a:xfrm>
          <a:prstGeom prst="roundRect">
            <a:avLst>
              <a:gd name="adj" fmla="val 9091"/>
            </a:avLst>
          </a:prstGeom>
          <a:solidFill>
            <a:schemeClr val="tx2"/>
          </a:solidFill>
          <a:ln w="12700">
            <a:solidFill>
              <a:schemeClr val="accent2">
                <a:alpha val="38000"/>
              </a:schemeClr>
            </a:solidFill>
            <a:prstDash val="solid"/>
          </a:ln>
        </p:spPr>
      </p:sp>
      <p:sp>
        <p:nvSpPr>
          <p:cNvPr id="61" name="dot"/>
          <p:cNvSpPr/>
          <p:nvPr/>
        </p:nvSpPr>
        <p:spPr>
          <a:xfrm>
            <a:off x="6391656" y="5257800"/>
            <a:ext cx="146304" cy="146304"/>
          </a:xfrm>
          <a:prstGeom prst="ellipse">
            <a:avLst/>
          </a:prstGeom>
          <a:solidFill>
            <a:schemeClr val="accent5"/>
          </a:solidFill>
          <a:ln w="12700">
            <a:solidFill>
              <a:schemeClr val="accent5"/>
            </a:solidFill>
            <a:prstDash val="solid"/>
          </a:ln>
        </p:spPr>
      </p:sp>
      <p:sp>
        <p:nvSpPr>
          <p:cNvPr id="62" name="Text 60"/>
          <p:cNvSpPr txBox="1"/>
          <p:nvPr/>
        </p:nvSpPr>
        <p:spPr>
          <a:xfrm>
            <a:off x="6638544" y="5166360"/>
            <a:ext cx="2057400" cy="320040"/>
          </a:xfrm>
          <a:prstGeom prst="rect">
            <a:avLst/>
          </a:prstGeom>
          <a:noFill/>
          <a:ln/>
        </p:spPr>
        <p:txBody>
          <a:bodyPr wrap="square" lIns="0" tIns="0" rIns="0" bIns="0" rtlCol="0" anchor="t"/>
          <a:lstStyle/>
          <a:p>
            <a:pPr indent="0" marL="0">
              <a:buNone/>
            </a:pPr>
            <a:r>
              <a:rPr lang="en-US" sz="1500" b="1" dirty="0">
                <a:solidFill>
                  <a:schemeClr val="bg1"/>
                </a:solidFill>
              </a:rPr>
              <a:t>Remediation</a:t>
            </a:r>
            <a:endParaRPr lang="en-US" sz="1500" dirty="0"/>
          </a:p>
        </p:txBody>
      </p:sp>
      <p:sp>
        <p:nvSpPr>
          <p:cNvPr id="63" name="Text 61"/>
          <p:cNvSpPr txBox="1"/>
          <p:nvPr/>
        </p:nvSpPr>
        <p:spPr>
          <a:xfrm>
            <a:off x="6391656" y="5513832"/>
            <a:ext cx="2286000" cy="411480"/>
          </a:xfrm>
          <a:prstGeom prst="rect">
            <a:avLst/>
          </a:prstGeom>
          <a:noFill/>
          <a:ln/>
        </p:spPr>
        <p:txBody>
          <a:bodyPr wrap="square" lIns="0" tIns="0" rIns="0" bIns="0" rtlCol="0" anchor="t"/>
          <a:lstStyle/>
          <a:p>
            <a:pPr indent="0" marL="0">
              <a:buNone/>
            </a:pPr>
            <a:r>
              <a:rPr lang="en-US" sz="1200" dirty="0">
                <a:solidFill>
                  <a:schemeClr val="accent6"/>
                </a:solidFill>
              </a:rPr>
              <a:t>Proposed or applied change</a:t>
            </a:r>
            <a:endParaRPr lang="en-US" sz="1200" dirty="0"/>
          </a:p>
        </p:txBody>
      </p:sp>
      <p:sp>
        <p:nvSpPr>
          <p:cNvPr id="64" name="card"/>
          <p:cNvSpPr/>
          <p:nvPr/>
        </p:nvSpPr>
        <p:spPr>
          <a:xfrm>
            <a:off x="8970264" y="4983480"/>
            <a:ext cx="2651760" cy="1005840"/>
          </a:xfrm>
          <a:prstGeom prst="roundRect">
            <a:avLst>
              <a:gd name="adj" fmla="val 9091"/>
            </a:avLst>
          </a:prstGeom>
          <a:solidFill>
            <a:schemeClr val="tx2"/>
          </a:solidFill>
          <a:ln w="12700">
            <a:solidFill>
              <a:schemeClr val="accent2">
                <a:alpha val="38000"/>
              </a:schemeClr>
            </a:solidFill>
            <a:prstDash val="solid"/>
          </a:ln>
        </p:spPr>
      </p:sp>
      <p:sp>
        <p:nvSpPr>
          <p:cNvPr id="65" name="dot"/>
          <p:cNvSpPr/>
          <p:nvPr/>
        </p:nvSpPr>
        <p:spPr>
          <a:xfrm>
            <a:off x="9198864" y="5257800"/>
            <a:ext cx="146304" cy="146304"/>
          </a:xfrm>
          <a:prstGeom prst="ellipse">
            <a:avLst/>
          </a:prstGeom>
          <a:solidFill>
            <a:schemeClr val="accent5"/>
          </a:solidFill>
          <a:ln w="12700">
            <a:solidFill>
              <a:schemeClr val="accent5"/>
            </a:solidFill>
            <a:prstDash val="solid"/>
          </a:ln>
        </p:spPr>
      </p:sp>
      <p:sp>
        <p:nvSpPr>
          <p:cNvPr id="66" name="Text 64"/>
          <p:cNvSpPr txBox="1"/>
          <p:nvPr/>
        </p:nvSpPr>
        <p:spPr>
          <a:xfrm>
            <a:off x="9445752" y="5166360"/>
            <a:ext cx="2057400" cy="320040"/>
          </a:xfrm>
          <a:prstGeom prst="rect">
            <a:avLst/>
          </a:prstGeom>
          <a:noFill/>
          <a:ln/>
        </p:spPr>
        <p:txBody>
          <a:bodyPr wrap="square" lIns="0" tIns="0" rIns="0" bIns="0" rtlCol="0" anchor="t"/>
          <a:lstStyle/>
          <a:p>
            <a:pPr indent="0" marL="0">
              <a:buNone/>
            </a:pPr>
            <a:r>
              <a:rPr lang="en-US" sz="1500" b="1" dirty="0">
                <a:solidFill>
                  <a:schemeClr val="bg1"/>
                </a:solidFill>
              </a:rPr>
              <a:t>VerificationRun</a:t>
            </a:r>
            <a:endParaRPr lang="en-US" sz="1500" dirty="0"/>
          </a:p>
        </p:txBody>
      </p:sp>
      <p:sp>
        <p:nvSpPr>
          <p:cNvPr id="67" name="Text 65"/>
          <p:cNvSpPr txBox="1"/>
          <p:nvPr/>
        </p:nvSpPr>
        <p:spPr>
          <a:xfrm>
            <a:off x="9198864" y="5513832"/>
            <a:ext cx="2286000" cy="411480"/>
          </a:xfrm>
          <a:prstGeom prst="rect">
            <a:avLst/>
          </a:prstGeom>
          <a:noFill/>
          <a:ln/>
        </p:spPr>
        <p:txBody>
          <a:bodyPr wrap="square" lIns="0" tIns="0" rIns="0" bIns="0" rtlCol="0" anchor="t"/>
          <a:lstStyle/>
          <a:p>
            <a:pPr indent="0" marL="0">
              <a:buNone/>
            </a:pPr>
            <a:r>
              <a:rPr lang="en-US" sz="1200" dirty="0">
                <a:solidFill>
                  <a:schemeClr val="accent6"/>
                </a:solidFill>
              </a:rPr>
              <a:t>Retest and regression evidence</a:t>
            </a:r>
            <a:endParaRPr lang="en-US" sz="1200" dirty="0"/>
          </a:p>
        </p:txBody>
      </p:sp>
      <p:sp>
        <p:nvSpPr>
          <p:cNvPr id="68" name="Text 66"/>
          <p:cNvSpPr txBox="1"/>
          <p:nvPr/>
        </p:nvSpPr>
        <p:spPr>
          <a:xfrm>
            <a:off x="548640" y="6172200"/>
            <a:ext cx="10972800" cy="228600"/>
          </a:xfrm>
          <a:prstGeom prst="rect">
            <a:avLst/>
          </a:prstGeom>
          <a:noFill/>
          <a:ln/>
        </p:spPr>
        <p:txBody>
          <a:bodyPr wrap="square" lIns="0" tIns="0" rIns="0" bIns="0" rtlCol="0" anchor="t"/>
          <a:lstStyle/>
          <a:p>
            <a:pPr indent="0" marL="0">
              <a:buNone/>
            </a:pPr>
            <a:r>
              <a:rPr lang="en-US" sz="1100" i="1" dirty="0">
                <a:solidFill>
                  <a:schemeClr val="accent6"/>
                </a:solidFill>
              </a:rPr>
              <a:t>Team / User nodes carry ownership and approvals only — sensitive identity details stay in the auth system.</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RELATIONSHIP SEMANTICS</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Every edge carries meaning — and a safeguard</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651760"/>
                <a:gridCol w="3840480"/>
                <a:gridCol w="4572000"/>
              </a:tblGrid>
              <a:tr h="658368">
                <a:tc>
                  <a:txBody>
                    <a:bodyPr/>
                    <a:lstStyle/>
                    <a:p>
                      <a:pPr indent="0" marL="0">
                        <a:buNone/>
                      </a:pPr>
                      <a:r>
                        <a:rPr lang="en-US" sz="1300" b="1" dirty="0">
                          <a:solidFill>
                            <a:schemeClr val="accent1"/>
                          </a:solidFill>
                        </a:rPr>
                        <a:t>Relationship</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300" b="1" dirty="0">
                          <a:solidFill>
                            <a:schemeClr val="accent1"/>
                          </a:solidFill>
                        </a:rPr>
                        <a:t>Meaning</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300" b="1" dirty="0">
                          <a:solidFill>
                            <a:schemeClr val="accent1"/>
                          </a:solidFill>
                        </a:rPr>
                        <a:t>Required safeguards</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65836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CAN_INVOKE</a:t>
                      </a:r>
                      <a:endParaRPr lang="en-US" sz="1300" dirty="0">
                        <a:latin typeface="Courier New" charset="0"/>
                        <a:ea typeface="Courier New" charset="0"/>
                        <a:cs typeface="Courier New" charset="0"/>
                      </a:endParaRPr>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Agent is configured or observed to call a tool</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Record whether declared, observed or inferred</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65836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CAN_ACCESS</a:t>
                      </a:r>
                      <a:endParaRPr lang="en-US" sz="1300" dirty="0">
                        <a:latin typeface="Courier New" charset="0"/>
                        <a:ea typeface="Courier New" charset="0"/>
                        <a:cs typeface="Courier New" charset="0"/>
                      </a:endParaRPr>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Permission permits access to a resource</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Store source, scope and validation status; never claim reachability from a name alone</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65836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AFFECTED_BY</a:t>
                      </a:r>
                      <a:endParaRPr lang="en-US" sz="1300" dirty="0">
                        <a:latin typeface="Courier New" charset="0"/>
                        <a:ea typeface="Courier New" charset="0"/>
                        <a:cs typeface="Courier New" charset="0"/>
                      </a:endParaRPr>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Package version matches an advisory's affected range</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Deterministic version-range checks and advisory provenance</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65836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SUPPORTED_BY</a:t>
                      </a:r>
                      <a:endParaRPr lang="en-US" sz="1300" dirty="0">
                        <a:latin typeface="Courier New" charset="0"/>
                        <a:ea typeface="Courier New" charset="0"/>
                        <a:cs typeface="Courier New" charset="0"/>
                      </a:endParaRPr>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Evidence supports a particular finding claim</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Evidence must identify the specific claim and source</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65836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HAS_CANDIDATE_PATH</a:t>
                      </a:r>
                      <a:endParaRPr lang="en-US" sz="1300" dirty="0">
                        <a:latin typeface="Courier New" charset="0"/>
                        <a:ea typeface="Courier New" charset="0"/>
                        <a:cs typeface="Courier New" charset="0"/>
                      </a:endParaRPr>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Finding is associated with a possible path</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Label candidate / tested / validated / disproven — path existence is never exploit proof</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65836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REMEDIATED_BY</a:t>
                      </a:r>
                      <a:endParaRPr lang="en-US" sz="1300" dirty="0">
                        <a:latin typeface="Courier New" charset="0"/>
                        <a:ea typeface="Courier New" charset="0"/>
                        <a:cs typeface="Courier New" charset="0"/>
                      </a:endParaRPr>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Change intended to address the finding or break a path</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Track the exact proposal and verification run</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06 · CORE RELATIONAL TABLES</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PostgreSQL for transactions, FalkorDB for truth</a:t>
            </a:r>
            <a:endParaRPr lang="en-US" sz="3200" dirty="0"/>
          </a:p>
        </p:txBody>
      </p:sp>
      <p:sp>
        <p:nvSpPr>
          <p:cNvPr id="4" name="card"/>
          <p:cNvSpPr/>
          <p:nvPr/>
        </p:nvSpPr>
        <p:spPr>
          <a:xfrm>
            <a:off x="548640" y="1572768"/>
            <a:ext cx="2286000" cy="804672"/>
          </a:xfrm>
          <a:prstGeom prst="roundRect">
            <a:avLst>
              <a:gd name="adj" fmla="val 11364"/>
            </a:avLst>
          </a:prstGeom>
          <a:solidFill>
            <a:schemeClr val="tx2"/>
          </a:solidFill>
          <a:ln w="12700">
            <a:solidFill>
              <a:schemeClr val="accent2">
                <a:alpha val="38000"/>
              </a:schemeClr>
            </a:solidFill>
            <a:prstDash val="solid"/>
          </a:ln>
        </p:spPr>
      </p:sp>
      <p:sp>
        <p:nvSpPr>
          <p:cNvPr id="5" name="Text 3"/>
          <p:cNvSpPr txBox="1"/>
          <p:nvPr/>
        </p:nvSpPr>
        <p:spPr>
          <a:xfrm>
            <a:off x="713232" y="1682496"/>
            <a:ext cx="20116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tenants</a:t>
            </a:r>
            <a:endParaRPr lang="en-US" sz="1200" dirty="0"/>
          </a:p>
        </p:txBody>
      </p:sp>
      <p:sp>
        <p:nvSpPr>
          <p:cNvPr id="6" name="Text 4"/>
          <p:cNvSpPr txBox="1"/>
          <p:nvPr/>
        </p:nvSpPr>
        <p:spPr>
          <a:xfrm>
            <a:off x="713232" y="1993392"/>
            <a:ext cx="2057400" cy="320040"/>
          </a:xfrm>
          <a:prstGeom prst="rect">
            <a:avLst/>
          </a:prstGeom>
          <a:noFill/>
          <a:ln/>
        </p:spPr>
        <p:txBody>
          <a:bodyPr wrap="square" lIns="0" tIns="0" rIns="0" bIns="0" rtlCol="0" anchor="t"/>
          <a:lstStyle/>
          <a:p>
            <a:pPr indent="0" marL="0">
              <a:buNone/>
            </a:pPr>
            <a:r>
              <a:rPr lang="en-US" sz="1200" dirty="0">
                <a:solidFill>
                  <a:schemeClr val="bg2"/>
                </a:solidFill>
              </a:rPr>
              <a:t>Organization boundary</a:t>
            </a:r>
            <a:endParaRPr lang="en-US" sz="1200" dirty="0"/>
          </a:p>
        </p:txBody>
      </p:sp>
      <p:sp>
        <p:nvSpPr>
          <p:cNvPr id="7" name="card"/>
          <p:cNvSpPr/>
          <p:nvPr/>
        </p:nvSpPr>
        <p:spPr>
          <a:xfrm>
            <a:off x="2944368" y="1572768"/>
            <a:ext cx="2286000" cy="804672"/>
          </a:xfrm>
          <a:prstGeom prst="roundRect">
            <a:avLst>
              <a:gd name="adj" fmla="val 11364"/>
            </a:avLst>
          </a:prstGeom>
          <a:solidFill>
            <a:schemeClr val="tx2"/>
          </a:solidFill>
          <a:ln w="12700">
            <a:solidFill>
              <a:schemeClr val="accent2">
                <a:alpha val="38000"/>
              </a:schemeClr>
            </a:solidFill>
            <a:prstDash val="solid"/>
          </a:ln>
        </p:spPr>
      </p:sp>
      <p:sp>
        <p:nvSpPr>
          <p:cNvPr id="8" name="Text 6"/>
          <p:cNvSpPr txBox="1"/>
          <p:nvPr/>
        </p:nvSpPr>
        <p:spPr>
          <a:xfrm>
            <a:off x="3108960" y="1682496"/>
            <a:ext cx="20116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users</a:t>
            </a:r>
            <a:endParaRPr lang="en-US" sz="1200" dirty="0"/>
          </a:p>
        </p:txBody>
      </p:sp>
      <p:sp>
        <p:nvSpPr>
          <p:cNvPr id="9" name="Text 7"/>
          <p:cNvSpPr txBox="1"/>
          <p:nvPr/>
        </p:nvSpPr>
        <p:spPr>
          <a:xfrm>
            <a:off x="3108960" y="1993392"/>
            <a:ext cx="2057400" cy="320040"/>
          </a:xfrm>
          <a:prstGeom prst="rect">
            <a:avLst/>
          </a:prstGeom>
          <a:noFill/>
          <a:ln/>
        </p:spPr>
        <p:txBody>
          <a:bodyPr wrap="square" lIns="0" tIns="0" rIns="0" bIns="0" rtlCol="0" anchor="t"/>
          <a:lstStyle/>
          <a:p>
            <a:pPr indent="0" marL="0">
              <a:buNone/>
            </a:pPr>
            <a:r>
              <a:rPr lang="en-US" sz="1200" dirty="0">
                <a:solidFill>
                  <a:schemeClr val="bg2"/>
                </a:solidFill>
              </a:rPr>
              <a:t>External IdP; minimal PII</a:t>
            </a:r>
            <a:endParaRPr lang="en-US" sz="1200" dirty="0"/>
          </a:p>
        </p:txBody>
      </p:sp>
      <p:sp>
        <p:nvSpPr>
          <p:cNvPr id="10" name="card"/>
          <p:cNvSpPr/>
          <p:nvPr/>
        </p:nvSpPr>
        <p:spPr>
          <a:xfrm>
            <a:off x="5340096" y="1572768"/>
            <a:ext cx="2286000" cy="804672"/>
          </a:xfrm>
          <a:prstGeom prst="roundRect">
            <a:avLst>
              <a:gd name="adj" fmla="val 11364"/>
            </a:avLst>
          </a:prstGeom>
          <a:solidFill>
            <a:schemeClr val="tx2"/>
          </a:solidFill>
          <a:ln w="12700">
            <a:solidFill>
              <a:schemeClr val="accent2">
                <a:alpha val="38000"/>
              </a:schemeClr>
            </a:solidFill>
            <a:prstDash val="solid"/>
          </a:ln>
        </p:spPr>
      </p:sp>
      <p:sp>
        <p:nvSpPr>
          <p:cNvPr id="11" name="Text 9"/>
          <p:cNvSpPr txBox="1"/>
          <p:nvPr/>
        </p:nvSpPr>
        <p:spPr>
          <a:xfrm>
            <a:off x="5504688" y="1682496"/>
            <a:ext cx="20116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memberships</a:t>
            </a:r>
            <a:endParaRPr lang="en-US" sz="1200" dirty="0"/>
          </a:p>
        </p:txBody>
      </p:sp>
      <p:sp>
        <p:nvSpPr>
          <p:cNvPr id="12" name="Text 10"/>
          <p:cNvSpPr txBox="1"/>
          <p:nvPr/>
        </p:nvSpPr>
        <p:spPr>
          <a:xfrm>
            <a:off x="5504688" y="1993392"/>
            <a:ext cx="2057400" cy="320040"/>
          </a:xfrm>
          <a:prstGeom prst="rect">
            <a:avLst/>
          </a:prstGeom>
          <a:noFill/>
          <a:ln/>
        </p:spPr>
        <p:txBody>
          <a:bodyPr wrap="square" lIns="0" tIns="0" rIns="0" bIns="0" rtlCol="0" anchor="t"/>
          <a:lstStyle/>
          <a:p>
            <a:pPr indent="0" marL="0">
              <a:buNone/>
            </a:pPr>
            <a:r>
              <a:rPr lang="en-US" sz="1200" dirty="0">
                <a:solidFill>
                  <a:schemeClr val="bg2"/>
                </a:solidFill>
              </a:rPr>
              <a:t>Tenant role assignment</a:t>
            </a:r>
            <a:endParaRPr lang="en-US" sz="1200" dirty="0"/>
          </a:p>
        </p:txBody>
      </p:sp>
      <p:sp>
        <p:nvSpPr>
          <p:cNvPr id="13" name="card"/>
          <p:cNvSpPr/>
          <p:nvPr/>
        </p:nvSpPr>
        <p:spPr>
          <a:xfrm>
            <a:off x="548640" y="2487168"/>
            <a:ext cx="2286000" cy="804672"/>
          </a:xfrm>
          <a:prstGeom prst="roundRect">
            <a:avLst>
              <a:gd name="adj" fmla="val 11364"/>
            </a:avLst>
          </a:prstGeom>
          <a:solidFill>
            <a:schemeClr val="tx2"/>
          </a:solidFill>
          <a:ln w="12700">
            <a:solidFill>
              <a:schemeClr val="accent2">
                <a:alpha val="38000"/>
              </a:schemeClr>
            </a:solidFill>
            <a:prstDash val="solid"/>
          </a:ln>
        </p:spPr>
      </p:sp>
      <p:sp>
        <p:nvSpPr>
          <p:cNvPr id="14" name="Text 12"/>
          <p:cNvSpPr txBox="1"/>
          <p:nvPr/>
        </p:nvSpPr>
        <p:spPr>
          <a:xfrm>
            <a:off x="713232" y="2596896"/>
            <a:ext cx="20116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projects</a:t>
            </a:r>
            <a:endParaRPr lang="en-US" sz="1200" dirty="0"/>
          </a:p>
        </p:txBody>
      </p:sp>
      <p:sp>
        <p:nvSpPr>
          <p:cNvPr id="15" name="Text 13"/>
          <p:cNvSpPr txBox="1"/>
          <p:nvPr/>
        </p:nvSpPr>
        <p:spPr>
          <a:xfrm>
            <a:off x="713232" y="2907792"/>
            <a:ext cx="2057400" cy="320040"/>
          </a:xfrm>
          <a:prstGeom prst="rect">
            <a:avLst/>
          </a:prstGeom>
          <a:noFill/>
          <a:ln/>
        </p:spPr>
        <p:txBody>
          <a:bodyPr wrap="square" lIns="0" tIns="0" rIns="0" bIns="0" rtlCol="0" anchor="t"/>
          <a:lstStyle/>
          <a:p>
            <a:pPr indent="0" marL="0">
              <a:buNone/>
            </a:pPr>
            <a:r>
              <a:rPr lang="en-US" sz="1200" dirty="0">
                <a:solidFill>
                  <a:schemeClr val="bg2"/>
                </a:solidFill>
              </a:rPr>
              <a:t>Settings and scope</a:t>
            </a:r>
            <a:endParaRPr lang="en-US" sz="1200" dirty="0"/>
          </a:p>
        </p:txBody>
      </p:sp>
      <p:sp>
        <p:nvSpPr>
          <p:cNvPr id="16" name="card"/>
          <p:cNvSpPr/>
          <p:nvPr/>
        </p:nvSpPr>
        <p:spPr>
          <a:xfrm>
            <a:off x="2944368" y="2487168"/>
            <a:ext cx="2286000" cy="804672"/>
          </a:xfrm>
          <a:prstGeom prst="roundRect">
            <a:avLst>
              <a:gd name="adj" fmla="val 11364"/>
            </a:avLst>
          </a:prstGeom>
          <a:solidFill>
            <a:schemeClr val="tx2"/>
          </a:solidFill>
          <a:ln w="12700">
            <a:solidFill>
              <a:schemeClr val="accent2">
                <a:alpha val="38000"/>
              </a:schemeClr>
            </a:solidFill>
            <a:prstDash val="solid"/>
          </a:ln>
        </p:spPr>
      </p:sp>
      <p:sp>
        <p:nvSpPr>
          <p:cNvPr id="17" name="Text 15"/>
          <p:cNvSpPr txBox="1"/>
          <p:nvPr/>
        </p:nvSpPr>
        <p:spPr>
          <a:xfrm>
            <a:off x="3108960" y="2596896"/>
            <a:ext cx="20116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integrations</a:t>
            </a:r>
            <a:endParaRPr lang="en-US" sz="1200" dirty="0"/>
          </a:p>
        </p:txBody>
      </p:sp>
      <p:sp>
        <p:nvSpPr>
          <p:cNvPr id="18" name="Text 16"/>
          <p:cNvSpPr txBox="1"/>
          <p:nvPr/>
        </p:nvSpPr>
        <p:spPr>
          <a:xfrm>
            <a:off x="3108960" y="2907792"/>
            <a:ext cx="2057400" cy="320040"/>
          </a:xfrm>
          <a:prstGeom prst="rect">
            <a:avLst/>
          </a:prstGeom>
          <a:noFill/>
          <a:ln/>
        </p:spPr>
        <p:txBody>
          <a:bodyPr wrap="square" lIns="0" tIns="0" rIns="0" bIns="0" rtlCol="0" anchor="t"/>
          <a:lstStyle/>
          <a:p>
            <a:pPr indent="0" marL="0">
              <a:buNone/>
            </a:pPr>
            <a:r>
              <a:rPr lang="en-US" sz="1200" dirty="0">
                <a:solidFill>
                  <a:schemeClr val="bg2"/>
                </a:solidFill>
              </a:rPr>
              <a:t>Secret-manager ref, not secret</a:t>
            </a:r>
            <a:endParaRPr lang="en-US" sz="1200" dirty="0"/>
          </a:p>
        </p:txBody>
      </p:sp>
      <p:sp>
        <p:nvSpPr>
          <p:cNvPr id="19" name="card"/>
          <p:cNvSpPr/>
          <p:nvPr/>
        </p:nvSpPr>
        <p:spPr>
          <a:xfrm>
            <a:off x="5340096" y="2487168"/>
            <a:ext cx="2286000" cy="804672"/>
          </a:xfrm>
          <a:prstGeom prst="roundRect">
            <a:avLst>
              <a:gd name="adj" fmla="val 11364"/>
            </a:avLst>
          </a:prstGeom>
          <a:solidFill>
            <a:schemeClr val="tx2"/>
          </a:solidFill>
          <a:ln w="12700">
            <a:solidFill>
              <a:schemeClr val="accent2">
                <a:alpha val="38000"/>
              </a:schemeClr>
            </a:solidFill>
            <a:prstDash val="solid"/>
          </a:ln>
        </p:spPr>
      </p:sp>
      <p:sp>
        <p:nvSpPr>
          <p:cNvPr id="20" name="Text 18"/>
          <p:cNvSpPr txBox="1"/>
          <p:nvPr/>
        </p:nvSpPr>
        <p:spPr>
          <a:xfrm>
            <a:off x="5504688" y="2596896"/>
            <a:ext cx="20116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scan_runs</a:t>
            </a:r>
            <a:endParaRPr lang="en-US" sz="1200" dirty="0"/>
          </a:p>
        </p:txBody>
      </p:sp>
      <p:sp>
        <p:nvSpPr>
          <p:cNvPr id="21" name="Text 19"/>
          <p:cNvSpPr txBox="1"/>
          <p:nvPr/>
        </p:nvSpPr>
        <p:spPr>
          <a:xfrm>
            <a:off x="5504688" y="2907792"/>
            <a:ext cx="2057400" cy="320040"/>
          </a:xfrm>
          <a:prstGeom prst="rect">
            <a:avLst/>
          </a:prstGeom>
          <a:noFill/>
          <a:ln/>
        </p:spPr>
        <p:txBody>
          <a:bodyPr wrap="square" lIns="0" tIns="0" rIns="0" bIns="0" rtlCol="0" anchor="t"/>
          <a:lstStyle/>
          <a:p>
            <a:pPr indent="0" marL="0">
              <a:buNone/>
            </a:pPr>
            <a:r>
              <a:rPr lang="en-US" sz="1200" dirty="0">
                <a:solidFill>
                  <a:schemeClr val="bg2"/>
                </a:solidFill>
              </a:rPr>
              <a:t>Immutable run metadata</a:t>
            </a:r>
            <a:endParaRPr lang="en-US" sz="1200" dirty="0"/>
          </a:p>
        </p:txBody>
      </p:sp>
      <p:sp>
        <p:nvSpPr>
          <p:cNvPr id="22" name="card"/>
          <p:cNvSpPr/>
          <p:nvPr/>
        </p:nvSpPr>
        <p:spPr>
          <a:xfrm>
            <a:off x="548640" y="3401568"/>
            <a:ext cx="2286000" cy="804672"/>
          </a:xfrm>
          <a:prstGeom prst="roundRect">
            <a:avLst>
              <a:gd name="adj" fmla="val 11364"/>
            </a:avLst>
          </a:prstGeom>
          <a:solidFill>
            <a:schemeClr val="tx2"/>
          </a:solidFill>
          <a:ln w="12700">
            <a:solidFill>
              <a:schemeClr val="accent2">
                <a:alpha val="38000"/>
              </a:schemeClr>
            </a:solidFill>
            <a:prstDash val="solid"/>
          </a:ln>
        </p:spPr>
      </p:sp>
      <p:sp>
        <p:nvSpPr>
          <p:cNvPr id="23" name="Text 21"/>
          <p:cNvSpPr txBox="1"/>
          <p:nvPr/>
        </p:nvSpPr>
        <p:spPr>
          <a:xfrm>
            <a:off x="713232" y="3511296"/>
            <a:ext cx="20116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findings</a:t>
            </a:r>
            <a:endParaRPr lang="en-US" sz="1200" dirty="0"/>
          </a:p>
        </p:txBody>
      </p:sp>
      <p:sp>
        <p:nvSpPr>
          <p:cNvPr id="24" name="Text 22"/>
          <p:cNvSpPr txBox="1"/>
          <p:nvPr/>
        </p:nvSpPr>
        <p:spPr>
          <a:xfrm>
            <a:off x="713232" y="3822192"/>
            <a:ext cx="2057400" cy="320040"/>
          </a:xfrm>
          <a:prstGeom prst="rect">
            <a:avLst/>
          </a:prstGeom>
          <a:noFill/>
          <a:ln/>
        </p:spPr>
        <p:txBody>
          <a:bodyPr wrap="square" lIns="0" tIns="0" rIns="0" bIns="0" rtlCol="0" anchor="t"/>
          <a:lstStyle/>
          <a:p>
            <a:pPr indent="0" marL="0">
              <a:buNone/>
            </a:pPr>
            <a:r>
              <a:rPr lang="en-US" sz="1200" dirty="0">
                <a:solidFill>
                  <a:schemeClr val="bg2"/>
                </a:solidFill>
              </a:rPr>
              <a:t>UI index; links graph_node_id</a:t>
            </a:r>
            <a:endParaRPr lang="en-US" sz="1200" dirty="0"/>
          </a:p>
        </p:txBody>
      </p:sp>
      <p:sp>
        <p:nvSpPr>
          <p:cNvPr id="25" name="card"/>
          <p:cNvSpPr/>
          <p:nvPr/>
        </p:nvSpPr>
        <p:spPr>
          <a:xfrm>
            <a:off x="2944368" y="3401568"/>
            <a:ext cx="2286000" cy="804672"/>
          </a:xfrm>
          <a:prstGeom prst="roundRect">
            <a:avLst>
              <a:gd name="adj" fmla="val 11364"/>
            </a:avLst>
          </a:prstGeom>
          <a:solidFill>
            <a:schemeClr val="tx2"/>
          </a:solidFill>
          <a:ln w="12700">
            <a:solidFill>
              <a:schemeClr val="accent2">
                <a:alpha val="38000"/>
              </a:schemeClr>
            </a:solidFill>
            <a:prstDash val="solid"/>
          </a:ln>
        </p:spPr>
      </p:sp>
      <p:sp>
        <p:nvSpPr>
          <p:cNvPr id="26" name="Text 24"/>
          <p:cNvSpPr txBox="1"/>
          <p:nvPr/>
        </p:nvSpPr>
        <p:spPr>
          <a:xfrm>
            <a:off x="3108960" y="3511296"/>
            <a:ext cx="20116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observations</a:t>
            </a:r>
            <a:endParaRPr lang="en-US" sz="1200" dirty="0"/>
          </a:p>
        </p:txBody>
      </p:sp>
      <p:sp>
        <p:nvSpPr>
          <p:cNvPr id="27" name="Text 25"/>
          <p:cNvSpPr txBox="1"/>
          <p:nvPr/>
        </p:nvSpPr>
        <p:spPr>
          <a:xfrm>
            <a:off x="3108960" y="3822192"/>
            <a:ext cx="2057400" cy="320040"/>
          </a:xfrm>
          <a:prstGeom prst="rect">
            <a:avLst/>
          </a:prstGeom>
          <a:noFill/>
          <a:ln/>
        </p:spPr>
        <p:txBody>
          <a:bodyPr wrap="square" lIns="0" tIns="0" rIns="0" bIns="0" rtlCol="0" anchor="t"/>
          <a:lstStyle/>
          <a:p>
            <a:pPr indent="0" marL="0">
              <a:buNone/>
            </a:pPr>
            <a:r>
              <a:rPr lang="en-US" sz="1200" dirty="0">
                <a:solidFill>
                  <a:schemeClr val="bg2"/>
                </a:solidFill>
              </a:rPr>
              <a:t>Many per finding</a:t>
            </a:r>
            <a:endParaRPr lang="en-US" sz="1200" dirty="0"/>
          </a:p>
        </p:txBody>
      </p:sp>
      <p:sp>
        <p:nvSpPr>
          <p:cNvPr id="28" name="card"/>
          <p:cNvSpPr/>
          <p:nvPr/>
        </p:nvSpPr>
        <p:spPr>
          <a:xfrm>
            <a:off x="5340096" y="3401568"/>
            <a:ext cx="2286000" cy="804672"/>
          </a:xfrm>
          <a:prstGeom prst="roundRect">
            <a:avLst>
              <a:gd name="adj" fmla="val 11364"/>
            </a:avLst>
          </a:prstGeom>
          <a:solidFill>
            <a:schemeClr val="tx2"/>
          </a:solidFill>
          <a:ln w="12700">
            <a:solidFill>
              <a:schemeClr val="accent2">
                <a:alpha val="38000"/>
              </a:schemeClr>
            </a:solidFill>
            <a:prstDash val="solid"/>
          </a:ln>
        </p:spPr>
      </p:sp>
      <p:sp>
        <p:nvSpPr>
          <p:cNvPr id="29" name="Text 27"/>
          <p:cNvSpPr txBox="1"/>
          <p:nvPr/>
        </p:nvSpPr>
        <p:spPr>
          <a:xfrm>
            <a:off x="5504688" y="3511296"/>
            <a:ext cx="20116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evidence</a:t>
            </a:r>
            <a:endParaRPr lang="en-US" sz="1200" dirty="0"/>
          </a:p>
        </p:txBody>
      </p:sp>
      <p:sp>
        <p:nvSpPr>
          <p:cNvPr id="30" name="Text 28"/>
          <p:cNvSpPr txBox="1"/>
          <p:nvPr/>
        </p:nvSpPr>
        <p:spPr>
          <a:xfrm>
            <a:off x="5504688" y="3822192"/>
            <a:ext cx="2057400" cy="320040"/>
          </a:xfrm>
          <a:prstGeom prst="rect">
            <a:avLst/>
          </a:prstGeom>
          <a:noFill/>
          <a:ln/>
        </p:spPr>
        <p:txBody>
          <a:bodyPr wrap="square" lIns="0" tIns="0" rIns="0" bIns="0" rtlCol="0" anchor="t"/>
          <a:lstStyle/>
          <a:p>
            <a:pPr indent="0" marL="0">
              <a:buNone/>
            </a:pPr>
            <a:r>
              <a:rPr lang="en-US" sz="1200" dirty="0">
                <a:solidFill>
                  <a:schemeClr val="bg2"/>
                </a:solidFill>
              </a:rPr>
              <a:t>Claim-level provenance</a:t>
            </a:r>
            <a:endParaRPr lang="en-US" sz="1200" dirty="0"/>
          </a:p>
        </p:txBody>
      </p:sp>
      <p:sp>
        <p:nvSpPr>
          <p:cNvPr id="31" name="card"/>
          <p:cNvSpPr/>
          <p:nvPr/>
        </p:nvSpPr>
        <p:spPr>
          <a:xfrm>
            <a:off x="548640" y="4315968"/>
            <a:ext cx="2286000" cy="804672"/>
          </a:xfrm>
          <a:prstGeom prst="roundRect">
            <a:avLst>
              <a:gd name="adj" fmla="val 11364"/>
            </a:avLst>
          </a:prstGeom>
          <a:solidFill>
            <a:schemeClr val="tx2"/>
          </a:solidFill>
          <a:ln w="12700">
            <a:solidFill>
              <a:schemeClr val="accent2">
                <a:alpha val="38000"/>
              </a:schemeClr>
            </a:solidFill>
            <a:prstDash val="solid"/>
          </a:ln>
        </p:spPr>
      </p:sp>
      <p:sp>
        <p:nvSpPr>
          <p:cNvPr id="32" name="Text 30"/>
          <p:cNvSpPr txBox="1"/>
          <p:nvPr/>
        </p:nvSpPr>
        <p:spPr>
          <a:xfrm>
            <a:off x="713232" y="4425696"/>
            <a:ext cx="20116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remediations</a:t>
            </a:r>
            <a:endParaRPr lang="en-US" sz="1200" dirty="0"/>
          </a:p>
        </p:txBody>
      </p:sp>
      <p:sp>
        <p:nvSpPr>
          <p:cNvPr id="33" name="Text 31"/>
          <p:cNvSpPr txBox="1"/>
          <p:nvPr/>
        </p:nvSpPr>
        <p:spPr>
          <a:xfrm>
            <a:off x="713232" y="4736592"/>
            <a:ext cx="2057400" cy="320040"/>
          </a:xfrm>
          <a:prstGeom prst="rect">
            <a:avLst/>
          </a:prstGeom>
          <a:noFill/>
          <a:ln/>
        </p:spPr>
        <p:txBody>
          <a:bodyPr wrap="square" lIns="0" tIns="0" rIns="0" bIns="0" rtlCol="0" anchor="t"/>
          <a:lstStyle/>
          <a:p>
            <a:pPr indent="0" marL="0">
              <a:buNone/>
            </a:pPr>
            <a:r>
              <a:rPr lang="en-US" sz="1200" dirty="0">
                <a:solidFill>
                  <a:schemeClr val="bg2"/>
                </a:solidFill>
              </a:rPr>
              <a:t>Versioned proposal</a:t>
            </a:r>
            <a:endParaRPr lang="en-US" sz="1200" dirty="0"/>
          </a:p>
        </p:txBody>
      </p:sp>
      <p:sp>
        <p:nvSpPr>
          <p:cNvPr id="34" name="card"/>
          <p:cNvSpPr/>
          <p:nvPr/>
        </p:nvSpPr>
        <p:spPr>
          <a:xfrm>
            <a:off x="2944368" y="4315968"/>
            <a:ext cx="2286000" cy="804672"/>
          </a:xfrm>
          <a:prstGeom prst="roundRect">
            <a:avLst>
              <a:gd name="adj" fmla="val 11364"/>
            </a:avLst>
          </a:prstGeom>
          <a:solidFill>
            <a:schemeClr val="tx2"/>
          </a:solidFill>
          <a:ln w="12700">
            <a:solidFill>
              <a:schemeClr val="accent2">
                <a:alpha val="38000"/>
              </a:schemeClr>
            </a:solidFill>
            <a:prstDash val="solid"/>
          </a:ln>
        </p:spPr>
      </p:sp>
      <p:sp>
        <p:nvSpPr>
          <p:cNvPr id="35" name="Text 33"/>
          <p:cNvSpPr txBox="1"/>
          <p:nvPr/>
        </p:nvSpPr>
        <p:spPr>
          <a:xfrm>
            <a:off x="3108960" y="4425696"/>
            <a:ext cx="20116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verification_runs</a:t>
            </a:r>
            <a:endParaRPr lang="en-US" sz="1200" dirty="0"/>
          </a:p>
        </p:txBody>
      </p:sp>
      <p:sp>
        <p:nvSpPr>
          <p:cNvPr id="36" name="Text 34"/>
          <p:cNvSpPr txBox="1"/>
          <p:nvPr/>
        </p:nvSpPr>
        <p:spPr>
          <a:xfrm>
            <a:off x="3108960" y="4736592"/>
            <a:ext cx="2057400" cy="320040"/>
          </a:xfrm>
          <a:prstGeom prst="rect">
            <a:avLst/>
          </a:prstGeom>
          <a:noFill/>
          <a:ln/>
        </p:spPr>
        <p:txBody>
          <a:bodyPr wrap="square" lIns="0" tIns="0" rIns="0" bIns="0" rtlCol="0" anchor="t"/>
          <a:lstStyle/>
          <a:p>
            <a:pPr indent="0" marL="0">
              <a:buNone/>
            </a:pPr>
            <a:r>
              <a:rPr lang="en-US" sz="1200" dirty="0">
                <a:solidFill>
                  <a:schemeClr val="bg2"/>
                </a:solidFill>
              </a:rPr>
              <a:t>Closure needs passing checks</a:t>
            </a:r>
            <a:endParaRPr lang="en-US" sz="1200" dirty="0"/>
          </a:p>
        </p:txBody>
      </p:sp>
      <p:sp>
        <p:nvSpPr>
          <p:cNvPr id="37" name="card"/>
          <p:cNvSpPr/>
          <p:nvPr/>
        </p:nvSpPr>
        <p:spPr>
          <a:xfrm>
            <a:off x="5340096" y="4315968"/>
            <a:ext cx="2286000" cy="804672"/>
          </a:xfrm>
          <a:prstGeom prst="roundRect">
            <a:avLst>
              <a:gd name="adj" fmla="val 11364"/>
            </a:avLst>
          </a:prstGeom>
          <a:solidFill>
            <a:schemeClr val="tx2"/>
          </a:solidFill>
          <a:ln w="12700">
            <a:solidFill>
              <a:schemeClr val="accent2">
                <a:alpha val="38000"/>
              </a:schemeClr>
            </a:solidFill>
            <a:prstDash val="solid"/>
          </a:ln>
        </p:spPr>
      </p:sp>
      <p:sp>
        <p:nvSpPr>
          <p:cNvPr id="38" name="Text 36"/>
          <p:cNvSpPr txBox="1"/>
          <p:nvPr/>
        </p:nvSpPr>
        <p:spPr>
          <a:xfrm>
            <a:off x="5504688" y="4425696"/>
            <a:ext cx="20116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jobs</a:t>
            </a:r>
            <a:endParaRPr lang="en-US" sz="1200" dirty="0"/>
          </a:p>
        </p:txBody>
      </p:sp>
      <p:sp>
        <p:nvSpPr>
          <p:cNvPr id="39" name="Text 37"/>
          <p:cNvSpPr txBox="1"/>
          <p:nvPr/>
        </p:nvSpPr>
        <p:spPr>
          <a:xfrm>
            <a:off x="5504688" y="4736592"/>
            <a:ext cx="2057400" cy="320040"/>
          </a:xfrm>
          <a:prstGeom prst="rect">
            <a:avLst/>
          </a:prstGeom>
          <a:noFill/>
          <a:ln/>
        </p:spPr>
        <p:txBody>
          <a:bodyPr wrap="square" lIns="0" tIns="0" rIns="0" bIns="0" rtlCol="0" anchor="t"/>
          <a:lstStyle/>
          <a:p>
            <a:pPr indent="0" marL="0">
              <a:buNone/>
            </a:pPr>
            <a:r>
              <a:rPr lang="en-US" sz="1200" dirty="0">
                <a:solidFill>
                  <a:schemeClr val="bg2"/>
                </a:solidFill>
              </a:rPr>
              <a:t>Async work, idempotency key</a:t>
            </a:r>
            <a:endParaRPr lang="en-US" sz="1200" dirty="0"/>
          </a:p>
        </p:txBody>
      </p:sp>
      <p:sp>
        <p:nvSpPr>
          <p:cNvPr id="40" name="card"/>
          <p:cNvSpPr/>
          <p:nvPr/>
        </p:nvSpPr>
        <p:spPr>
          <a:xfrm>
            <a:off x="548640" y="5230368"/>
            <a:ext cx="2286000" cy="804672"/>
          </a:xfrm>
          <a:prstGeom prst="roundRect">
            <a:avLst>
              <a:gd name="adj" fmla="val 11364"/>
            </a:avLst>
          </a:prstGeom>
          <a:solidFill>
            <a:schemeClr val="tx2"/>
          </a:solidFill>
          <a:ln w="12700">
            <a:solidFill>
              <a:schemeClr val="accent2">
                <a:alpha val="38000"/>
              </a:schemeClr>
            </a:solidFill>
            <a:prstDash val="solid"/>
          </a:ln>
        </p:spPr>
      </p:sp>
      <p:sp>
        <p:nvSpPr>
          <p:cNvPr id="41" name="Text 39"/>
          <p:cNvSpPr txBox="1"/>
          <p:nvPr/>
        </p:nvSpPr>
        <p:spPr>
          <a:xfrm>
            <a:off x="713232" y="5340096"/>
            <a:ext cx="20116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approvals</a:t>
            </a:r>
            <a:endParaRPr lang="en-US" sz="1200" dirty="0"/>
          </a:p>
        </p:txBody>
      </p:sp>
      <p:sp>
        <p:nvSpPr>
          <p:cNvPr id="42" name="Text 40"/>
          <p:cNvSpPr txBox="1"/>
          <p:nvPr/>
        </p:nvSpPr>
        <p:spPr>
          <a:xfrm>
            <a:off x="713232" y="5650992"/>
            <a:ext cx="2057400" cy="320040"/>
          </a:xfrm>
          <a:prstGeom prst="rect">
            <a:avLst/>
          </a:prstGeom>
          <a:noFill/>
          <a:ln/>
        </p:spPr>
        <p:txBody>
          <a:bodyPr wrap="square" lIns="0" tIns="0" rIns="0" bIns="0" rtlCol="0" anchor="t"/>
          <a:lstStyle/>
          <a:p>
            <a:pPr indent="0" marL="0">
              <a:buNone/>
            </a:pPr>
            <a:r>
              <a:rPr lang="en-US" sz="1200" dirty="0">
                <a:solidFill>
                  <a:schemeClr val="bg2"/>
                </a:solidFill>
              </a:rPr>
              <a:t>Bound to proposal hash</a:t>
            </a:r>
            <a:endParaRPr lang="en-US" sz="1200" dirty="0"/>
          </a:p>
        </p:txBody>
      </p:sp>
      <p:sp>
        <p:nvSpPr>
          <p:cNvPr id="43" name="card"/>
          <p:cNvSpPr/>
          <p:nvPr/>
        </p:nvSpPr>
        <p:spPr>
          <a:xfrm>
            <a:off x="2944368" y="5230368"/>
            <a:ext cx="2286000" cy="804672"/>
          </a:xfrm>
          <a:prstGeom prst="roundRect">
            <a:avLst>
              <a:gd name="adj" fmla="val 11364"/>
            </a:avLst>
          </a:prstGeom>
          <a:solidFill>
            <a:schemeClr val="tx2"/>
          </a:solidFill>
          <a:ln w="12700">
            <a:solidFill>
              <a:schemeClr val="accent2">
                <a:alpha val="38000"/>
              </a:schemeClr>
            </a:solidFill>
            <a:prstDash val="solid"/>
          </a:ln>
        </p:spPr>
      </p:sp>
      <p:sp>
        <p:nvSpPr>
          <p:cNvPr id="44" name="Text 42"/>
          <p:cNvSpPr txBox="1"/>
          <p:nvPr/>
        </p:nvSpPr>
        <p:spPr>
          <a:xfrm>
            <a:off x="3108960" y="5340096"/>
            <a:ext cx="20116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audit_events</a:t>
            </a:r>
            <a:endParaRPr lang="en-US" sz="1200" dirty="0"/>
          </a:p>
        </p:txBody>
      </p:sp>
      <p:sp>
        <p:nvSpPr>
          <p:cNvPr id="45" name="Text 43"/>
          <p:cNvSpPr txBox="1"/>
          <p:nvPr/>
        </p:nvSpPr>
        <p:spPr>
          <a:xfrm>
            <a:off x="3108960" y="5650992"/>
            <a:ext cx="2057400" cy="320040"/>
          </a:xfrm>
          <a:prstGeom prst="rect">
            <a:avLst/>
          </a:prstGeom>
          <a:noFill/>
          <a:ln/>
        </p:spPr>
        <p:txBody>
          <a:bodyPr wrap="square" lIns="0" tIns="0" rIns="0" bIns="0" rtlCol="0" anchor="t"/>
          <a:lstStyle/>
          <a:p>
            <a:pPr indent="0" marL="0">
              <a:buNone/>
            </a:pPr>
            <a:r>
              <a:rPr lang="en-US" sz="1200" dirty="0">
                <a:solidFill>
                  <a:schemeClr val="bg2"/>
                </a:solidFill>
              </a:rPr>
              <a:t>Append-only log</a:t>
            </a:r>
            <a:endParaRPr lang="en-US" sz="1200" dirty="0"/>
          </a:p>
        </p:txBody>
      </p:sp>
      <p:sp>
        <p:nvSpPr>
          <p:cNvPr id="46" name="card"/>
          <p:cNvSpPr/>
          <p:nvPr/>
        </p:nvSpPr>
        <p:spPr>
          <a:xfrm>
            <a:off x="5340096" y="5230368"/>
            <a:ext cx="2286000" cy="804672"/>
          </a:xfrm>
          <a:prstGeom prst="roundRect">
            <a:avLst>
              <a:gd name="adj" fmla="val 11364"/>
            </a:avLst>
          </a:prstGeom>
          <a:solidFill>
            <a:schemeClr val="tx2"/>
          </a:solidFill>
          <a:ln w="12700">
            <a:solidFill>
              <a:schemeClr val="accent2">
                <a:alpha val="38000"/>
              </a:schemeClr>
            </a:solidFill>
            <a:prstDash val="solid"/>
          </a:ln>
        </p:spPr>
      </p:sp>
      <p:sp>
        <p:nvSpPr>
          <p:cNvPr id="47" name="Text 45"/>
          <p:cNvSpPr txBox="1"/>
          <p:nvPr/>
        </p:nvSpPr>
        <p:spPr>
          <a:xfrm>
            <a:off x="5504688" y="5340096"/>
            <a:ext cx="20116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policy_versions</a:t>
            </a:r>
            <a:endParaRPr lang="en-US" sz="1200" dirty="0"/>
          </a:p>
        </p:txBody>
      </p:sp>
      <p:sp>
        <p:nvSpPr>
          <p:cNvPr id="48" name="Text 46"/>
          <p:cNvSpPr txBox="1"/>
          <p:nvPr/>
        </p:nvSpPr>
        <p:spPr>
          <a:xfrm>
            <a:off x="5504688" y="5650992"/>
            <a:ext cx="2057400" cy="320040"/>
          </a:xfrm>
          <a:prstGeom prst="rect">
            <a:avLst/>
          </a:prstGeom>
          <a:noFill/>
          <a:ln/>
        </p:spPr>
        <p:txBody>
          <a:bodyPr wrap="square" lIns="0" tIns="0" rIns="0" bIns="0" rtlCol="0" anchor="t"/>
          <a:lstStyle/>
          <a:p>
            <a:pPr indent="0" marL="0">
              <a:buNone/>
            </a:pPr>
            <a:r>
              <a:rPr lang="en-US" sz="1200" dirty="0">
                <a:solidFill>
                  <a:schemeClr val="bg2"/>
                </a:solidFill>
              </a:rPr>
              <a:t>Immutable, rollback-ready</a:t>
            </a:r>
            <a:endParaRPr lang="en-US" sz="1200" dirty="0"/>
          </a:p>
        </p:txBody>
      </p:sp>
      <p:sp>
        <p:nvSpPr>
          <p:cNvPr id="49" name="card"/>
          <p:cNvSpPr/>
          <p:nvPr/>
        </p:nvSpPr>
        <p:spPr>
          <a:xfrm>
            <a:off x="7863840" y="1572768"/>
            <a:ext cx="3749040" cy="4462272"/>
          </a:xfrm>
          <a:prstGeom prst="roundRect">
            <a:avLst>
              <a:gd name="adj" fmla="val 2439"/>
            </a:avLst>
          </a:prstGeom>
          <a:solidFill>
            <a:schemeClr val="tx2"/>
          </a:solidFill>
          <a:ln w="12700">
            <a:solidFill>
              <a:schemeClr val="accent5">
                <a:alpha val="55000"/>
              </a:schemeClr>
            </a:solidFill>
            <a:prstDash val="solid"/>
          </a:ln>
        </p:spPr>
      </p:sp>
      <p:sp>
        <p:nvSpPr>
          <p:cNvPr id="50" name="icon tile"/>
          <p:cNvSpPr/>
          <p:nvPr/>
        </p:nvSpPr>
        <p:spPr>
          <a:xfrm>
            <a:off x="8138160" y="1810512"/>
            <a:ext cx="566928" cy="566928"/>
          </a:xfrm>
          <a:prstGeom prst="roundRect">
            <a:avLst>
              <a:gd name="adj" fmla="val 22000"/>
            </a:avLst>
          </a:prstGeom>
          <a:solidFill>
            <a:schemeClr val="accent5">
              <a:alpha val="20000"/>
            </a:schemeClr>
          </a:solidFill>
          <a:ln w="9525">
            <a:solidFill>
              <a:schemeClr val="accent5">
                <a:alpha val="55000"/>
              </a:schemeClr>
            </a:solidFill>
            <a:prstDash val="solid"/>
          </a:ln>
        </p:spPr>
      </p:sp>
      <p:pic>
        <p:nvPicPr>
          <p:cNvPr id="51" name="icon" descr="preencoded.png">    </p:cNvPr>
          <p:cNvPicPr>
            <a:picLocks noChangeAspect="1"/>
          </p:cNvPicPr>
          <p:nvPr/>
        </p:nvPicPr>
        <p:blipFill>
          <a:blip r:embed="rId1"/>
          <a:stretch>
            <a:fillRect/>
          </a:stretch>
        </p:blipFill>
        <p:spPr>
          <a:xfrm>
            <a:off x="8274223" y="1946575"/>
            <a:ext cx="294803" cy="294803"/>
          </a:xfrm>
          <a:prstGeom prst="rect">
            <a:avLst/>
          </a:prstGeom>
        </p:spPr>
      </p:pic>
      <p:sp>
        <p:nvSpPr>
          <p:cNvPr id="52" name="Text 49"/>
          <p:cNvSpPr txBox="1"/>
          <p:nvPr/>
        </p:nvSpPr>
        <p:spPr>
          <a:xfrm>
            <a:off x="8823960" y="1920240"/>
            <a:ext cx="2651760" cy="365760"/>
          </a:xfrm>
          <a:prstGeom prst="rect">
            <a:avLst/>
          </a:prstGeom>
          <a:noFill/>
          <a:ln/>
        </p:spPr>
        <p:txBody>
          <a:bodyPr wrap="square" lIns="0" tIns="0" rIns="0" bIns="0" rtlCol="0" anchor="t"/>
          <a:lstStyle/>
          <a:p>
            <a:pPr indent="0" marL="0">
              <a:buNone/>
            </a:pPr>
            <a:r>
              <a:rPr lang="en-US" sz="1600" b="1" dirty="0">
                <a:solidFill>
                  <a:schemeClr val="bg1"/>
                </a:solidFill>
              </a:rPr>
              <a:t>Data integrity rules</a:t>
            </a:r>
            <a:endParaRPr lang="en-US" sz="1600" dirty="0"/>
          </a:p>
        </p:txBody>
      </p:sp>
      <p:sp>
        <p:nvSpPr>
          <p:cNvPr id="53" name="Text 50"/>
          <p:cNvSpPr txBox="1"/>
          <p:nvPr/>
        </p:nvSpPr>
        <p:spPr>
          <a:xfrm>
            <a:off x="8138160" y="2560320"/>
            <a:ext cx="3291840" cy="33832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bg2"/>
                </a:solidFill>
              </a:rPr>
              <a:t>UUIDs internally; unique tenant-scoped external IDs and idempotency keys</a:t>
            </a:r>
            <a:endParaRPr lang="en-US" sz="1300" dirty="0"/>
          </a:p>
          <a:p>
            <a:pPr marL="177800" indent="-177800">
              <a:spcAft>
                <a:spcPts val="600"/>
              </a:spcAft>
              <a:buSzPct val="100000"/>
              <a:buChar char="•"/>
            </a:pPr>
            <a:r>
              <a:rPr lang="en-US" sz="1300" dirty="0">
                <a:solidFill>
                  <a:schemeClr val="bg2"/>
                </a:solidFill>
              </a:rPr>
              <a:t>Fingerprint dedupes findings but is not permanent identity</a:t>
            </a:r>
            <a:endParaRPr lang="en-US" sz="1300" dirty="0"/>
          </a:p>
          <a:p>
            <a:pPr marL="177800" indent="-177800">
              <a:spcAft>
                <a:spcPts val="600"/>
              </a:spcAft>
              <a:buSzPct val="100000"/>
              <a:buChar char="•"/>
            </a:pPr>
            <a:r>
              <a:rPr lang="en-US" sz="1300" dirty="0">
                <a:solidFill>
                  <a:schemeClr val="bg2"/>
                </a:solidFill>
              </a:rPr>
              <a:t>Timestamps in UTC; preserve source timestamps</a:t>
            </a:r>
            <a:endParaRPr lang="en-US" sz="1300" dirty="0"/>
          </a:p>
          <a:p>
            <a:pPr marL="177800" indent="-177800">
              <a:spcAft>
                <a:spcPts val="600"/>
              </a:spcAft>
              <a:buSzPct val="100000"/>
              <a:buChar char="•"/>
            </a:pPr>
            <a:r>
              <a:rPr lang="en-US" sz="1300" dirty="0">
                <a:solidFill>
                  <a:schemeClr val="bg2"/>
                </a:solidFill>
              </a:rPr>
              <a:t>Transactions for status changes, approvals and audit writes</a:t>
            </a:r>
            <a:endParaRPr lang="en-US" sz="1300" dirty="0"/>
          </a:p>
          <a:p>
            <a:pPr marL="177800" indent="-177800">
              <a:spcAft>
                <a:spcPts val="600"/>
              </a:spcAft>
              <a:buSzPct val="100000"/>
              <a:buChar char="•"/>
            </a:pPr>
            <a:r>
              <a:rPr lang="en-US" sz="1300" dirty="0">
                <a:solidFill>
                  <a:schemeClr val="bg2"/>
                </a:solidFill>
              </a:rPr>
              <a:t>Large artifacts in access-controlled object storage</a:t>
            </a:r>
            <a:endParaRPr lang="en-US" sz="1300" dirty="0"/>
          </a:p>
          <a:p>
            <a:pPr marL="177800" indent="-177800">
              <a:spcAft>
                <a:spcPts val="600"/>
              </a:spcAft>
              <a:buSzPct val="100000"/>
              <a:buChar char="•"/>
            </a:pPr>
            <a:r>
              <a:rPr lang="en-US" sz="1300" dirty="0">
                <a:solidFill>
                  <a:schemeClr val="bg2"/>
                </a:solidFill>
              </a:rPr>
              <a:t>Retention keeps legally required audit records</a:t>
            </a:r>
            <a:endParaRPr lang="en-US" sz="1300" dirty="0"/>
          </a:p>
        </p:txBody>
      </p:sp>
      <p:sp>
        <p:nvSpPr>
          <p:cNvPr id="54" name="Text 51"/>
          <p:cNvSpPr txBox="1"/>
          <p:nvPr/>
        </p:nvSpPr>
        <p:spPr>
          <a:xfrm>
            <a:off x="548640" y="6172200"/>
            <a:ext cx="10972800" cy="228600"/>
          </a:xfrm>
          <a:prstGeom prst="rect">
            <a:avLst/>
          </a:prstGeom>
          <a:noFill/>
          <a:ln/>
        </p:spPr>
        <p:txBody>
          <a:bodyPr wrap="square" lIns="0" tIns="0" rIns="0" bIns="0" rtlCol="0" anchor="t"/>
          <a:lstStyle/>
          <a:p>
            <a:pPr indent="0" marL="0">
              <a:buNone/>
            </a:pPr>
            <a:r>
              <a:rPr lang="en-US" sz="1100" i="1" dirty="0">
                <a:solidFill>
                  <a:schemeClr val="accent6"/>
                </a:solidFill>
              </a:rPr>
              <a:t>Don't duplicate the graph into tables and treat FalkorDB as a visualization layer.</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07 · SECURITY FINDINGS UI</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The findings list is the team’s triage queue</a:t>
            </a:r>
            <a:endParaRPr lang="en-US" sz="3200" dirty="0"/>
          </a:p>
        </p:txBody>
      </p:sp>
      <p:sp>
        <p:nvSpPr>
          <p:cNvPr id="4" name="card"/>
          <p:cNvSpPr/>
          <p:nvPr/>
        </p:nvSpPr>
        <p:spPr>
          <a:xfrm>
            <a:off x="548640" y="1554480"/>
            <a:ext cx="11064240" cy="4160520"/>
          </a:xfrm>
          <a:prstGeom prst="roundRect">
            <a:avLst>
              <a:gd name="adj" fmla="val 2198"/>
            </a:avLst>
          </a:prstGeom>
          <a:solidFill>
            <a:schemeClr val="tx1"/>
          </a:solidFill>
          <a:ln w="12700">
            <a:solidFill>
              <a:schemeClr val="accent2">
                <a:alpha val="60000"/>
              </a:schemeClr>
            </a:solidFill>
            <a:prstDash val="solid"/>
          </a:ln>
        </p:spPr>
      </p:sp>
      <p:sp>
        <p:nvSpPr>
          <p:cNvPr id="5" name="chrome dot"/>
          <p:cNvSpPr/>
          <p:nvPr/>
        </p:nvSpPr>
        <p:spPr>
          <a:xfrm>
            <a:off x="777240" y="1737360"/>
            <a:ext cx="118872" cy="118872"/>
          </a:xfrm>
          <a:prstGeom prst="ellipse">
            <a:avLst/>
          </a:prstGeom>
          <a:solidFill>
            <a:schemeClr val="accent3"/>
          </a:solidFill>
          <a:ln w="12700">
            <a:solidFill>
              <a:schemeClr val="accent3"/>
            </a:solidFill>
            <a:prstDash val="solid"/>
          </a:ln>
        </p:spPr>
      </p:sp>
      <p:sp>
        <p:nvSpPr>
          <p:cNvPr id="6" name="chrome dot"/>
          <p:cNvSpPr/>
          <p:nvPr/>
        </p:nvSpPr>
        <p:spPr>
          <a:xfrm>
            <a:off x="978408" y="1737360"/>
            <a:ext cx="118872" cy="118872"/>
          </a:xfrm>
          <a:prstGeom prst="ellipse">
            <a:avLst/>
          </a:prstGeom>
          <a:solidFill>
            <a:schemeClr val="accent4"/>
          </a:solidFill>
          <a:ln w="12700">
            <a:solidFill>
              <a:schemeClr val="accent4"/>
            </a:solidFill>
            <a:prstDash val="solid"/>
          </a:ln>
        </p:spPr>
      </p:sp>
      <p:sp>
        <p:nvSpPr>
          <p:cNvPr id="7" name="chrome dot"/>
          <p:cNvSpPr/>
          <p:nvPr/>
        </p:nvSpPr>
        <p:spPr>
          <a:xfrm>
            <a:off x="1179576" y="1737360"/>
            <a:ext cx="118872" cy="118872"/>
          </a:xfrm>
          <a:prstGeom prst="ellipse">
            <a:avLst/>
          </a:prstGeom>
          <a:solidFill>
            <a:schemeClr val="accent5"/>
          </a:solidFill>
          <a:ln w="12700">
            <a:solidFill>
              <a:schemeClr val="accent5"/>
            </a:solidFill>
            <a:prstDash val="solid"/>
          </a:ln>
        </p:spPr>
      </p:sp>
      <p:sp>
        <p:nvSpPr>
          <p:cNvPr id="8" name="Text 6"/>
          <p:cNvSpPr txBox="1"/>
          <p:nvPr/>
        </p:nvSpPr>
        <p:spPr>
          <a:xfrm>
            <a:off x="1463040" y="1682496"/>
            <a:ext cx="5486400" cy="228600"/>
          </a:xfrm>
          <a:prstGeom prst="rect">
            <a:avLst/>
          </a:prstGeom>
          <a:noFill/>
          <a:ln/>
        </p:spPr>
        <p:txBody>
          <a:bodyPr wrap="square" lIns="0" tIns="0" rIns="0" bIns="0" rtlCol="0" anchor="t"/>
          <a:lstStyle/>
          <a:p>
            <a:pPr indent="0" marL="0">
              <a:buNone/>
            </a:pPr>
            <a:r>
              <a:rPr lang="en-US" sz="1100" b="1" dirty="0">
                <a:solidFill>
                  <a:schemeClr val="accent6"/>
                </a:solidFill>
              </a:rPr>
              <a:t>AGENTSHIELD / SECURITY  ·  Findings</a:t>
            </a:r>
            <a:endParaRPr lang="en-US" sz="1100" dirty="0"/>
          </a:p>
        </p:txBody>
      </p:sp>
      <p:sp>
        <p:nvSpPr>
          <p:cNvPr id="9" name="pill"/>
          <p:cNvSpPr/>
          <p:nvPr/>
        </p:nvSpPr>
        <p:spPr>
          <a:xfrm>
            <a:off x="10104120" y="1664208"/>
            <a:ext cx="1325880" cy="274320"/>
          </a:xfrm>
          <a:prstGeom prst="roundRect">
            <a:avLst>
              <a:gd name="adj" fmla="val 50000"/>
            </a:avLst>
          </a:prstGeom>
          <a:solidFill>
            <a:schemeClr val="accent4">
              <a:alpha val="18000"/>
            </a:schemeClr>
          </a:solidFill>
          <a:ln w="9525">
            <a:solidFill>
              <a:schemeClr val="accent4">
                <a:alpha val="70000"/>
              </a:schemeClr>
            </a:solidFill>
            <a:prstDash val="solid"/>
          </a:ln>
        </p:spPr>
      </p:sp>
      <p:sp>
        <p:nvSpPr>
          <p:cNvPr id="10" name="Text 8"/>
          <p:cNvSpPr txBox="1"/>
          <p:nvPr/>
        </p:nvSpPr>
        <p:spPr>
          <a:xfrm>
            <a:off x="10104120" y="1664208"/>
            <a:ext cx="1325880" cy="274320"/>
          </a:xfrm>
          <a:prstGeom prst="rect">
            <a:avLst/>
          </a:prstGeom>
          <a:noFill/>
          <a:ln/>
        </p:spPr>
        <p:txBody>
          <a:bodyPr wrap="square" lIns="0" tIns="0" rIns="0" bIns="0" rtlCol="0" anchor="ctr"/>
          <a:lstStyle/>
          <a:p>
            <a:pPr algn="ctr" indent="0" marL="0">
              <a:buNone/>
            </a:pPr>
            <a:r>
              <a:rPr lang="en-US" sz="1000" b="1" dirty="0">
                <a:solidFill>
                  <a:schemeClr val="accent4"/>
                </a:solidFill>
              </a:rPr>
              <a:t>Sample UI only</a:t>
            </a:r>
            <a:endParaRPr lang="en-US" sz="1000" dirty="0"/>
          </a:p>
        </p:txBody>
      </p:sp>
      <p:sp>
        <p:nvSpPr>
          <p:cNvPr id="11" name="card"/>
          <p:cNvSpPr/>
          <p:nvPr/>
        </p:nvSpPr>
        <p:spPr>
          <a:xfrm>
            <a:off x="777240" y="2103120"/>
            <a:ext cx="1828800" cy="868680"/>
          </a:xfrm>
          <a:prstGeom prst="roundRect">
            <a:avLst>
              <a:gd name="adj" fmla="val 10526"/>
            </a:avLst>
          </a:prstGeom>
          <a:solidFill>
            <a:schemeClr val="tx2"/>
          </a:solidFill>
          <a:ln w="12700">
            <a:solidFill>
              <a:schemeClr val="accent2">
                <a:alpha val="38000"/>
              </a:schemeClr>
            </a:solidFill>
            <a:prstDash val="solid"/>
          </a:ln>
        </p:spPr>
      </p:sp>
      <p:sp>
        <p:nvSpPr>
          <p:cNvPr id="12" name="Text 10"/>
          <p:cNvSpPr txBox="1"/>
          <p:nvPr/>
        </p:nvSpPr>
        <p:spPr>
          <a:xfrm>
            <a:off x="960120" y="2148840"/>
            <a:ext cx="1463040" cy="457200"/>
          </a:xfrm>
          <a:prstGeom prst="rect">
            <a:avLst/>
          </a:prstGeom>
          <a:noFill/>
          <a:ln/>
        </p:spPr>
        <p:txBody>
          <a:bodyPr wrap="square" lIns="0" tIns="0" rIns="0" bIns="0" rtlCol="0" anchor="t"/>
          <a:lstStyle/>
          <a:p>
            <a:pPr indent="0" marL="0">
              <a:buNone/>
            </a:pPr>
            <a:r>
              <a:rPr lang="en-US" sz="2400" b="1" dirty="0">
                <a:solidFill>
                  <a:schemeClr val="accent1"/>
                </a:solidFill>
                <a:latin typeface="Arial" pitchFamily="34" charset="0"/>
                <a:ea typeface="Arial" pitchFamily="34" charset="-122"/>
                <a:cs typeface="Arial" pitchFamily="34" charset="-120"/>
              </a:rPr>
              <a:t>12</a:t>
            </a:r>
            <a:endParaRPr lang="en-US" sz="2400" dirty="0"/>
          </a:p>
        </p:txBody>
      </p:sp>
      <p:sp>
        <p:nvSpPr>
          <p:cNvPr id="13" name="Text 11"/>
          <p:cNvSpPr txBox="1"/>
          <p:nvPr/>
        </p:nvSpPr>
        <p:spPr>
          <a:xfrm>
            <a:off x="960120" y="2606040"/>
            <a:ext cx="1554480" cy="274320"/>
          </a:xfrm>
          <a:prstGeom prst="rect">
            <a:avLst/>
          </a:prstGeom>
          <a:noFill/>
          <a:ln/>
        </p:spPr>
        <p:txBody>
          <a:bodyPr wrap="square" lIns="0" tIns="0" rIns="0" bIns="0" rtlCol="0" anchor="t"/>
          <a:lstStyle/>
          <a:p>
            <a:pPr indent="0" marL="0">
              <a:buNone/>
            </a:pPr>
            <a:r>
              <a:rPr lang="en-US" sz="1100" dirty="0">
                <a:solidFill>
                  <a:schemeClr val="accent6"/>
                </a:solidFill>
              </a:rPr>
              <a:t>Open findings</a:t>
            </a:r>
            <a:endParaRPr lang="en-US" sz="1100" dirty="0"/>
          </a:p>
        </p:txBody>
      </p:sp>
      <p:sp>
        <p:nvSpPr>
          <p:cNvPr id="14" name="card"/>
          <p:cNvSpPr/>
          <p:nvPr/>
        </p:nvSpPr>
        <p:spPr>
          <a:xfrm>
            <a:off x="2788920" y="2103120"/>
            <a:ext cx="1828800" cy="868680"/>
          </a:xfrm>
          <a:prstGeom prst="roundRect">
            <a:avLst>
              <a:gd name="adj" fmla="val 10526"/>
            </a:avLst>
          </a:prstGeom>
          <a:solidFill>
            <a:schemeClr val="tx2"/>
          </a:solidFill>
          <a:ln w="12700">
            <a:solidFill>
              <a:schemeClr val="accent2">
                <a:alpha val="38000"/>
              </a:schemeClr>
            </a:solidFill>
            <a:prstDash val="solid"/>
          </a:ln>
        </p:spPr>
      </p:sp>
      <p:sp>
        <p:nvSpPr>
          <p:cNvPr id="15" name="Text 13"/>
          <p:cNvSpPr txBox="1"/>
          <p:nvPr/>
        </p:nvSpPr>
        <p:spPr>
          <a:xfrm>
            <a:off x="2971800" y="2148840"/>
            <a:ext cx="1463040" cy="457200"/>
          </a:xfrm>
          <a:prstGeom prst="rect">
            <a:avLst/>
          </a:prstGeom>
          <a:noFill/>
          <a:ln/>
        </p:spPr>
        <p:txBody>
          <a:bodyPr wrap="square" lIns="0" tIns="0" rIns="0" bIns="0" rtlCol="0" anchor="t"/>
          <a:lstStyle/>
          <a:p>
            <a:pPr indent="0" marL="0">
              <a:buNone/>
            </a:pPr>
            <a:r>
              <a:rPr lang="en-US" sz="2400" b="1" dirty="0">
                <a:solidFill>
                  <a:schemeClr val="accent3"/>
                </a:solidFill>
                <a:latin typeface="Arial" pitchFamily="34" charset="0"/>
                <a:ea typeface="Arial" pitchFamily="34" charset="-122"/>
                <a:cs typeface="Arial" pitchFamily="34" charset="-120"/>
              </a:rPr>
              <a:t>4</a:t>
            </a:r>
            <a:endParaRPr lang="en-US" sz="2400" dirty="0"/>
          </a:p>
        </p:txBody>
      </p:sp>
      <p:sp>
        <p:nvSpPr>
          <p:cNvPr id="16" name="Text 14"/>
          <p:cNvSpPr txBox="1"/>
          <p:nvPr/>
        </p:nvSpPr>
        <p:spPr>
          <a:xfrm>
            <a:off x="2971800" y="2606040"/>
            <a:ext cx="1554480" cy="274320"/>
          </a:xfrm>
          <a:prstGeom prst="rect">
            <a:avLst/>
          </a:prstGeom>
          <a:noFill/>
          <a:ln/>
        </p:spPr>
        <p:txBody>
          <a:bodyPr wrap="square" lIns="0" tIns="0" rIns="0" bIns="0" rtlCol="0" anchor="t"/>
          <a:lstStyle/>
          <a:p>
            <a:pPr indent="0" marL="0">
              <a:buNone/>
            </a:pPr>
            <a:r>
              <a:rPr lang="en-US" sz="1100" dirty="0">
                <a:solidFill>
                  <a:schemeClr val="accent6"/>
                </a:solidFill>
              </a:rPr>
              <a:t>High / critical</a:t>
            </a:r>
            <a:endParaRPr lang="en-US" sz="1100" dirty="0"/>
          </a:p>
        </p:txBody>
      </p:sp>
      <p:sp>
        <p:nvSpPr>
          <p:cNvPr id="17" name="card"/>
          <p:cNvSpPr/>
          <p:nvPr/>
        </p:nvSpPr>
        <p:spPr>
          <a:xfrm>
            <a:off x="4800600" y="2103120"/>
            <a:ext cx="1828800" cy="868680"/>
          </a:xfrm>
          <a:prstGeom prst="roundRect">
            <a:avLst>
              <a:gd name="adj" fmla="val 10526"/>
            </a:avLst>
          </a:prstGeom>
          <a:solidFill>
            <a:schemeClr val="tx2"/>
          </a:solidFill>
          <a:ln w="12700">
            <a:solidFill>
              <a:schemeClr val="accent2">
                <a:alpha val="38000"/>
              </a:schemeClr>
            </a:solidFill>
            <a:prstDash val="solid"/>
          </a:ln>
        </p:spPr>
      </p:sp>
      <p:sp>
        <p:nvSpPr>
          <p:cNvPr id="18" name="Text 16"/>
          <p:cNvSpPr txBox="1"/>
          <p:nvPr/>
        </p:nvSpPr>
        <p:spPr>
          <a:xfrm>
            <a:off x="4983480" y="2148840"/>
            <a:ext cx="1463040" cy="457200"/>
          </a:xfrm>
          <a:prstGeom prst="rect">
            <a:avLst/>
          </a:prstGeom>
          <a:noFill/>
          <a:ln/>
        </p:spPr>
        <p:txBody>
          <a:bodyPr wrap="square" lIns="0" tIns="0" rIns="0" bIns="0" rtlCol="0" anchor="t"/>
          <a:lstStyle/>
          <a:p>
            <a:pPr indent="0" marL="0">
              <a:buNone/>
            </a:pPr>
            <a:r>
              <a:rPr lang="en-US" sz="2400" b="1" dirty="0">
                <a:solidFill>
                  <a:schemeClr val="accent4"/>
                </a:solidFill>
                <a:latin typeface="Arial" pitchFamily="34" charset="0"/>
                <a:ea typeface="Arial" pitchFamily="34" charset="-122"/>
                <a:cs typeface="Arial" pitchFamily="34" charset="-120"/>
              </a:rPr>
              <a:t>3</a:t>
            </a:r>
            <a:endParaRPr lang="en-US" sz="2400" dirty="0"/>
          </a:p>
        </p:txBody>
      </p:sp>
      <p:sp>
        <p:nvSpPr>
          <p:cNvPr id="19" name="Text 17"/>
          <p:cNvSpPr txBox="1"/>
          <p:nvPr/>
        </p:nvSpPr>
        <p:spPr>
          <a:xfrm>
            <a:off x="4983480" y="2606040"/>
            <a:ext cx="1554480" cy="274320"/>
          </a:xfrm>
          <a:prstGeom prst="rect">
            <a:avLst/>
          </a:prstGeom>
          <a:noFill/>
          <a:ln/>
        </p:spPr>
        <p:txBody>
          <a:bodyPr wrap="square" lIns="0" tIns="0" rIns="0" bIns="0" rtlCol="0" anchor="t"/>
          <a:lstStyle/>
          <a:p>
            <a:pPr indent="0" marL="0">
              <a:buNone/>
            </a:pPr>
            <a:r>
              <a:rPr lang="en-US" sz="1100" dirty="0">
                <a:solidFill>
                  <a:schemeClr val="accent6"/>
                </a:solidFill>
              </a:rPr>
              <a:t>In remediation</a:t>
            </a:r>
            <a:endParaRPr lang="en-US" sz="1100" dirty="0"/>
          </a:p>
        </p:txBody>
      </p:sp>
      <p:sp>
        <p:nvSpPr>
          <p:cNvPr id="20" name="pill"/>
          <p:cNvSpPr/>
          <p:nvPr/>
        </p:nvSpPr>
        <p:spPr>
          <a:xfrm>
            <a:off x="6949440" y="2121408"/>
            <a:ext cx="1444752" cy="329184"/>
          </a:xfrm>
          <a:prstGeom prst="roundRect">
            <a:avLst>
              <a:gd name="adj" fmla="val 50000"/>
            </a:avLst>
          </a:prstGeom>
          <a:solidFill>
            <a:schemeClr val="accent6">
              <a:alpha val="18000"/>
            </a:schemeClr>
          </a:solidFill>
          <a:ln w="9525">
            <a:solidFill>
              <a:schemeClr val="accent6">
                <a:alpha val="70000"/>
              </a:schemeClr>
            </a:solidFill>
            <a:prstDash val="solid"/>
          </a:ln>
        </p:spPr>
      </p:sp>
      <p:sp>
        <p:nvSpPr>
          <p:cNvPr id="21" name="Text 19"/>
          <p:cNvSpPr txBox="1"/>
          <p:nvPr/>
        </p:nvSpPr>
        <p:spPr>
          <a:xfrm>
            <a:off x="6949440" y="2121408"/>
            <a:ext cx="1444752" cy="329184"/>
          </a:xfrm>
          <a:prstGeom prst="rect">
            <a:avLst/>
          </a:prstGeom>
          <a:noFill/>
          <a:ln/>
        </p:spPr>
        <p:txBody>
          <a:bodyPr wrap="square" lIns="0" tIns="0" rIns="0" bIns="0" rtlCol="0" anchor="ctr"/>
          <a:lstStyle/>
          <a:p>
            <a:pPr algn="ctr" indent="0" marL="0">
              <a:buNone/>
            </a:pPr>
            <a:r>
              <a:rPr lang="en-US" sz="1000" dirty="0">
                <a:solidFill>
                  <a:schemeClr val="bg2"/>
                </a:solidFill>
              </a:rPr>
              <a:t>Severity: All</a:t>
            </a:r>
            <a:endParaRPr lang="en-US" sz="1000" dirty="0"/>
          </a:p>
        </p:txBody>
      </p:sp>
      <p:sp>
        <p:nvSpPr>
          <p:cNvPr id="22" name="pill"/>
          <p:cNvSpPr/>
          <p:nvPr/>
        </p:nvSpPr>
        <p:spPr>
          <a:xfrm>
            <a:off x="8485632" y="2121408"/>
            <a:ext cx="1444752" cy="329184"/>
          </a:xfrm>
          <a:prstGeom prst="roundRect">
            <a:avLst>
              <a:gd name="adj" fmla="val 50000"/>
            </a:avLst>
          </a:prstGeom>
          <a:solidFill>
            <a:schemeClr val="accent6">
              <a:alpha val="18000"/>
            </a:schemeClr>
          </a:solidFill>
          <a:ln w="9525">
            <a:solidFill>
              <a:schemeClr val="accent6">
                <a:alpha val="70000"/>
              </a:schemeClr>
            </a:solidFill>
            <a:prstDash val="solid"/>
          </a:ln>
        </p:spPr>
      </p:sp>
      <p:sp>
        <p:nvSpPr>
          <p:cNvPr id="23" name="Text 21"/>
          <p:cNvSpPr txBox="1"/>
          <p:nvPr/>
        </p:nvSpPr>
        <p:spPr>
          <a:xfrm>
            <a:off x="8485632" y="2121408"/>
            <a:ext cx="1444752" cy="329184"/>
          </a:xfrm>
          <a:prstGeom prst="rect">
            <a:avLst/>
          </a:prstGeom>
          <a:noFill/>
          <a:ln/>
        </p:spPr>
        <p:txBody>
          <a:bodyPr wrap="square" lIns="0" tIns="0" rIns="0" bIns="0" rtlCol="0" anchor="ctr"/>
          <a:lstStyle/>
          <a:p>
            <a:pPr algn="ctr" indent="0" marL="0">
              <a:buNone/>
            </a:pPr>
            <a:r>
              <a:rPr lang="en-US" sz="1000" dirty="0">
                <a:solidFill>
                  <a:schemeClr val="bg2"/>
                </a:solidFill>
              </a:rPr>
              <a:t>Status: Open</a:t>
            </a:r>
            <a:endParaRPr lang="en-US" sz="1000" dirty="0"/>
          </a:p>
        </p:txBody>
      </p:sp>
      <p:sp>
        <p:nvSpPr>
          <p:cNvPr id="24" name="pill"/>
          <p:cNvSpPr/>
          <p:nvPr/>
        </p:nvSpPr>
        <p:spPr>
          <a:xfrm>
            <a:off x="10021824" y="2121408"/>
            <a:ext cx="1444752" cy="329184"/>
          </a:xfrm>
          <a:prstGeom prst="roundRect">
            <a:avLst>
              <a:gd name="adj" fmla="val 50000"/>
            </a:avLst>
          </a:prstGeom>
          <a:solidFill>
            <a:schemeClr val="accent6">
              <a:alpha val="18000"/>
            </a:schemeClr>
          </a:solidFill>
          <a:ln w="9525">
            <a:solidFill>
              <a:schemeClr val="accent6">
                <a:alpha val="70000"/>
              </a:schemeClr>
            </a:solidFill>
            <a:prstDash val="solid"/>
          </a:ln>
        </p:spPr>
      </p:sp>
      <p:sp>
        <p:nvSpPr>
          <p:cNvPr id="25" name="Text 23"/>
          <p:cNvSpPr txBox="1"/>
          <p:nvPr/>
        </p:nvSpPr>
        <p:spPr>
          <a:xfrm>
            <a:off x="10021824" y="2121408"/>
            <a:ext cx="1444752" cy="329184"/>
          </a:xfrm>
          <a:prstGeom prst="rect">
            <a:avLst/>
          </a:prstGeom>
          <a:noFill/>
          <a:ln/>
        </p:spPr>
        <p:txBody>
          <a:bodyPr wrap="square" lIns="0" tIns="0" rIns="0" bIns="0" rtlCol="0" anchor="ctr"/>
          <a:lstStyle/>
          <a:p>
            <a:pPr algn="ctr" indent="0" marL="0">
              <a:buNone/>
            </a:pPr>
            <a:r>
              <a:rPr lang="en-US" sz="1000" dirty="0">
                <a:solidFill>
                  <a:schemeClr val="bg2"/>
                </a:solidFill>
              </a:rPr>
              <a:t>Repository: All</a:t>
            </a:r>
            <a:endParaRPr lang="en-US" sz="1000" dirty="0"/>
          </a:p>
        </p:txBody>
      </p:sp>
      <p:sp>
        <p:nvSpPr>
          <p:cNvPr id="26" name="pill"/>
          <p:cNvSpPr/>
          <p:nvPr/>
        </p:nvSpPr>
        <p:spPr>
          <a:xfrm>
            <a:off x="6949440" y="2560320"/>
            <a:ext cx="1444752" cy="329184"/>
          </a:xfrm>
          <a:prstGeom prst="roundRect">
            <a:avLst>
              <a:gd name="adj" fmla="val 50000"/>
            </a:avLst>
          </a:prstGeom>
          <a:solidFill>
            <a:schemeClr val="accent6">
              <a:alpha val="18000"/>
            </a:schemeClr>
          </a:solidFill>
          <a:ln w="9525">
            <a:solidFill>
              <a:schemeClr val="accent6">
                <a:alpha val="70000"/>
              </a:schemeClr>
            </a:solidFill>
            <a:prstDash val="solid"/>
          </a:ln>
        </p:spPr>
      </p:sp>
      <p:sp>
        <p:nvSpPr>
          <p:cNvPr id="27" name="Text 25"/>
          <p:cNvSpPr txBox="1"/>
          <p:nvPr/>
        </p:nvSpPr>
        <p:spPr>
          <a:xfrm>
            <a:off x="6949440" y="2560320"/>
            <a:ext cx="1444752" cy="329184"/>
          </a:xfrm>
          <a:prstGeom prst="rect">
            <a:avLst/>
          </a:prstGeom>
          <a:noFill/>
          <a:ln/>
        </p:spPr>
        <p:txBody>
          <a:bodyPr wrap="square" lIns="0" tIns="0" rIns="0" bIns="0" rtlCol="0" anchor="ctr"/>
          <a:lstStyle/>
          <a:p>
            <a:pPr algn="ctr" indent="0" marL="0">
              <a:buNone/>
            </a:pPr>
            <a:r>
              <a:rPr lang="en-US" sz="1000" dirty="0">
                <a:solidFill>
                  <a:schemeClr val="bg2"/>
                </a:solidFill>
              </a:rPr>
              <a:t>Method: All</a:t>
            </a:r>
            <a:endParaRPr lang="en-US" sz="1000" dirty="0"/>
          </a:p>
        </p:txBody>
      </p:sp>
      <p:sp>
        <p:nvSpPr>
          <p:cNvPr id="28" name="pill"/>
          <p:cNvSpPr/>
          <p:nvPr/>
        </p:nvSpPr>
        <p:spPr>
          <a:xfrm>
            <a:off x="8485632" y="2560320"/>
            <a:ext cx="1444752" cy="329184"/>
          </a:xfrm>
          <a:prstGeom prst="roundRect">
            <a:avLst>
              <a:gd name="adj" fmla="val 50000"/>
            </a:avLst>
          </a:prstGeom>
          <a:solidFill>
            <a:schemeClr val="accent6">
              <a:alpha val="18000"/>
            </a:schemeClr>
          </a:solidFill>
          <a:ln w="9525">
            <a:solidFill>
              <a:schemeClr val="accent6">
                <a:alpha val="70000"/>
              </a:schemeClr>
            </a:solidFill>
            <a:prstDash val="solid"/>
          </a:ln>
        </p:spPr>
      </p:sp>
      <p:sp>
        <p:nvSpPr>
          <p:cNvPr id="29" name="Text 27"/>
          <p:cNvSpPr txBox="1"/>
          <p:nvPr/>
        </p:nvSpPr>
        <p:spPr>
          <a:xfrm>
            <a:off x="8485632" y="2560320"/>
            <a:ext cx="1444752" cy="329184"/>
          </a:xfrm>
          <a:prstGeom prst="rect">
            <a:avLst/>
          </a:prstGeom>
          <a:noFill/>
          <a:ln/>
        </p:spPr>
        <p:txBody>
          <a:bodyPr wrap="square" lIns="0" tIns="0" rIns="0" bIns="0" rtlCol="0" anchor="ctr"/>
          <a:lstStyle/>
          <a:p>
            <a:pPr algn="ctr" indent="0" marL="0">
              <a:buNone/>
            </a:pPr>
            <a:r>
              <a:rPr lang="en-US" sz="1000" dirty="0">
                <a:solidFill>
                  <a:schemeClr val="bg2"/>
                </a:solidFill>
              </a:rPr>
              <a:t>Date range</a:t>
            </a:r>
            <a:endParaRPr lang="en-US" sz="1000" dirty="0"/>
          </a:p>
        </p:txBody>
      </p:sp>
      <p:sp>
        <p:nvSpPr>
          <p:cNvPr id="30" name="Text 28"/>
          <p:cNvSpPr txBox="1"/>
          <p:nvPr/>
        </p:nvSpPr>
        <p:spPr>
          <a:xfrm>
            <a:off x="777240" y="3154680"/>
            <a:ext cx="1828800" cy="274320"/>
          </a:xfrm>
          <a:prstGeom prst="rect">
            <a:avLst/>
          </a:prstGeom>
          <a:noFill/>
          <a:ln/>
        </p:spPr>
        <p:txBody>
          <a:bodyPr wrap="square" lIns="0" tIns="0" rIns="0" bIns="0" rtlCol="0" anchor="t"/>
          <a:lstStyle/>
          <a:p>
            <a:pPr indent="0" marL="0">
              <a:buNone/>
            </a:pPr>
            <a:r>
              <a:rPr lang="en-US" sz="1100" b="1" dirty="0">
                <a:solidFill>
                  <a:schemeClr val="accent1"/>
                </a:solidFill>
              </a:rPr>
              <a:t>Finding</a:t>
            </a:r>
            <a:endParaRPr lang="en-US" sz="1100" dirty="0"/>
          </a:p>
        </p:txBody>
      </p:sp>
      <p:sp>
        <p:nvSpPr>
          <p:cNvPr id="31" name="Text 29"/>
          <p:cNvSpPr txBox="1"/>
          <p:nvPr/>
        </p:nvSpPr>
        <p:spPr>
          <a:xfrm>
            <a:off x="5120640" y="3154680"/>
            <a:ext cx="1828800" cy="274320"/>
          </a:xfrm>
          <a:prstGeom prst="rect">
            <a:avLst/>
          </a:prstGeom>
          <a:noFill/>
          <a:ln/>
        </p:spPr>
        <p:txBody>
          <a:bodyPr wrap="square" lIns="0" tIns="0" rIns="0" bIns="0" rtlCol="0" anchor="t"/>
          <a:lstStyle/>
          <a:p>
            <a:pPr indent="0" marL="0">
              <a:buNone/>
            </a:pPr>
            <a:r>
              <a:rPr lang="en-US" sz="1100" b="1" dirty="0">
                <a:solidFill>
                  <a:schemeClr val="accent1"/>
                </a:solidFill>
              </a:rPr>
              <a:t>Severity</a:t>
            </a:r>
            <a:endParaRPr lang="en-US" sz="1100" dirty="0"/>
          </a:p>
        </p:txBody>
      </p:sp>
      <p:sp>
        <p:nvSpPr>
          <p:cNvPr id="32" name="Text 30"/>
          <p:cNvSpPr txBox="1"/>
          <p:nvPr/>
        </p:nvSpPr>
        <p:spPr>
          <a:xfrm>
            <a:off x="6400800" y="3154680"/>
            <a:ext cx="1828800" cy="274320"/>
          </a:xfrm>
          <a:prstGeom prst="rect">
            <a:avLst/>
          </a:prstGeom>
          <a:noFill/>
          <a:ln/>
        </p:spPr>
        <p:txBody>
          <a:bodyPr wrap="square" lIns="0" tIns="0" rIns="0" bIns="0" rtlCol="0" anchor="t"/>
          <a:lstStyle/>
          <a:p>
            <a:pPr indent="0" marL="0">
              <a:buNone/>
            </a:pPr>
            <a:r>
              <a:rPr lang="en-US" sz="1100" b="1" dirty="0">
                <a:solidFill>
                  <a:schemeClr val="accent1"/>
                </a:solidFill>
              </a:rPr>
              <a:t>Detection</a:t>
            </a:r>
            <a:endParaRPr lang="en-US" sz="1100" dirty="0"/>
          </a:p>
        </p:txBody>
      </p:sp>
      <p:sp>
        <p:nvSpPr>
          <p:cNvPr id="33" name="Text 31"/>
          <p:cNvSpPr txBox="1"/>
          <p:nvPr/>
        </p:nvSpPr>
        <p:spPr>
          <a:xfrm>
            <a:off x="8001000" y="3154680"/>
            <a:ext cx="1828800" cy="274320"/>
          </a:xfrm>
          <a:prstGeom prst="rect">
            <a:avLst/>
          </a:prstGeom>
          <a:noFill/>
          <a:ln/>
        </p:spPr>
        <p:txBody>
          <a:bodyPr wrap="square" lIns="0" tIns="0" rIns="0" bIns="0" rtlCol="0" anchor="t"/>
          <a:lstStyle/>
          <a:p>
            <a:pPr indent="0" marL="0">
              <a:buNone/>
            </a:pPr>
            <a:r>
              <a:rPr lang="en-US" sz="1100" b="1" dirty="0">
                <a:solidFill>
                  <a:schemeClr val="accent1"/>
                </a:solidFill>
              </a:rPr>
              <a:t>Status</a:t>
            </a:r>
            <a:endParaRPr lang="en-US" sz="1100" dirty="0"/>
          </a:p>
        </p:txBody>
      </p:sp>
      <p:sp>
        <p:nvSpPr>
          <p:cNvPr id="34" name="Text 32"/>
          <p:cNvSpPr txBox="1"/>
          <p:nvPr/>
        </p:nvSpPr>
        <p:spPr>
          <a:xfrm>
            <a:off x="9646920" y="3154680"/>
            <a:ext cx="1828800" cy="274320"/>
          </a:xfrm>
          <a:prstGeom prst="rect">
            <a:avLst/>
          </a:prstGeom>
          <a:noFill/>
          <a:ln/>
        </p:spPr>
        <p:txBody>
          <a:bodyPr wrap="square" lIns="0" tIns="0" rIns="0" bIns="0" rtlCol="0" anchor="t"/>
          <a:lstStyle/>
          <a:p>
            <a:pPr indent="0" marL="0">
              <a:buNone/>
            </a:pPr>
            <a:r>
              <a:rPr lang="en-US" sz="1100" b="1" dirty="0">
                <a:solidFill>
                  <a:schemeClr val="accent1"/>
                </a:solidFill>
              </a:rPr>
              <a:t>Owner</a:t>
            </a:r>
            <a:endParaRPr lang="en-US" sz="1100" dirty="0"/>
          </a:p>
        </p:txBody>
      </p:sp>
      <p:sp>
        <p:nvSpPr>
          <p:cNvPr id="35" name="connector"/>
          <p:cNvSpPr/>
          <p:nvPr/>
        </p:nvSpPr>
        <p:spPr>
          <a:xfrm>
            <a:off x="777240" y="3465576"/>
            <a:ext cx="10607040" cy="914"/>
          </a:xfrm>
          <a:prstGeom prst="line">
            <a:avLst/>
          </a:prstGeom>
          <a:noFill/>
          <a:ln w="6350">
            <a:solidFill>
              <a:srgbClr val="9AA0B8">
                <a:alpha val="40000"/>
              </a:srgbClr>
            </a:solidFill>
            <a:prstDash val="solid"/>
          </a:ln>
        </p:spPr>
      </p:sp>
      <p:sp>
        <p:nvSpPr>
          <p:cNvPr id="36" name="Text 34"/>
          <p:cNvSpPr txBox="1"/>
          <p:nvPr/>
        </p:nvSpPr>
        <p:spPr>
          <a:xfrm>
            <a:off x="777240" y="3520440"/>
            <a:ext cx="4206240" cy="274320"/>
          </a:xfrm>
          <a:prstGeom prst="rect">
            <a:avLst/>
          </a:prstGeom>
          <a:noFill/>
          <a:ln/>
        </p:spPr>
        <p:txBody>
          <a:bodyPr wrap="square" lIns="0" tIns="0" rIns="0" bIns="0" rtlCol="0" anchor="t"/>
          <a:lstStyle/>
          <a:p>
            <a:pPr indent="0" marL="0">
              <a:buNone/>
            </a:pPr>
            <a:r>
              <a:rPr lang="en-US" sz="1300" b="1" dirty="0">
                <a:solidFill>
                  <a:schemeClr val="bg1"/>
                </a:solidFill>
              </a:rPr>
              <a:t>Workflow grants excessive write permissions</a:t>
            </a:r>
            <a:endParaRPr lang="en-US" sz="1300" dirty="0"/>
          </a:p>
        </p:txBody>
      </p:sp>
      <p:sp>
        <p:nvSpPr>
          <p:cNvPr id="37" name="Text 35"/>
          <p:cNvSpPr txBox="1"/>
          <p:nvPr/>
        </p:nvSpPr>
        <p:spPr>
          <a:xfrm>
            <a:off x="777240" y="3794760"/>
            <a:ext cx="4206240" cy="228600"/>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repo: payments-service</a:t>
            </a:r>
            <a:endParaRPr lang="en-US" sz="1100" dirty="0"/>
          </a:p>
        </p:txBody>
      </p:sp>
      <p:sp>
        <p:nvSpPr>
          <p:cNvPr id="38" name="pill"/>
          <p:cNvSpPr/>
          <p:nvPr/>
        </p:nvSpPr>
        <p:spPr>
          <a:xfrm>
            <a:off x="5120640" y="3575304"/>
            <a:ext cx="868680" cy="292608"/>
          </a:xfrm>
          <a:prstGeom prst="roundRect">
            <a:avLst>
              <a:gd name="adj" fmla="val 50000"/>
            </a:avLst>
          </a:prstGeom>
          <a:solidFill>
            <a:schemeClr val="accent3">
              <a:alpha val="18000"/>
            </a:schemeClr>
          </a:solidFill>
          <a:ln w="9525">
            <a:solidFill>
              <a:schemeClr val="accent3">
                <a:alpha val="70000"/>
              </a:schemeClr>
            </a:solidFill>
            <a:prstDash val="solid"/>
          </a:ln>
        </p:spPr>
      </p:sp>
      <p:sp>
        <p:nvSpPr>
          <p:cNvPr id="39" name="Text 37"/>
          <p:cNvSpPr txBox="1"/>
          <p:nvPr/>
        </p:nvSpPr>
        <p:spPr>
          <a:xfrm>
            <a:off x="5120640" y="3575304"/>
            <a:ext cx="868680" cy="292608"/>
          </a:xfrm>
          <a:prstGeom prst="rect">
            <a:avLst/>
          </a:prstGeom>
          <a:noFill/>
          <a:ln/>
        </p:spPr>
        <p:txBody>
          <a:bodyPr wrap="square" lIns="0" tIns="0" rIns="0" bIns="0" rtlCol="0" anchor="ctr"/>
          <a:lstStyle/>
          <a:p>
            <a:pPr algn="ctr" indent="0" marL="0">
              <a:buNone/>
            </a:pPr>
            <a:r>
              <a:rPr lang="en-US" sz="1000" b="1" dirty="0">
                <a:solidFill>
                  <a:schemeClr val="accent3"/>
                </a:solidFill>
              </a:rPr>
              <a:t>High</a:t>
            </a:r>
            <a:endParaRPr lang="en-US" sz="1000" dirty="0"/>
          </a:p>
        </p:txBody>
      </p:sp>
      <p:sp>
        <p:nvSpPr>
          <p:cNvPr id="40" name="Text 38"/>
          <p:cNvSpPr txBox="1"/>
          <p:nvPr/>
        </p:nvSpPr>
        <p:spPr>
          <a:xfrm>
            <a:off x="6400800" y="3575304"/>
            <a:ext cx="1554480" cy="292608"/>
          </a:xfrm>
          <a:prstGeom prst="rect">
            <a:avLst/>
          </a:prstGeom>
          <a:noFill/>
          <a:ln/>
        </p:spPr>
        <p:txBody>
          <a:bodyPr wrap="square" lIns="0" tIns="0" rIns="0" bIns="0" rtlCol="0" anchor="ctr"/>
          <a:lstStyle/>
          <a:p>
            <a:pPr indent="0" marL="0">
              <a:buNone/>
            </a:pPr>
            <a:r>
              <a:rPr lang="en-US" sz="1200" dirty="0">
                <a:solidFill>
                  <a:schemeClr val="bg2"/>
                </a:solidFill>
              </a:rPr>
              <a:t>Static + graph</a:t>
            </a:r>
            <a:endParaRPr lang="en-US" sz="1200" dirty="0"/>
          </a:p>
        </p:txBody>
      </p:sp>
      <p:sp>
        <p:nvSpPr>
          <p:cNvPr id="41" name="Text 39"/>
          <p:cNvSpPr txBox="1"/>
          <p:nvPr/>
        </p:nvSpPr>
        <p:spPr>
          <a:xfrm>
            <a:off x="8001000" y="3575304"/>
            <a:ext cx="1554480" cy="292608"/>
          </a:xfrm>
          <a:prstGeom prst="rect">
            <a:avLst/>
          </a:prstGeom>
          <a:noFill/>
          <a:ln/>
        </p:spPr>
        <p:txBody>
          <a:bodyPr wrap="square" lIns="0" tIns="0" rIns="0" bIns="0" rtlCol="0" anchor="ctr"/>
          <a:lstStyle/>
          <a:p>
            <a:pPr indent="0" marL="0">
              <a:buNone/>
            </a:pPr>
            <a:r>
              <a:rPr lang="en-US" sz="1200" dirty="0">
                <a:solidFill>
                  <a:schemeClr val="bg2"/>
                </a:solidFill>
              </a:rPr>
              <a:t>Open</a:t>
            </a:r>
            <a:endParaRPr lang="en-US" sz="1200" dirty="0"/>
          </a:p>
        </p:txBody>
      </p:sp>
      <p:sp>
        <p:nvSpPr>
          <p:cNvPr id="42" name="Text 40"/>
          <p:cNvSpPr txBox="1"/>
          <p:nvPr/>
        </p:nvSpPr>
        <p:spPr>
          <a:xfrm>
            <a:off x="9646920" y="3575304"/>
            <a:ext cx="1737360" cy="292608"/>
          </a:xfrm>
          <a:prstGeom prst="rect">
            <a:avLst/>
          </a:prstGeom>
          <a:noFill/>
          <a:ln/>
        </p:spPr>
        <p:txBody>
          <a:bodyPr wrap="square" lIns="0" tIns="0" rIns="0" bIns="0" rtlCol="0" anchor="ctr"/>
          <a:lstStyle/>
          <a:p>
            <a:pPr indent="0" marL="0">
              <a:buNone/>
            </a:pPr>
            <a:r>
              <a:rPr lang="en-US" sz="1200" dirty="0">
                <a:solidFill>
                  <a:schemeClr val="bg2"/>
                </a:solidFill>
              </a:rPr>
              <a:t>Platform team</a:t>
            </a:r>
            <a:endParaRPr lang="en-US" sz="1200" dirty="0"/>
          </a:p>
        </p:txBody>
      </p:sp>
      <p:sp>
        <p:nvSpPr>
          <p:cNvPr id="43" name="connector"/>
          <p:cNvSpPr/>
          <p:nvPr/>
        </p:nvSpPr>
        <p:spPr>
          <a:xfrm>
            <a:off x="777240" y="4151376"/>
            <a:ext cx="10607040" cy="914"/>
          </a:xfrm>
          <a:prstGeom prst="line">
            <a:avLst/>
          </a:prstGeom>
          <a:noFill/>
          <a:ln w="6350">
            <a:solidFill>
              <a:srgbClr val="9AA0B8">
                <a:alpha val="40000"/>
              </a:srgbClr>
            </a:solidFill>
            <a:prstDash val="solid"/>
          </a:ln>
        </p:spPr>
      </p:sp>
      <p:sp>
        <p:nvSpPr>
          <p:cNvPr id="44" name="Text 42"/>
          <p:cNvSpPr txBox="1"/>
          <p:nvPr/>
        </p:nvSpPr>
        <p:spPr>
          <a:xfrm>
            <a:off x="777240" y="4206240"/>
            <a:ext cx="4206240" cy="274320"/>
          </a:xfrm>
          <a:prstGeom prst="rect">
            <a:avLst/>
          </a:prstGeom>
          <a:noFill/>
          <a:ln/>
        </p:spPr>
        <p:txBody>
          <a:bodyPr wrap="square" lIns="0" tIns="0" rIns="0" bIns="0" rtlCol="0" anchor="t"/>
          <a:lstStyle/>
          <a:p>
            <a:pPr indent="0" marL="0">
              <a:buNone/>
            </a:pPr>
            <a:r>
              <a:rPr lang="en-US" sz="1300" b="1" dirty="0">
                <a:solidFill>
                  <a:schemeClr val="bg1"/>
                </a:solidFill>
              </a:rPr>
              <a:t>Agent tool can reach restricted resource</a:t>
            </a:r>
            <a:endParaRPr lang="en-US" sz="1300" dirty="0"/>
          </a:p>
        </p:txBody>
      </p:sp>
      <p:sp>
        <p:nvSpPr>
          <p:cNvPr id="45" name="Text 43"/>
          <p:cNvSpPr txBox="1"/>
          <p:nvPr/>
        </p:nvSpPr>
        <p:spPr>
          <a:xfrm>
            <a:off x="777240" y="4480560"/>
            <a:ext cx="4206240" cy="228600"/>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agent: code-assistant</a:t>
            </a:r>
            <a:endParaRPr lang="en-US" sz="1100" dirty="0"/>
          </a:p>
        </p:txBody>
      </p:sp>
      <p:sp>
        <p:nvSpPr>
          <p:cNvPr id="46" name="pill"/>
          <p:cNvSpPr/>
          <p:nvPr/>
        </p:nvSpPr>
        <p:spPr>
          <a:xfrm>
            <a:off x="5120640" y="4261104"/>
            <a:ext cx="868680" cy="292608"/>
          </a:xfrm>
          <a:prstGeom prst="roundRect">
            <a:avLst>
              <a:gd name="adj" fmla="val 50000"/>
            </a:avLst>
          </a:prstGeom>
          <a:solidFill>
            <a:schemeClr val="accent3">
              <a:alpha val="18000"/>
            </a:schemeClr>
          </a:solidFill>
          <a:ln w="9525">
            <a:solidFill>
              <a:schemeClr val="accent3">
                <a:alpha val="70000"/>
              </a:schemeClr>
            </a:solidFill>
            <a:prstDash val="solid"/>
          </a:ln>
        </p:spPr>
      </p:sp>
      <p:sp>
        <p:nvSpPr>
          <p:cNvPr id="47" name="Text 45"/>
          <p:cNvSpPr txBox="1"/>
          <p:nvPr/>
        </p:nvSpPr>
        <p:spPr>
          <a:xfrm>
            <a:off x="5120640" y="4261104"/>
            <a:ext cx="868680" cy="292608"/>
          </a:xfrm>
          <a:prstGeom prst="rect">
            <a:avLst/>
          </a:prstGeom>
          <a:noFill/>
          <a:ln/>
        </p:spPr>
        <p:txBody>
          <a:bodyPr wrap="square" lIns="0" tIns="0" rIns="0" bIns="0" rtlCol="0" anchor="ctr"/>
          <a:lstStyle/>
          <a:p>
            <a:pPr algn="ctr" indent="0" marL="0">
              <a:buNone/>
            </a:pPr>
            <a:r>
              <a:rPr lang="en-US" sz="1000" b="1" dirty="0">
                <a:solidFill>
                  <a:schemeClr val="accent3"/>
                </a:solidFill>
              </a:rPr>
              <a:t>High</a:t>
            </a:r>
            <a:endParaRPr lang="en-US" sz="1000" dirty="0"/>
          </a:p>
        </p:txBody>
      </p:sp>
      <p:sp>
        <p:nvSpPr>
          <p:cNvPr id="48" name="Text 46"/>
          <p:cNvSpPr txBox="1"/>
          <p:nvPr/>
        </p:nvSpPr>
        <p:spPr>
          <a:xfrm>
            <a:off x="6400800" y="4261104"/>
            <a:ext cx="1554480" cy="292608"/>
          </a:xfrm>
          <a:prstGeom prst="rect">
            <a:avLst/>
          </a:prstGeom>
          <a:noFill/>
          <a:ln/>
        </p:spPr>
        <p:txBody>
          <a:bodyPr wrap="square" lIns="0" tIns="0" rIns="0" bIns="0" rtlCol="0" anchor="ctr"/>
          <a:lstStyle/>
          <a:p>
            <a:pPr indent="0" marL="0">
              <a:buNone/>
            </a:pPr>
            <a:r>
              <a:rPr lang="en-US" sz="1200" dirty="0">
                <a:solidFill>
                  <a:schemeClr val="bg2"/>
                </a:solidFill>
              </a:rPr>
              <a:t>Graph path</a:t>
            </a:r>
            <a:endParaRPr lang="en-US" sz="1200" dirty="0"/>
          </a:p>
        </p:txBody>
      </p:sp>
      <p:sp>
        <p:nvSpPr>
          <p:cNvPr id="49" name="Text 47"/>
          <p:cNvSpPr txBox="1"/>
          <p:nvPr/>
        </p:nvSpPr>
        <p:spPr>
          <a:xfrm>
            <a:off x="8001000" y="4261104"/>
            <a:ext cx="1554480" cy="292608"/>
          </a:xfrm>
          <a:prstGeom prst="rect">
            <a:avLst/>
          </a:prstGeom>
          <a:noFill/>
          <a:ln/>
        </p:spPr>
        <p:txBody>
          <a:bodyPr wrap="square" lIns="0" tIns="0" rIns="0" bIns="0" rtlCol="0" anchor="ctr"/>
          <a:lstStyle/>
          <a:p>
            <a:pPr indent="0" marL="0">
              <a:buNone/>
            </a:pPr>
            <a:r>
              <a:rPr lang="en-US" sz="1200" dirty="0">
                <a:solidFill>
                  <a:schemeClr val="bg2"/>
                </a:solidFill>
              </a:rPr>
              <a:t>Investigating</a:t>
            </a:r>
            <a:endParaRPr lang="en-US" sz="1200" dirty="0"/>
          </a:p>
        </p:txBody>
      </p:sp>
      <p:sp>
        <p:nvSpPr>
          <p:cNvPr id="50" name="Text 48"/>
          <p:cNvSpPr txBox="1"/>
          <p:nvPr/>
        </p:nvSpPr>
        <p:spPr>
          <a:xfrm>
            <a:off x="9646920" y="4261104"/>
            <a:ext cx="1737360" cy="292608"/>
          </a:xfrm>
          <a:prstGeom prst="rect">
            <a:avLst/>
          </a:prstGeom>
          <a:noFill/>
          <a:ln/>
        </p:spPr>
        <p:txBody>
          <a:bodyPr wrap="square" lIns="0" tIns="0" rIns="0" bIns="0" rtlCol="0" anchor="ctr"/>
          <a:lstStyle/>
          <a:p>
            <a:pPr indent="0" marL="0">
              <a:buNone/>
            </a:pPr>
            <a:r>
              <a:rPr lang="en-US" sz="1200" dirty="0">
                <a:solidFill>
                  <a:schemeClr val="bg2"/>
                </a:solidFill>
              </a:rPr>
              <a:t>AppSec</a:t>
            </a:r>
            <a:endParaRPr lang="en-US" sz="1200" dirty="0"/>
          </a:p>
        </p:txBody>
      </p:sp>
      <p:sp>
        <p:nvSpPr>
          <p:cNvPr id="51" name="connector"/>
          <p:cNvSpPr/>
          <p:nvPr/>
        </p:nvSpPr>
        <p:spPr>
          <a:xfrm>
            <a:off x="777240" y="4837176"/>
            <a:ext cx="10607040" cy="914"/>
          </a:xfrm>
          <a:prstGeom prst="line">
            <a:avLst/>
          </a:prstGeom>
          <a:noFill/>
          <a:ln w="6350">
            <a:solidFill>
              <a:srgbClr val="9AA0B8">
                <a:alpha val="40000"/>
              </a:srgbClr>
            </a:solidFill>
            <a:prstDash val="solid"/>
          </a:ln>
        </p:spPr>
      </p:sp>
      <p:sp>
        <p:nvSpPr>
          <p:cNvPr id="52" name="Text 50"/>
          <p:cNvSpPr txBox="1"/>
          <p:nvPr/>
        </p:nvSpPr>
        <p:spPr>
          <a:xfrm>
            <a:off x="777240" y="4892040"/>
            <a:ext cx="4206240" cy="274320"/>
          </a:xfrm>
          <a:prstGeom prst="rect">
            <a:avLst/>
          </a:prstGeom>
          <a:noFill/>
          <a:ln/>
        </p:spPr>
        <p:txBody>
          <a:bodyPr wrap="square" lIns="0" tIns="0" rIns="0" bIns="0" rtlCol="0" anchor="t"/>
          <a:lstStyle/>
          <a:p>
            <a:pPr indent="0" marL="0">
              <a:buNone/>
            </a:pPr>
            <a:r>
              <a:rPr lang="en-US" sz="1300" b="1" dirty="0">
                <a:solidFill>
                  <a:schemeClr val="bg1"/>
                </a:solidFill>
              </a:rPr>
              <a:t>Dependency has an applicable advisory</a:t>
            </a:r>
            <a:endParaRPr lang="en-US" sz="1300" dirty="0"/>
          </a:p>
        </p:txBody>
      </p:sp>
      <p:sp>
        <p:nvSpPr>
          <p:cNvPr id="53" name="Text 51"/>
          <p:cNvSpPr txBox="1"/>
          <p:nvPr/>
        </p:nvSpPr>
        <p:spPr>
          <a:xfrm>
            <a:off x="777240" y="5166360"/>
            <a:ext cx="4206240" cy="228600"/>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repo: internal-api</a:t>
            </a:r>
            <a:endParaRPr lang="en-US" sz="1100" dirty="0"/>
          </a:p>
        </p:txBody>
      </p:sp>
      <p:sp>
        <p:nvSpPr>
          <p:cNvPr id="54" name="pill"/>
          <p:cNvSpPr/>
          <p:nvPr/>
        </p:nvSpPr>
        <p:spPr>
          <a:xfrm>
            <a:off x="5120640" y="4946904"/>
            <a:ext cx="868680" cy="292608"/>
          </a:xfrm>
          <a:prstGeom prst="roundRect">
            <a:avLst>
              <a:gd name="adj" fmla="val 50000"/>
            </a:avLst>
          </a:prstGeom>
          <a:solidFill>
            <a:schemeClr val="accent4">
              <a:alpha val="18000"/>
            </a:schemeClr>
          </a:solidFill>
          <a:ln w="9525">
            <a:solidFill>
              <a:schemeClr val="accent4">
                <a:alpha val="70000"/>
              </a:schemeClr>
            </a:solidFill>
            <a:prstDash val="solid"/>
          </a:ln>
        </p:spPr>
      </p:sp>
      <p:sp>
        <p:nvSpPr>
          <p:cNvPr id="55" name="Text 53"/>
          <p:cNvSpPr txBox="1"/>
          <p:nvPr/>
        </p:nvSpPr>
        <p:spPr>
          <a:xfrm>
            <a:off x="5120640" y="4946904"/>
            <a:ext cx="868680" cy="292608"/>
          </a:xfrm>
          <a:prstGeom prst="rect">
            <a:avLst/>
          </a:prstGeom>
          <a:noFill/>
          <a:ln/>
        </p:spPr>
        <p:txBody>
          <a:bodyPr wrap="square" lIns="0" tIns="0" rIns="0" bIns="0" rtlCol="0" anchor="ctr"/>
          <a:lstStyle/>
          <a:p>
            <a:pPr algn="ctr" indent="0" marL="0">
              <a:buNone/>
            </a:pPr>
            <a:r>
              <a:rPr lang="en-US" sz="1000" b="1" dirty="0">
                <a:solidFill>
                  <a:schemeClr val="accent4"/>
                </a:solidFill>
              </a:rPr>
              <a:t>Medium</a:t>
            </a:r>
            <a:endParaRPr lang="en-US" sz="1000" dirty="0"/>
          </a:p>
        </p:txBody>
      </p:sp>
      <p:sp>
        <p:nvSpPr>
          <p:cNvPr id="56" name="Text 54"/>
          <p:cNvSpPr txBox="1"/>
          <p:nvPr/>
        </p:nvSpPr>
        <p:spPr>
          <a:xfrm>
            <a:off x="6400800" y="4946904"/>
            <a:ext cx="1554480" cy="292608"/>
          </a:xfrm>
          <a:prstGeom prst="rect">
            <a:avLst/>
          </a:prstGeom>
          <a:noFill/>
          <a:ln/>
        </p:spPr>
        <p:txBody>
          <a:bodyPr wrap="square" lIns="0" tIns="0" rIns="0" bIns="0" rtlCol="0" anchor="ctr"/>
          <a:lstStyle/>
          <a:p>
            <a:pPr indent="0" marL="0">
              <a:buNone/>
            </a:pPr>
            <a:r>
              <a:rPr lang="en-US" sz="1200" dirty="0">
                <a:solidFill>
                  <a:schemeClr val="bg2"/>
                </a:solidFill>
              </a:rPr>
              <a:t>SCA + graph</a:t>
            </a:r>
            <a:endParaRPr lang="en-US" sz="1200" dirty="0"/>
          </a:p>
        </p:txBody>
      </p:sp>
      <p:sp>
        <p:nvSpPr>
          <p:cNvPr id="57" name="Text 55"/>
          <p:cNvSpPr txBox="1"/>
          <p:nvPr/>
        </p:nvSpPr>
        <p:spPr>
          <a:xfrm>
            <a:off x="8001000" y="4946904"/>
            <a:ext cx="1554480" cy="292608"/>
          </a:xfrm>
          <a:prstGeom prst="rect">
            <a:avLst/>
          </a:prstGeom>
          <a:noFill/>
          <a:ln/>
        </p:spPr>
        <p:txBody>
          <a:bodyPr wrap="square" lIns="0" tIns="0" rIns="0" bIns="0" rtlCol="0" anchor="ctr"/>
          <a:lstStyle/>
          <a:p>
            <a:pPr indent="0" marL="0">
              <a:buNone/>
            </a:pPr>
            <a:r>
              <a:rPr lang="en-US" sz="1200" dirty="0">
                <a:solidFill>
                  <a:schemeClr val="bg2"/>
                </a:solidFill>
              </a:rPr>
              <a:t>In remediation</a:t>
            </a:r>
            <a:endParaRPr lang="en-US" sz="1200" dirty="0"/>
          </a:p>
        </p:txBody>
      </p:sp>
      <p:sp>
        <p:nvSpPr>
          <p:cNvPr id="58" name="Text 56"/>
          <p:cNvSpPr txBox="1"/>
          <p:nvPr/>
        </p:nvSpPr>
        <p:spPr>
          <a:xfrm>
            <a:off x="9646920" y="4946904"/>
            <a:ext cx="1737360" cy="292608"/>
          </a:xfrm>
          <a:prstGeom prst="rect">
            <a:avLst/>
          </a:prstGeom>
          <a:noFill/>
          <a:ln/>
        </p:spPr>
        <p:txBody>
          <a:bodyPr wrap="square" lIns="0" tIns="0" rIns="0" bIns="0" rtlCol="0" anchor="ctr"/>
          <a:lstStyle/>
          <a:p>
            <a:pPr indent="0" marL="0">
              <a:buNone/>
            </a:pPr>
            <a:r>
              <a:rPr lang="en-US" sz="1200" dirty="0">
                <a:solidFill>
                  <a:schemeClr val="bg2"/>
                </a:solidFill>
              </a:rPr>
              <a:t>Team API</a:t>
            </a:r>
            <a:endParaRPr lang="en-US" sz="1200" dirty="0"/>
          </a:p>
        </p:txBody>
      </p:sp>
      <p:sp>
        <p:nvSpPr>
          <p:cNvPr id="59" name="Text 57"/>
          <p:cNvSpPr txBox="1"/>
          <p:nvPr/>
        </p:nvSpPr>
        <p:spPr>
          <a:xfrm>
            <a:off x="548640" y="5833872"/>
            <a:ext cx="18288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FINDING STATES</a:t>
            </a:r>
            <a:endParaRPr lang="en-US" sz="1100" dirty="0"/>
          </a:p>
        </p:txBody>
      </p:sp>
      <p:sp>
        <p:nvSpPr>
          <p:cNvPr id="60" name="pill"/>
          <p:cNvSpPr/>
          <p:nvPr/>
        </p:nvSpPr>
        <p:spPr>
          <a:xfrm>
            <a:off x="2103120" y="5815584"/>
            <a:ext cx="464515" cy="310896"/>
          </a:xfrm>
          <a:prstGeom prst="roundRect">
            <a:avLst>
              <a:gd name="adj" fmla="val 50000"/>
            </a:avLst>
          </a:prstGeom>
          <a:solidFill>
            <a:schemeClr val="accent6">
              <a:alpha val="18000"/>
            </a:schemeClr>
          </a:solidFill>
          <a:ln w="9525">
            <a:solidFill>
              <a:schemeClr val="accent6">
                <a:alpha val="70000"/>
              </a:schemeClr>
            </a:solidFill>
            <a:prstDash val="solid"/>
          </a:ln>
        </p:spPr>
      </p:sp>
      <p:sp>
        <p:nvSpPr>
          <p:cNvPr id="61" name="Text 59"/>
          <p:cNvSpPr txBox="1"/>
          <p:nvPr/>
        </p:nvSpPr>
        <p:spPr>
          <a:xfrm>
            <a:off x="2103120" y="5815584"/>
            <a:ext cx="464515" cy="310896"/>
          </a:xfrm>
          <a:prstGeom prst="rect">
            <a:avLst/>
          </a:prstGeom>
          <a:noFill/>
          <a:ln/>
        </p:spPr>
        <p:txBody>
          <a:bodyPr wrap="square" lIns="0" tIns="0" rIns="0" bIns="0" rtlCol="0" anchor="ctr"/>
          <a:lstStyle/>
          <a:p>
            <a:pPr algn="ctr" indent="0" marL="0">
              <a:buNone/>
            </a:pPr>
            <a:r>
              <a:rPr lang="en-US" sz="900" b="1" dirty="0">
                <a:solidFill>
                  <a:schemeClr val="accent6"/>
                </a:solidFill>
                <a:latin typeface="Courier New" pitchFamily="34" charset="0"/>
                <a:ea typeface="Courier New" pitchFamily="34" charset="-122"/>
                <a:cs typeface="Courier New" pitchFamily="34" charset="-120"/>
              </a:rPr>
              <a:t>open</a:t>
            </a:r>
            <a:endParaRPr lang="en-US" sz="900" dirty="0"/>
          </a:p>
        </p:txBody>
      </p:sp>
      <p:sp>
        <p:nvSpPr>
          <p:cNvPr id="62" name="pill"/>
          <p:cNvSpPr/>
          <p:nvPr/>
        </p:nvSpPr>
        <p:spPr>
          <a:xfrm>
            <a:off x="2640787" y="5815584"/>
            <a:ext cx="1057046" cy="310896"/>
          </a:xfrm>
          <a:prstGeom prst="roundRect">
            <a:avLst>
              <a:gd name="adj" fmla="val 50000"/>
            </a:avLst>
          </a:prstGeom>
          <a:solidFill>
            <a:schemeClr val="accent1">
              <a:alpha val="18000"/>
            </a:schemeClr>
          </a:solidFill>
          <a:ln w="9525">
            <a:solidFill>
              <a:schemeClr val="accent1">
                <a:alpha val="70000"/>
              </a:schemeClr>
            </a:solidFill>
            <a:prstDash val="solid"/>
          </a:ln>
        </p:spPr>
      </p:sp>
      <p:sp>
        <p:nvSpPr>
          <p:cNvPr id="63" name="Text 61"/>
          <p:cNvSpPr txBox="1"/>
          <p:nvPr/>
        </p:nvSpPr>
        <p:spPr>
          <a:xfrm>
            <a:off x="2640787" y="5815584"/>
            <a:ext cx="1057046" cy="310896"/>
          </a:xfrm>
          <a:prstGeom prst="rect">
            <a:avLst/>
          </a:prstGeom>
          <a:noFill/>
          <a:ln/>
        </p:spPr>
        <p:txBody>
          <a:bodyPr wrap="square" lIns="0" tIns="0" rIns="0" bIns="0" rtlCol="0" anchor="ctr"/>
          <a:lstStyle/>
          <a:p>
            <a:pPr algn="ctr" indent="0" marL="0">
              <a:buNone/>
            </a:pPr>
            <a:r>
              <a:rPr lang="en-US" sz="900" b="1" dirty="0">
                <a:solidFill>
                  <a:schemeClr val="accent1"/>
                </a:solidFill>
                <a:latin typeface="Courier New" pitchFamily="34" charset="0"/>
                <a:ea typeface="Courier New" pitchFamily="34" charset="-122"/>
                <a:cs typeface="Courier New" pitchFamily="34" charset="-120"/>
              </a:rPr>
              <a:t>investigating</a:t>
            </a:r>
            <a:endParaRPr lang="en-US" sz="900" dirty="0"/>
          </a:p>
        </p:txBody>
      </p:sp>
      <p:sp>
        <p:nvSpPr>
          <p:cNvPr id="64" name="pill"/>
          <p:cNvSpPr/>
          <p:nvPr/>
        </p:nvSpPr>
        <p:spPr>
          <a:xfrm>
            <a:off x="3770986" y="5815584"/>
            <a:ext cx="1122883" cy="310896"/>
          </a:xfrm>
          <a:prstGeom prst="roundRect">
            <a:avLst>
              <a:gd name="adj" fmla="val 50000"/>
            </a:avLst>
          </a:prstGeom>
          <a:solidFill>
            <a:schemeClr val="accent4">
              <a:alpha val="18000"/>
            </a:schemeClr>
          </a:solidFill>
          <a:ln w="9525">
            <a:solidFill>
              <a:schemeClr val="accent4">
                <a:alpha val="70000"/>
              </a:schemeClr>
            </a:solidFill>
            <a:prstDash val="solid"/>
          </a:ln>
        </p:spPr>
      </p:sp>
      <p:sp>
        <p:nvSpPr>
          <p:cNvPr id="65" name="Text 63"/>
          <p:cNvSpPr txBox="1"/>
          <p:nvPr/>
        </p:nvSpPr>
        <p:spPr>
          <a:xfrm>
            <a:off x="3770986" y="5815584"/>
            <a:ext cx="1122883" cy="310896"/>
          </a:xfrm>
          <a:prstGeom prst="rect">
            <a:avLst/>
          </a:prstGeom>
          <a:noFill/>
          <a:ln/>
        </p:spPr>
        <p:txBody>
          <a:bodyPr wrap="square" lIns="0" tIns="0" rIns="0" bIns="0" rtlCol="0" anchor="ctr"/>
          <a:lstStyle/>
          <a:p>
            <a:pPr algn="ctr" indent="0" marL="0">
              <a:buNone/>
            </a:pPr>
            <a:r>
              <a:rPr lang="en-US" sz="900" b="1" dirty="0">
                <a:solidFill>
                  <a:schemeClr val="accent4"/>
                </a:solidFill>
                <a:latin typeface="Courier New" pitchFamily="34" charset="0"/>
                <a:ea typeface="Courier New" pitchFamily="34" charset="-122"/>
                <a:cs typeface="Courier New" pitchFamily="34" charset="-120"/>
              </a:rPr>
              <a:t>in_remediation</a:t>
            </a:r>
            <a:endParaRPr lang="en-US" sz="900" dirty="0"/>
          </a:p>
        </p:txBody>
      </p:sp>
      <p:sp>
        <p:nvSpPr>
          <p:cNvPr id="66" name="pill"/>
          <p:cNvSpPr/>
          <p:nvPr/>
        </p:nvSpPr>
        <p:spPr>
          <a:xfrm>
            <a:off x="4967021" y="5815584"/>
            <a:ext cx="1517904" cy="310896"/>
          </a:xfrm>
          <a:prstGeom prst="roundRect">
            <a:avLst>
              <a:gd name="adj" fmla="val 50000"/>
            </a:avLst>
          </a:prstGeom>
          <a:solidFill>
            <a:schemeClr val="accent2">
              <a:alpha val="18000"/>
            </a:schemeClr>
          </a:solidFill>
          <a:ln w="9525">
            <a:solidFill>
              <a:schemeClr val="accent2">
                <a:alpha val="70000"/>
              </a:schemeClr>
            </a:solidFill>
            <a:prstDash val="solid"/>
          </a:ln>
        </p:spPr>
      </p:sp>
      <p:sp>
        <p:nvSpPr>
          <p:cNvPr id="67" name="Text 65"/>
          <p:cNvSpPr txBox="1"/>
          <p:nvPr/>
        </p:nvSpPr>
        <p:spPr>
          <a:xfrm>
            <a:off x="4967021" y="5815584"/>
            <a:ext cx="1517904" cy="310896"/>
          </a:xfrm>
          <a:prstGeom prst="rect">
            <a:avLst/>
          </a:prstGeom>
          <a:noFill/>
          <a:ln/>
        </p:spPr>
        <p:txBody>
          <a:bodyPr wrap="square" lIns="0" tIns="0" rIns="0" bIns="0" rtlCol="0" anchor="ctr"/>
          <a:lstStyle/>
          <a:p>
            <a:pPr algn="ctr" indent="0" marL="0">
              <a:buNone/>
            </a:pPr>
            <a:r>
              <a:rPr lang="en-US" sz="900" b="1" dirty="0">
                <a:solidFill>
                  <a:schemeClr val="accent2"/>
                </a:solidFill>
                <a:latin typeface="Courier New" pitchFamily="34" charset="0"/>
                <a:ea typeface="Courier New" pitchFamily="34" charset="-122"/>
                <a:cs typeface="Courier New" pitchFamily="34" charset="-120"/>
              </a:rPr>
              <a:t>pending_verification</a:t>
            </a:r>
            <a:endParaRPr lang="en-US" sz="900" dirty="0"/>
          </a:p>
        </p:txBody>
      </p:sp>
      <p:sp>
        <p:nvSpPr>
          <p:cNvPr id="68" name="pill"/>
          <p:cNvSpPr/>
          <p:nvPr/>
        </p:nvSpPr>
        <p:spPr>
          <a:xfrm>
            <a:off x="6558077" y="5815584"/>
            <a:ext cx="1122883" cy="310896"/>
          </a:xfrm>
          <a:prstGeom prst="roundRect">
            <a:avLst>
              <a:gd name="adj" fmla="val 50000"/>
            </a:avLst>
          </a:prstGeom>
          <a:solidFill>
            <a:schemeClr val="accent5">
              <a:alpha val="18000"/>
            </a:schemeClr>
          </a:solidFill>
          <a:ln w="9525">
            <a:solidFill>
              <a:schemeClr val="accent5">
                <a:alpha val="70000"/>
              </a:schemeClr>
            </a:solidFill>
            <a:prstDash val="solid"/>
          </a:ln>
        </p:spPr>
      </p:sp>
      <p:sp>
        <p:nvSpPr>
          <p:cNvPr id="69" name="Text 67"/>
          <p:cNvSpPr txBox="1"/>
          <p:nvPr/>
        </p:nvSpPr>
        <p:spPr>
          <a:xfrm>
            <a:off x="6558077" y="5815584"/>
            <a:ext cx="1122883" cy="310896"/>
          </a:xfrm>
          <a:prstGeom prst="rect">
            <a:avLst/>
          </a:prstGeom>
          <a:noFill/>
          <a:ln/>
        </p:spPr>
        <p:txBody>
          <a:bodyPr wrap="square" lIns="0" tIns="0" rIns="0" bIns="0" rtlCol="0" anchor="ctr"/>
          <a:lstStyle/>
          <a:p>
            <a:pPr algn="ctr" indent="0" marL="0">
              <a:buNone/>
            </a:pPr>
            <a:r>
              <a:rPr lang="en-US" sz="900" b="1" dirty="0">
                <a:solidFill>
                  <a:schemeClr val="accent5"/>
                </a:solidFill>
                <a:latin typeface="Courier New" pitchFamily="34" charset="0"/>
                <a:ea typeface="Courier New" pitchFamily="34" charset="-122"/>
                <a:cs typeface="Courier New" pitchFamily="34" charset="-120"/>
              </a:rPr>
              <a:t>verified_fixed</a:t>
            </a:r>
            <a:endParaRPr lang="en-US" sz="900" dirty="0"/>
          </a:p>
        </p:txBody>
      </p:sp>
      <p:sp>
        <p:nvSpPr>
          <p:cNvPr id="70" name="pill"/>
          <p:cNvSpPr/>
          <p:nvPr/>
        </p:nvSpPr>
        <p:spPr>
          <a:xfrm>
            <a:off x="7754112" y="5815584"/>
            <a:ext cx="1057046" cy="310896"/>
          </a:xfrm>
          <a:prstGeom prst="roundRect">
            <a:avLst>
              <a:gd name="adj" fmla="val 50000"/>
            </a:avLst>
          </a:prstGeom>
          <a:solidFill>
            <a:schemeClr val="accent4">
              <a:alpha val="18000"/>
            </a:schemeClr>
          </a:solidFill>
          <a:ln w="9525">
            <a:solidFill>
              <a:schemeClr val="accent4">
                <a:alpha val="70000"/>
              </a:schemeClr>
            </a:solidFill>
            <a:prstDash val="solid"/>
          </a:ln>
        </p:spPr>
      </p:sp>
      <p:sp>
        <p:nvSpPr>
          <p:cNvPr id="71" name="Text 69"/>
          <p:cNvSpPr txBox="1"/>
          <p:nvPr/>
        </p:nvSpPr>
        <p:spPr>
          <a:xfrm>
            <a:off x="7754112" y="5815584"/>
            <a:ext cx="1057046" cy="310896"/>
          </a:xfrm>
          <a:prstGeom prst="rect">
            <a:avLst/>
          </a:prstGeom>
          <a:noFill/>
          <a:ln/>
        </p:spPr>
        <p:txBody>
          <a:bodyPr wrap="square" lIns="0" tIns="0" rIns="0" bIns="0" rtlCol="0" anchor="ctr"/>
          <a:lstStyle/>
          <a:p>
            <a:pPr algn="ctr" indent="0" marL="0">
              <a:buNone/>
            </a:pPr>
            <a:r>
              <a:rPr lang="en-US" sz="900" b="1" dirty="0">
                <a:solidFill>
                  <a:schemeClr val="accent4"/>
                </a:solidFill>
                <a:latin typeface="Courier New" pitchFamily="34" charset="0"/>
                <a:ea typeface="Courier New" pitchFamily="34" charset="-122"/>
                <a:cs typeface="Courier New" pitchFamily="34" charset="-120"/>
              </a:rPr>
              <a:t>accepted_risk</a:t>
            </a:r>
            <a:endParaRPr lang="en-US" sz="900" dirty="0"/>
          </a:p>
        </p:txBody>
      </p:sp>
      <p:sp>
        <p:nvSpPr>
          <p:cNvPr id="72" name="pill"/>
          <p:cNvSpPr/>
          <p:nvPr/>
        </p:nvSpPr>
        <p:spPr>
          <a:xfrm>
            <a:off x="8884310" y="5815584"/>
            <a:ext cx="1122883" cy="310896"/>
          </a:xfrm>
          <a:prstGeom prst="roundRect">
            <a:avLst>
              <a:gd name="adj" fmla="val 50000"/>
            </a:avLst>
          </a:prstGeom>
          <a:solidFill>
            <a:schemeClr val="accent6">
              <a:alpha val="18000"/>
            </a:schemeClr>
          </a:solidFill>
          <a:ln w="9525">
            <a:solidFill>
              <a:schemeClr val="accent6">
                <a:alpha val="70000"/>
              </a:schemeClr>
            </a:solidFill>
            <a:prstDash val="solid"/>
          </a:ln>
        </p:spPr>
      </p:sp>
      <p:sp>
        <p:nvSpPr>
          <p:cNvPr id="73" name="Text 71"/>
          <p:cNvSpPr txBox="1"/>
          <p:nvPr/>
        </p:nvSpPr>
        <p:spPr>
          <a:xfrm>
            <a:off x="8884310" y="5815584"/>
            <a:ext cx="1122883" cy="310896"/>
          </a:xfrm>
          <a:prstGeom prst="rect">
            <a:avLst/>
          </a:prstGeom>
          <a:noFill/>
          <a:ln/>
        </p:spPr>
        <p:txBody>
          <a:bodyPr wrap="square" lIns="0" tIns="0" rIns="0" bIns="0" rtlCol="0" anchor="ctr"/>
          <a:lstStyle/>
          <a:p>
            <a:pPr algn="ctr" indent="0" marL="0">
              <a:buNone/>
            </a:pPr>
            <a:r>
              <a:rPr lang="en-US" sz="900" b="1" dirty="0">
                <a:solidFill>
                  <a:schemeClr val="accent6"/>
                </a:solidFill>
                <a:latin typeface="Courier New" pitchFamily="34" charset="0"/>
                <a:ea typeface="Courier New" pitchFamily="34" charset="-122"/>
                <a:cs typeface="Courier New" pitchFamily="34" charset="-120"/>
              </a:rPr>
              <a:t>false_positive</a:t>
            </a:r>
            <a:endParaRPr lang="en-US" sz="900" dirty="0"/>
          </a:p>
        </p:txBody>
      </p:sp>
      <p:sp>
        <p:nvSpPr>
          <p:cNvPr id="74" name="pill"/>
          <p:cNvSpPr/>
          <p:nvPr/>
        </p:nvSpPr>
        <p:spPr>
          <a:xfrm>
            <a:off x="10080346" y="5815584"/>
            <a:ext cx="727862" cy="310896"/>
          </a:xfrm>
          <a:prstGeom prst="roundRect">
            <a:avLst>
              <a:gd name="adj" fmla="val 50000"/>
            </a:avLst>
          </a:prstGeom>
          <a:solidFill>
            <a:schemeClr val="accent3">
              <a:alpha val="18000"/>
            </a:schemeClr>
          </a:solidFill>
          <a:ln w="9525">
            <a:solidFill>
              <a:schemeClr val="accent3">
                <a:alpha val="70000"/>
              </a:schemeClr>
            </a:solidFill>
            <a:prstDash val="solid"/>
          </a:ln>
        </p:spPr>
      </p:sp>
      <p:sp>
        <p:nvSpPr>
          <p:cNvPr id="75" name="Text 73"/>
          <p:cNvSpPr txBox="1"/>
          <p:nvPr/>
        </p:nvSpPr>
        <p:spPr>
          <a:xfrm>
            <a:off x="10080346" y="5815584"/>
            <a:ext cx="727862" cy="310896"/>
          </a:xfrm>
          <a:prstGeom prst="rect">
            <a:avLst/>
          </a:prstGeom>
          <a:noFill/>
          <a:ln/>
        </p:spPr>
        <p:txBody>
          <a:bodyPr wrap="square" lIns="0" tIns="0" rIns="0" bIns="0" rtlCol="0" anchor="ctr"/>
          <a:lstStyle/>
          <a:p>
            <a:pPr algn="ctr" indent="0" marL="0">
              <a:buNone/>
            </a:pPr>
            <a:r>
              <a:rPr lang="en-US" sz="900" b="1" dirty="0">
                <a:solidFill>
                  <a:schemeClr val="accent3"/>
                </a:solidFill>
                <a:latin typeface="Courier New" pitchFamily="34" charset="0"/>
                <a:ea typeface="Courier New" pitchFamily="34" charset="-122"/>
                <a:cs typeface="Courier New" pitchFamily="34" charset="-120"/>
              </a:rPr>
              <a:t>reopened</a:t>
            </a:r>
            <a:endParaRPr lang="en-US" sz="9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FINDING DETAIL PAGE</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Six tabs take a reviewer from claim to proof</a:t>
            </a:r>
            <a:endParaRPr lang="en-US" sz="3200" dirty="0"/>
          </a:p>
        </p:txBody>
      </p:sp>
      <p:sp>
        <p:nvSpPr>
          <p:cNvPr id="4" name="card"/>
          <p:cNvSpPr/>
          <p:nvPr/>
        </p:nvSpPr>
        <p:spPr>
          <a:xfrm>
            <a:off x="548640" y="1572768"/>
            <a:ext cx="3566160" cy="1874520"/>
          </a:xfrm>
          <a:prstGeom prst="roundRect">
            <a:avLst>
              <a:gd name="adj" fmla="val 4878"/>
            </a:avLst>
          </a:prstGeom>
          <a:solidFill>
            <a:schemeClr val="tx2"/>
          </a:solidFill>
          <a:ln w="12700">
            <a:solidFill>
              <a:schemeClr val="accent2">
                <a:alpha val="38000"/>
              </a:schemeClr>
            </a:solidFill>
            <a:prstDash val="solid"/>
          </a:ln>
        </p:spPr>
      </p:sp>
      <p:sp>
        <p:nvSpPr>
          <p:cNvPr id="5" name="icon tile"/>
          <p:cNvSpPr/>
          <p:nvPr/>
        </p:nvSpPr>
        <p:spPr>
          <a:xfrm>
            <a:off x="804672" y="1828800"/>
            <a:ext cx="548640" cy="548640"/>
          </a:xfrm>
          <a:prstGeom prst="roundRect">
            <a:avLst>
              <a:gd name="adj" fmla="val 22000"/>
            </a:avLst>
          </a:prstGeom>
          <a:solidFill>
            <a:schemeClr val="accent1">
              <a:alpha val="20000"/>
            </a:schemeClr>
          </a:solidFill>
          <a:ln w="9525">
            <a:solidFill>
              <a:schemeClr val="accent1">
                <a:alpha val="55000"/>
              </a:schemeClr>
            </a:solidFill>
            <a:prstDash val="solid"/>
          </a:ln>
        </p:spPr>
      </p:sp>
      <p:pic>
        <p:nvPicPr>
          <p:cNvPr id="6" name="icon" descr="preencoded.png">    </p:cNvPr>
          <p:cNvPicPr>
            <a:picLocks noChangeAspect="1"/>
          </p:cNvPicPr>
          <p:nvPr/>
        </p:nvPicPr>
        <p:blipFill>
          <a:blip r:embed="rId1"/>
          <a:stretch>
            <a:fillRect/>
          </a:stretch>
        </p:blipFill>
        <p:spPr>
          <a:xfrm>
            <a:off x="936346" y="1960474"/>
            <a:ext cx="285293" cy="285293"/>
          </a:xfrm>
          <a:prstGeom prst="rect">
            <a:avLst/>
          </a:prstGeom>
        </p:spPr>
      </p:pic>
      <p:sp>
        <p:nvSpPr>
          <p:cNvPr id="7" name="Text 4"/>
          <p:cNvSpPr txBox="1"/>
          <p:nvPr/>
        </p:nvSpPr>
        <p:spPr>
          <a:xfrm>
            <a:off x="1508760" y="1901952"/>
            <a:ext cx="2468880" cy="365760"/>
          </a:xfrm>
          <a:prstGeom prst="rect">
            <a:avLst/>
          </a:prstGeom>
          <a:noFill/>
          <a:ln/>
        </p:spPr>
        <p:txBody>
          <a:bodyPr wrap="square" lIns="0" tIns="0" rIns="0" bIns="0" rtlCol="0" anchor="t"/>
          <a:lstStyle/>
          <a:p>
            <a:pPr indent="0" marL="0">
              <a:buNone/>
            </a:pPr>
            <a:r>
              <a:rPr lang="en-US" sz="1700" b="1" dirty="0">
                <a:solidFill>
                  <a:schemeClr val="bg1"/>
                </a:solidFill>
              </a:rPr>
              <a:t>Overview</a:t>
            </a:r>
            <a:endParaRPr lang="en-US" sz="1700" dirty="0"/>
          </a:p>
        </p:txBody>
      </p:sp>
      <p:sp>
        <p:nvSpPr>
          <p:cNvPr id="8" name="Text 5"/>
          <p:cNvSpPr txBox="1"/>
          <p:nvPr/>
        </p:nvSpPr>
        <p:spPr>
          <a:xfrm>
            <a:off x="804672" y="2487168"/>
            <a:ext cx="3108960" cy="868680"/>
          </a:xfrm>
          <a:prstGeom prst="rect">
            <a:avLst/>
          </a:prstGeom>
          <a:noFill/>
          <a:ln/>
        </p:spPr>
        <p:txBody>
          <a:bodyPr wrap="square" lIns="0" tIns="0" rIns="0" bIns="0" rtlCol="0" anchor="t"/>
          <a:lstStyle/>
          <a:p>
            <a:pPr indent="0" marL="0">
              <a:buNone/>
            </a:pPr>
            <a:r>
              <a:rPr lang="en-US" sz="1200" dirty="0">
                <a:solidFill>
                  <a:schemeClr val="bg2"/>
                </a:solidFill>
              </a:rPr>
              <a:t>Title, severity, status, affected repo/agent, first and last seen, owner, detection method and a concise impact statement.</a:t>
            </a:r>
            <a:endParaRPr lang="en-US" sz="1200" dirty="0"/>
          </a:p>
        </p:txBody>
      </p:sp>
      <p:sp>
        <p:nvSpPr>
          <p:cNvPr id="9" name="card"/>
          <p:cNvSpPr/>
          <p:nvPr/>
        </p:nvSpPr>
        <p:spPr>
          <a:xfrm>
            <a:off x="4297680" y="1572768"/>
            <a:ext cx="3566160" cy="1874520"/>
          </a:xfrm>
          <a:prstGeom prst="roundRect">
            <a:avLst>
              <a:gd name="adj" fmla="val 4878"/>
            </a:avLst>
          </a:prstGeom>
          <a:solidFill>
            <a:schemeClr val="tx2"/>
          </a:solidFill>
          <a:ln w="12700">
            <a:solidFill>
              <a:schemeClr val="accent2">
                <a:alpha val="38000"/>
              </a:schemeClr>
            </a:solidFill>
            <a:prstDash val="solid"/>
          </a:ln>
        </p:spPr>
      </p:sp>
      <p:sp>
        <p:nvSpPr>
          <p:cNvPr id="10" name="icon tile"/>
          <p:cNvSpPr/>
          <p:nvPr/>
        </p:nvSpPr>
        <p:spPr>
          <a:xfrm>
            <a:off x="4553712" y="1828800"/>
            <a:ext cx="548640" cy="548640"/>
          </a:xfrm>
          <a:prstGeom prst="roundRect">
            <a:avLst>
              <a:gd name="adj" fmla="val 22000"/>
            </a:avLst>
          </a:prstGeom>
          <a:solidFill>
            <a:schemeClr val="accent3">
              <a:alpha val="20000"/>
            </a:schemeClr>
          </a:solidFill>
          <a:ln w="9525">
            <a:solidFill>
              <a:schemeClr val="accent3">
                <a:alpha val="55000"/>
              </a:schemeClr>
            </a:solidFill>
            <a:prstDash val="solid"/>
          </a:ln>
        </p:spPr>
      </p:sp>
      <p:pic>
        <p:nvPicPr>
          <p:cNvPr id="11" name="icon" descr="preencoded.png">    </p:cNvPr>
          <p:cNvPicPr>
            <a:picLocks noChangeAspect="1"/>
          </p:cNvPicPr>
          <p:nvPr/>
        </p:nvPicPr>
        <p:blipFill>
          <a:blip r:embed="rId2"/>
          <a:stretch>
            <a:fillRect/>
          </a:stretch>
        </p:blipFill>
        <p:spPr>
          <a:xfrm>
            <a:off x="4685386" y="1960474"/>
            <a:ext cx="285293" cy="285293"/>
          </a:xfrm>
          <a:prstGeom prst="rect">
            <a:avLst/>
          </a:prstGeom>
        </p:spPr>
      </p:pic>
      <p:sp>
        <p:nvSpPr>
          <p:cNvPr id="12" name="Text 8"/>
          <p:cNvSpPr txBox="1"/>
          <p:nvPr/>
        </p:nvSpPr>
        <p:spPr>
          <a:xfrm>
            <a:off x="5257800" y="1901952"/>
            <a:ext cx="2468880" cy="365760"/>
          </a:xfrm>
          <a:prstGeom prst="rect">
            <a:avLst/>
          </a:prstGeom>
          <a:noFill/>
          <a:ln/>
        </p:spPr>
        <p:txBody>
          <a:bodyPr wrap="square" lIns="0" tIns="0" rIns="0" bIns="0" rtlCol="0" anchor="t"/>
          <a:lstStyle/>
          <a:p>
            <a:pPr indent="0" marL="0">
              <a:buNone/>
            </a:pPr>
            <a:r>
              <a:rPr lang="en-US" sz="1700" b="1" dirty="0">
                <a:solidFill>
                  <a:schemeClr val="bg1"/>
                </a:solidFill>
              </a:rPr>
              <a:t>Attack path</a:t>
            </a:r>
            <a:endParaRPr lang="en-US" sz="1700" dirty="0"/>
          </a:p>
        </p:txBody>
      </p:sp>
      <p:sp>
        <p:nvSpPr>
          <p:cNvPr id="13" name="Text 9"/>
          <p:cNvSpPr txBox="1"/>
          <p:nvPr/>
        </p:nvSpPr>
        <p:spPr>
          <a:xfrm>
            <a:off x="4553712" y="2487168"/>
            <a:ext cx="3108960" cy="868680"/>
          </a:xfrm>
          <a:prstGeom prst="rect">
            <a:avLst/>
          </a:prstGeom>
          <a:noFill/>
          <a:ln/>
        </p:spPr>
        <p:txBody>
          <a:bodyPr wrap="square" lIns="0" tIns="0" rIns="0" bIns="0" rtlCol="0" anchor="t"/>
          <a:lstStyle/>
          <a:p>
            <a:pPr indent="0" marL="0">
              <a:buNone/>
            </a:pPr>
            <a:r>
              <a:rPr lang="en-US" sz="1200" dirty="0">
                <a:solidFill>
                  <a:schemeClr val="bg2"/>
                </a:solidFill>
              </a:rPr>
              <a:t>Ordered graph path with node and relationship types, edge provenance, validation state and the exact condition that makes it relevant.</a:t>
            </a:r>
            <a:endParaRPr lang="en-US" sz="1200" dirty="0"/>
          </a:p>
        </p:txBody>
      </p:sp>
      <p:sp>
        <p:nvSpPr>
          <p:cNvPr id="14" name="card"/>
          <p:cNvSpPr/>
          <p:nvPr/>
        </p:nvSpPr>
        <p:spPr>
          <a:xfrm>
            <a:off x="8046720" y="1572768"/>
            <a:ext cx="3566160" cy="1874520"/>
          </a:xfrm>
          <a:prstGeom prst="roundRect">
            <a:avLst>
              <a:gd name="adj" fmla="val 4878"/>
            </a:avLst>
          </a:prstGeom>
          <a:solidFill>
            <a:schemeClr val="tx2"/>
          </a:solidFill>
          <a:ln w="12700">
            <a:solidFill>
              <a:schemeClr val="accent2">
                <a:alpha val="38000"/>
              </a:schemeClr>
            </a:solidFill>
            <a:prstDash val="solid"/>
          </a:ln>
        </p:spPr>
      </p:sp>
      <p:sp>
        <p:nvSpPr>
          <p:cNvPr id="15" name="icon tile"/>
          <p:cNvSpPr/>
          <p:nvPr/>
        </p:nvSpPr>
        <p:spPr>
          <a:xfrm>
            <a:off x="8302752" y="1828800"/>
            <a:ext cx="548640" cy="548640"/>
          </a:xfrm>
          <a:prstGeom prst="roundRect">
            <a:avLst>
              <a:gd name="adj" fmla="val 22000"/>
            </a:avLst>
          </a:prstGeom>
          <a:solidFill>
            <a:schemeClr val="accent2">
              <a:alpha val="20000"/>
            </a:schemeClr>
          </a:solidFill>
          <a:ln w="9525">
            <a:solidFill>
              <a:schemeClr val="accent2">
                <a:alpha val="55000"/>
              </a:schemeClr>
            </a:solidFill>
            <a:prstDash val="solid"/>
          </a:ln>
        </p:spPr>
      </p:sp>
      <p:pic>
        <p:nvPicPr>
          <p:cNvPr id="16" name="icon" descr="preencoded.png">    </p:cNvPr>
          <p:cNvPicPr>
            <a:picLocks noChangeAspect="1"/>
          </p:cNvPicPr>
          <p:nvPr/>
        </p:nvPicPr>
        <p:blipFill>
          <a:blip r:embed="rId3"/>
          <a:stretch>
            <a:fillRect/>
          </a:stretch>
        </p:blipFill>
        <p:spPr>
          <a:xfrm>
            <a:off x="8434426" y="1960474"/>
            <a:ext cx="285293" cy="285293"/>
          </a:xfrm>
          <a:prstGeom prst="rect">
            <a:avLst/>
          </a:prstGeom>
        </p:spPr>
      </p:pic>
      <p:sp>
        <p:nvSpPr>
          <p:cNvPr id="17" name="Text 12"/>
          <p:cNvSpPr txBox="1"/>
          <p:nvPr/>
        </p:nvSpPr>
        <p:spPr>
          <a:xfrm>
            <a:off x="9006840" y="1901952"/>
            <a:ext cx="2468880" cy="365760"/>
          </a:xfrm>
          <a:prstGeom prst="rect">
            <a:avLst/>
          </a:prstGeom>
          <a:noFill/>
          <a:ln/>
        </p:spPr>
        <p:txBody>
          <a:bodyPr wrap="square" lIns="0" tIns="0" rIns="0" bIns="0" rtlCol="0" anchor="t"/>
          <a:lstStyle/>
          <a:p>
            <a:pPr indent="0" marL="0">
              <a:buNone/>
            </a:pPr>
            <a:r>
              <a:rPr lang="en-US" sz="1700" b="1" dirty="0">
                <a:solidFill>
                  <a:schemeClr val="bg1"/>
                </a:solidFill>
              </a:rPr>
              <a:t>Evidence</a:t>
            </a:r>
            <a:endParaRPr lang="en-US" sz="1700" dirty="0"/>
          </a:p>
        </p:txBody>
      </p:sp>
      <p:sp>
        <p:nvSpPr>
          <p:cNvPr id="18" name="Text 13"/>
          <p:cNvSpPr txBox="1"/>
          <p:nvPr/>
        </p:nvSpPr>
        <p:spPr>
          <a:xfrm>
            <a:off x="8302752" y="2487168"/>
            <a:ext cx="3108960" cy="868680"/>
          </a:xfrm>
          <a:prstGeom prst="rect">
            <a:avLst/>
          </a:prstGeom>
          <a:noFill/>
          <a:ln/>
        </p:spPr>
        <p:txBody>
          <a:bodyPr wrap="square" lIns="0" tIns="0" rIns="0" bIns="0" rtlCol="0" anchor="t"/>
          <a:lstStyle/>
          <a:p>
            <a:pPr indent="0" marL="0">
              <a:buNone/>
            </a:pPr>
            <a:r>
              <a:rPr lang="en-US" sz="1200" dirty="0">
                <a:solidFill>
                  <a:schemeClr val="bg2"/>
                </a:solidFill>
              </a:rPr>
              <a:t>Config excerpt, scanner record, runtime event, CI log, advisory — with timestamp, hash, source URL, trust level and limitations.</a:t>
            </a:r>
            <a:endParaRPr lang="en-US" sz="1200" dirty="0"/>
          </a:p>
        </p:txBody>
      </p:sp>
      <p:sp>
        <p:nvSpPr>
          <p:cNvPr id="19" name="card"/>
          <p:cNvSpPr/>
          <p:nvPr/>
        </p:nvSpPr>
        <p:spPr>
          <a:xfrm>
            <a:off x="548640" y="3630168"/>
            <a:ext cx="3566160" cy="1874520"/>
          </a:xfrm>
          <a:prstGeom prst="roundRect">
            <a:avLst>
              <a:gd name="adj" fmla="val 4878"/>
            </a:avLst>
          </a:prstGeom>
          <a:solidFill>
            <a:schemeClr val="tx2"/>
          </a:solidFill>
          <a:ln w="12700">
            <a:solidFill>
              <a:schemeClr val="accent2">
                <a:alpha val="38000"/>
              </a:schemeClr>
            </a:solidFill>
            <a:prstDash val="solid"/>
          </a:ln>
        </p:spPr>
      </p:sp>
      <p:sp>
        <p:nvSpPr>
          <p:cNvPr id="20" name="icon tile"/>
          <p:cNvSpPr/>
          <p:nvPr/>
        </p:nvSpPr>
        <p:spPr>
          <a:xfrm>
            <a:off x="804672" y="3886200"/>
            <a:ext cx="548640" cy="548640"/>
          </a:xfrm>
          <a:prstGeom prst="roundRect">
            <a:avLst>
              <a:gd name="adj" fmla="val 22000"/>
            </a:avLst>
          </a:prstGeom>
          <a:solidFill>
            <a:schemeClr val="accent5">
              <a:alpha val="20000"/>
            </a:schemeClr>
          </a:solidFill>
          <a:ln w="9525">
            <a:solidFill>
              <a:schemeClr val="accent5">
                <a:alpha val="55000"/>
              </a:schemeClr>
            </a:solidFill>
            <a:prstDash val="solid"/>
          </a:ln>
        </p:spPr>
      </p:sp>
      <p:pic>
        <p:nvPicPr>
          <p:cNvPr id="21" name="icon" descr="preencoded.png">    </p:cNvPr>
          <p:cNvPicPr>
            <a:picLocks noChangeAspect="1"/>
          </p:cNvPicPr>
          <p:nvPr/>
        </p:nvPicPr>
        <p:blipFill>
          <a:blip r:embed="rId4"/>
          <a:stretch>
            <a:fillRect/>
          </a:stretch>
        </p:blipFill>
        <p:spPr>
          <a:xfrm>
            <a:off x="936346" y="4017874"/>
            <a:ext cx="285293" cy="285293"/>
          </a:xfrm>
          <a:prstGeom prst="rect">
            <a:avLst/>
          </a:prstGeom>
        </p:spPr>
      </p:pic>
      <p:sp>
        <p:nvSpPr>
          <p:cNvPr id="22" name="Text 16"/>
          <p:cNvSpPr txBox="1"/>
          <p:nvPr/>
        </p:nvSpPr>
        <p:spPr>
          <a:xfrm>
            <a:off x="1508760" y="3959352"/>
            <a:ext cx="2468880" cy="365760"/>
          </a:xfrm>
          <a:prstGeom prst="rect">
            <a:avLst/>
          </a:prstGeom>
          <a:noFill/>
          <a:ln/>
        </p:spPr>
        <p:txBody>
          <a:bodyPr wrap="square" lIns="0" tIns="0" rIns="0" bIns="0" rtlCol="0" anchor="t"/>
          <a:lstStyle/>
          <a:p>
            <a:pPr indent="0" marL="0">
              <a:buNone/>
            </a:pPr>
            <a:r>
              <a:rPr lang="en-US" sz="1700" b="1" dirty="0">
                <a:solidFill>
                  <a:schemeClr val="bg1"/>
                </a:solidFill>
              </a:rPr>
              <a:t>Remediation</a:t>
            </a:r>
            <a:endParaRPr lang="en-US" sz="1700" dirty="0"/>
          </a:p>
        </p:txBody>
      </p:sp>
      <p:sp>
        <p:nvSpPr>
          <p:cNvPr id="23" name="Text 17"/>
          <p:cNvSpPr txBox="1"/>
          <p:nvPr/>
        </p:nvSpPr>
        <p:spPr>
          <a:xfrm>
            <a:off x="804672" y="4544568"/>
            <a:ext cx="3108960" cy="868680"/>
          </a:xfrm>
          <a:prstGeom prst="rect">
            <a:avLst/>
          </a:prstGeom>
          <a:noFill/>
          <a:ln/>
        </p:spPr>
        <p:txBody>
          <a:bodyPr wrap="square" lIns="0" tIns="0" rIns="0" bIns="0" rtlCol="0" anchor="t"/>
          <a:lstStyle/>
          <a:p>
            <a:pPr indent="0" marL="0">
              <a:buNone/>
            </a:pPr>
            <a:r>
              <a:rPr lang="en-US" sz="1200" dirty="0">
                <a:solidFill>
                  <a:schemeClr val="bg2"/>
                </a:solidFill>
              </a:rPr>
              <a:t>Recommended action, path expected to break, diff or policy proposal, risk of change, approval need and verification plan.</a:t>
            </a:r>
            <a:endParaRPr lang="en-US" sz="1200" dirty="0"/>
          </a:p>
        </p:txBody>
      </p:sp>
      <p:sp>
        <p:nvSpPr>
          <p:cNvPr id="24" name="card"/>
          <p:cNvSpPr/>
          <p:nvPr/>
        </p:nvSpPr>
        <p:spPr>
          <a:xfrm>
            <a:off x="4297680" y="3630168"/>
            <a:ext cx="3566160" cy="1874520"/>
          </a:xfrm>
          <a:prstGeom prst="roundRect">
            <a:avLst>
              <a:gd name="adj" fmla="val 4878"/>
            </a:avLst>
          </a:prstGeom>
          <a:solidFill>
            <a:schemeClr val="tx2"/>
          </a:solidFill>
          <a:ln w="12700">
            <a:solidFill>
              <a:schemeClr val="accent2">
                <a:alpha val="38000"/>
              </a:schemeClr>
            </a:solidFill>
            <a:prstDash val="solid"/>
          </a:ln>
        </p:spPr>
      </p:sp>
      <p:sp>
        <p:nvSpPr>
          <p:cNvPr id="25" name="icon tile"/>
          <p:cNvSpPr/>
          <p:nvPr/>
        </p:nvSpPr>
        <p:spPr>
          <a:xfrm>
            <a:off x="4553712" y="3886200"/>
            <a:ext cx="548640" cy="548640"/>
          </a:xfrm>
          <a:prstGeom prst="roundRect">
            <a:avLst>
              <a:gd name="adj" fmla="val 22000"/>
            </a:avLst>
          </a:prstGeom>
          <a:solidFill>
            <a:schemeClr val="accent5">
              <a:alpha val="20000"/>
            </a:schemeClr>
          </a:solidFill>
          <a:ln w="9525">
            <a:solidFill>
              <a:schemeClr val="accent5">
                <a:alpha val="55000"/>
              </a:schemeClr>
            </a:solidFill>
            <a:prstDash val="solid"/>
          </a:ln>
        </p:spPr>
      </p:sp>
      <p:pic>
        <p:nvPicPr>
          <p:cNvPr id="26" name="icon" descr="preencoded.png">    </p:cNvPr>
          <p:cNvPicPr>
            <a:picLocks noChangeAspect="1"/>
          </p:cNvPicPr>
          <p:nvPr/>
        </p:nvPicPr>
        <p:blipFill>
          <a:blip r:embed="rId5"/>
          <a:stretch>
            <a:fillRect/>
          </a:stretch>
        </p:blipFill>
        <p:spPr>
          <a:xfrm>
            <a:off x="4685386" y="4017874"/>
            <a:ext cx="285293" cy="285293"/>
          </a:xfrm>
          <a:prstGeom prst="rect">
            <a:avLst/>
          </a:prstGeom>
        </p:spPr>
      </p:pic>
      <p:sp>
        <p:nvSpPr>
          <p:cNvPr id="27" name="Text 20"/>
          <p:cNvSpPr txBox="1"/>
          <p:nvPr/>
        </p:nvSpPr>
        <p:spPr>
          <a:xfrm>
            <a:off x="5257800" y="3959352"/>
            <a:ext cx="2468880" cy="365760"/>
          </a:xfrm>
          <a:prstGeom prst="rect">
            <a:avLst/>
          </a:prstGeom>
          <a:noFill/>
          <a:ln/>
        </p:spPr>
        <p:txBody>
          <a:bodyPr wrap="square" lIns="0" tIns="0" rIns="0" bIns="0" rtlCol="0" anchor="t"/>
          <a:lstStyle/>
          <a:p>
            <a:pPr indent="0" marL="0">
              <a:buNone/>
            </a:pPr>
            <a:r>
              <a:rPr lang="en-US" sz="1700" b="1" dirty="0">
                <a:solidFill>
                  <a:schemeClr val="bg1"/>
                </a:solidFill>
              </a:rPr>
              <a:t>Verification</a:t>
            </a:r>
            <a:endParaRPr lang="en-US" sz="1700" dirty="0"/>
          </a:p>
        </p:txBody>
      </p:sp>
      <p:sp>
        <p:nvSpPr>
          <p:cNvPr id="28" name="Text 21"/>
          <p:cNvSpPr txBox="1"/>
          <p:nvPr/>
        </p:nvSpPr>
        <p:spPr>
          <a:xfrm>
            <a:off x="4553712" y="4544568"/>
            <a:ext cx="3108960" cy="868680"/>
          </a:xfrm>
          <a:prstGeom prst="rect">
            <a:avLst/>
          </a:prstGeom>
          <a:noFill/>
          <a:ln/>
        </p:spPr>
        <p:txBody>
          <a:bodyPr wrap="square" lIns="0" tIns="0" rIns="0" bIns="0" rtlCol="0" anchor="t"/>
          <a:lstStyle/>
          <a:p>
            <a:pPr indent="0" marL="0">
              <a:buNone/>
            </a:pPr>
            <a:r>
              <a:rPr lang="en-US" sz="1200" dirty="0">
                <a:solidFill>
                  <a:schemeClr val="bg2"/>
                </a:solidFill>
              </a:rPr>
              <a:t>Pre- and post-fix test outcomes, relevant CI run, regression checks, graph recomputation and final status.</a:t>
            </a:r>
            <a:endParaRPr lang="en-US" sz="1200" dirty="0"/>
          </a:p>
        </p:txBody>
      </p:sp>
      <p:sp>
        <p:nvSpPr>
          <p:cNvPr id="29" name="card"/>
          <p:cNvSpPr/>
          <p:nvPr/>
        </p:nvSpPr>
        <p:spPr>
          <a:xfrm>
            <a:off x="8046720" y="3630168"/>
            <a:ext cx="3566160" cy="1874520"/>
          </a:xfrm>
          <a:prstGeom prst="roundRect">
            <a:avLst>
              <a:gd name="adj" fmla="val 4878"/>
            </a:avLst>
          </a:prstGeom>
          <a:solidFill>
            <a:schemeClr val="tx2"/>
          </a:solidFill>
          <a:ln w="12700">
            <a:solidFill>
              <a:schemeClr val="accent2">
                <a:alpha val="38000"/>
              </a:schemeClr>
            </a:solidFill>
            <a:prstDash val="solid"/>
          </a:ln>
        </p:spPr>
      </p:sp>
      <p:sp>
        <p:nvSpPr>
          <p:cNvPr id="30" name="icon tile"/>
          <p:cNvSpPr/>
          <p:nvPr/>
        </p:nvSpPr>
        <p:spPr>
          <a:xfrm>
            <a:off x="8302752" y="3886200"/>
            <a:ext cx="548640" cy="548640"/>
          </a:xfrm>
          <a:prstGeom prst="roundRect">
            <a:avLst>
              <a:gd name="adj" fmla="val 22000"/>
            </a:avLst>
          </a:prstGeom>
          <a:solidFill>
            <a:schemeClr val="accent4">
              <a:alpha val="20000"/>
            </a:schemeClr>
          </a:solidFill>
          <a:ln w="9525">
            <a:solidFill>
              <a:schemeClr val="accent4">
                <a:alpha val="55000"/>
              </a:schemeClr>
            </a:solidFill>
            <a:prstDash val="solid"/>
          </a:ln>
        </p:spPr>
      </p:sp>
      <p:pic>
        <p:nvPicPr>
          <p:cNvPr id="31" name="icon" descr="preencoded.png">    </p:cNvPr>
          <p:cNvPicPr>
            <a:picLocks noChangeAspect="1"/>
          </p:cNvPicPr>
          <p:nvPr/>
        </p:nvPicPr>
        <p:blipFill>
          <a:blip r:embed="rId6"/>
          <a:stretch>
            <a:fillRect/>
          </a:stretch>
        </p:blipFill>
        <p:spPr>
          <a:xfrm>
            <a:off x="8434426" y="4017874"/>
            <a:ext cx="285293" cy="285293"/>
          </a:xfrm>
          <a:prstGeom prst="rect">
            <a:avLst/>
          </a:prstGeom>
        </p:spPr>
      </p:pic>
      <p:sp>
        <p:nvSpPr>
          <p:cNvPr id="32" name="Text 24"/>
          <p:cNvSpPr txBox="1"/>
          <p:nvPr/>
        </p:nvSpPr>
        <p:spPr>
          <a:xfrm>
            <a:off x="9006840" y="3959352"/>
            <a:ext cx="2468880" cy="365760"/>
          </a:xfrm>
          <a:prstGeom prst="rect">
            <a:avLst/>
          </a:prstGeom>
          <a:noFill/>
          <a:ln/>
        </p:spPr>
        <p:txBody>
          <a:bodyPr wrap="square" lIns="0" tIns="0" rIns="0" bIns="0" rtlCol="0" anchor="t"/>
          <a:lstStyle/>
          <a:p>
            <a:pPr indent="0" marL="0">
              <a:buNone/>
            </a:pPr>
            <a:r>
              <a:rPr lang="en-US" sz="1700" b="1" dirty="0">
                <a:solidFill>
                  <a:schemeClr val="bg1"/>
                </a:solidFill>
              </a:rPr>
              <a:t>Activity &amp; audit</a:t>
            </a:r>
            <a:endParaRPr lang="en-US" sz="1700" dirty="0"/>
          </a:p>
        </p:txBody>
      </p:sp>
      <p:sp>
        <p:nvSpPr>
          <p:cNvPr id="33" name="Text 25"/>
          <p:cNvSpPr txBox="1"/>
          <p:nvPr/>
        </p:nvSpPr>
        <p:spPr>
          <a:xfrm>
            <a:off x="8302752" y="4544568"/>
            <a:ext cx="3108960" cy="868680"/>
          </a:xfrm>
          <a:prstGeom prst="rect">
            <a:avLst/>
          </a:prstGeom>
          <a:noFill/>
          <a:ln/>
        </p:spPr>
        <p:txBody>
          <a:bodyPr wrap="square" lIns="0" tIns="0" rIns="0" bIns="0" rtlCol="0" anchor="t"/>
          <a:lstStyle/>
          <a:p>
            <a:pPr indent="0" marL="0">
              <a:buNone/>
            </a:pPr>
            <a:r>
              <a:rPr lang="en-US" sz="1200" dirty="0">
                <a:solidFill>
                  <a:schemeClr val="bg2"/>
                </a:solidFill>
              </a:rPr>
              <a:t>Assignment, status changes, investigation runs, approvals, comments, remediation attempts and verification history.</a:t>
            </a:r>
            <a:endParaRPr lang="en-US" sz="1200" dirty="0"/>
          </a:p>
        </p:txBody>
      </p:sp>
      <p:sp>
        <p:nvSpPr>
          <p:cNvPr id="34" name="card"/>
          <p:cNvSpPr/>
          <p:nvPr/>
        </p:nvSpPr>
        <p:spPr>
          <a:xfrm>
            <a:off x="548640" y="5715000"/>
            <a:ext cx="11064240" cy="502920"/>
          </a:xfrm>
          <a:prstGeom prst="roundRect">
            <a:avLst>
              <a:gd name="adj" fmla="val 18182"/>
            </a:avLst>
          </a:prstGeom>
          <a:solidFill>
            <a:schemeClr val="accent4">
              <a:alpha val="10000"/>
            </a:schemeClr>
          </a:solidFill>
          <a:ln w="12700">
            <a:solidFill>
              <a:schemeClr val="accent4">
                <a:alpha val="65000"/>
              </a:schemeClr>
            </a:solidFill>
            <a:prstDash val="solid"/>
          </a:ln>
        </p:spPr>
      </p:sp>
      <p:sp>
        <p:nvSpPr>
          <p:cNvPr id="35" name="Text 27"/>
          <p:cNvSpPr txBox="1"/>
          <p:nvPr/>
        </p:nvSpPr>
        <p:spPr>
          <a:xfrm>
            <a:off x="777240" y="5715000"/>
            <a:ext cx="10698480" cy="502920"/>
          </a:xfrm>
          <a:prstGeom prst="rect">
            <a:avLst/>
          </a:prstGeom>
          <a:noFill/>
          <a:ln/>
        </p:spPr>
        <p:txBody>
          <a:bodyPr wrap="square" lIns="0" tIns="0" rIns="0" bIns="0" rtlCol="0" anchor="ctr"/>
          <a:lstStyle/>
          <a:p>
            <a:pPr indent="0" marL="0">
              <a:buNone/>
            </a:pPr>
            <a:r>
              <a:rPr lang="en-US" sz="1300" b="1" dirty="0">
                <a:solidFill>
                  <a:schemeClr val="accent4"/>
                </a:solidFill>
                <a:latin typeface="Courier New" pitchFamily="34" charset="0"/>
                <a:ea typeface="Courier New" pitchFamily="34" charset="-122"/>
                <a:cs typeface="Courier New" pitchFamily="34" charset="-120"/>
              </a:rPr>
              <a:t>accepted_risk ≠ fixed.  </a:t>
            </a:r>
            <a:pPr indent="0" marL="0">
              <a:buNone/>
            </a:pPr>
            <a:r>
              <a:rPr lang="en-US" sz="1300" dirty="0">
                <a:solidFill>
                  <a:schemeClr val="bg2"/>
                </a:solidFill>
              </a:rPr>
              <a:t>Requires an authorized approver, documented rationale, an expiry / review date and audit history.</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08 · API ENDPOINT DESIGN</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REST under /api/v1 — tenant-scoped and audited</a:t>
            </a:r>
            <a:endParaRPr lang="en-US" sz="3200" dirty="0"/>
          </a:p>
        </p:txBody>
      </p:sp>
      <p:sp>
        <p:nvSpPr>
          <p:cNvPr id="4" name="card"/>
          <p:cNvSpPr/>
          <p:nvPr/>
        </p:nvSpPr>
        <p:spPr>
          <a:xfrm>
            <a:off x="548640" y="1554480"/>
            <a:ext cx="3611880" cy="4617720"/>
          </a:xfrm>
          <a:prstGeom prst="roundRect">
            <a:avLst>
              <a:gd name="adj" fmla="val 2532"/>
            </a:avLst>
          </a:prstGeom>
          <a:solidFill>
            <a:schemeClr val="tx2"/>
          </a:solidFill>
          <a:ln w="12700">
            <a:solidFill>
              <a:schemeClr val="accent2">
                <a:alpha val="38000"/>
              </a:schemeClr>
            </a:solidFill>
            <a:prstDash val="solid"/>
          </a:ln>
        </p:spPr>
      </p:sp>
      <p:sp>
        <p:nvSpPr>
          <p:cNvPr id="5" name="Text 3"/>
          <p:cNvSpPr txBox="1"/>
          <p:nvPr/>
        </p:nvSpPr>
        <p:spPr>
          <a:xfrm>
            <a:off x="777240" y="1719072"/>
            <a:ext cx="3200400" cy="320040"/>
          </a:xfrm>
          <a:prstGeom prst="rect">
            <a:avLst/>
          </a:prstGeom>
          <a:noFill/>
          <a:ln/>
        </p:spPr>
        <p:txBody>
          <a:bodyPr wrap="square" lIns="0" tIns="0" rIns="0" bIns="0" rtlCol="0" anchor="t"/>
          <a:lstStyle/>
          <a:p>
            <a:pPr indent="0" marL="0">
              <a:buNone/>
            </a:pPr>
            <a:r>
              <a:rPr lang="en-US" sz="1500" b="1" dirty="0">
                <a:solidFill>
                  <a:schemeClr val="accent1"/>
                </a:solidFill>
              </a:rPr>
              <a:t>Projects &amp; GitHub integration</a:t>
            </a:r>
            <a:endParaRPr lang="en-US" sz="1500" dirty="0"/>
          </a:p>
        </p:txBody>
      </p:sp>
      <p:sp>
        <p:nvSpPr>
          <p:cNvPr id="6" name="pill"/>
          <p:cNvSpPr/>
          <p:nvPr/>
        </p:nvSpPr>
        <p:spPr>
          <a:xfrm>
            <a:off x="777240" y="2176272"/>
            <a:ext cx="621792" cy="274320"/>
          </a:xfrm>
          <a:prstGeom prst="roundRect">
            <a:avLst>
              <a:gd name="adj" fmla="val 50000"/>
            </a:avLst>
          </a:prstGeom>
          <a:solidFill>
            <a:schemeClr val="accent5">
              <a:alpha val="18000"/>
            </a:schemeClr>
          </a:solidFill>
          <a:ln w="9525">
            <a:solidFill>
              <a:schemeClr val="accent5">
                <a:alpha val="70000"/>
              </a:schemeClr>
            </a:solidFill>
            <a:prstDash val="solid"/>
          </a:ln>
        </p:spPr>
      </p:sp>
      <p:sp>
        <p:nvSpPr>
          <p:cNvPr id="7" name="Text 5"/>
          <p:cNvSpPr txBox="1"/>
          <p:nvPr/>
        </p:nvSpPr>
        <p:spPr>
          <a:xfrm>
            <a:off x="777240" y="2176272"/>
            <a:ext cx="621792" cy="274320"/>
          </a:xfrm>
          <a:prstGeom prst="rect">
            <a:avLst/>
          </a:prstGeom>
          <a:noFill/>
          <a:ln/>
        </p:spPr>
        <p:txBody>
          <a:bodyPr wrap="square" lIns="0" tIns="0" rIns="0" bIns="0" rtlCol="0" anchor="ctr"/>
          <a:lstStyle/>
          <a:p>
            <a:pPr algn="ctr" indent="0" marL="0">
              <a:buNone/>
            </a:pPr>
            <a:r>
              <a:rPr lang="en-US" sz="900" b="1" dirty="0">
                <a:solidFill>
                  <a:schemeClr val="accent5"/>
                </a:solidFill>
                <a:latin typeface="Courier New" pitchFamily="34" charset="0"/>
                <a:ea typeface="Courier New" pitchFamily="34" charset="-122"/>
                <a:cs typeface="Courier New" pitchFamily="34" charset="-120"/>
              </a:rPr>
              <a:t>POST</a:t>
            </a:r>
            <a:endParaRPr lang="en-US" sz="900" dirty="0"/>
          </a:p>
        </p:txBody>
      </p:sp>
      <p:sp>
        <p:nvSpPr>
          <p:cNvPr id="8" name="Text 6"/>
          <p:cNvSpPr txBox="1"/>
          <p:nvPr/>
        </p:nvSpPr>
        <p:spPr>
          <a:xfrm>
            <a:off x="1481328" y="217627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/projects</a:t>
            </a:r>
            <a:endParaRPr lang="en-US" sz="1000" dirty="0"/>
          </a:p>
        </p:txBody>
      </p:sp>
      <p:sp>
        <p:nvSpPr>
          <p:cNvPr id="9" name="pill"/>
          <p:cNvSpPr/>
          <p:nvPr/>
        </p:nvSpPr>
        <p:spPr>
          <a:xfrm>
            <a:off x="777240" y="2564892"/>
            <a:ext cx="621792" cy="274320"/>
          </a:xfrm>
          <a:prstGeom prst="roundRect">
            <a:avLst>
              <a:gd name="adj" fmla="val 50000"/>
            </a:avLst>
          </a:prstGeom>
          <a:solidFill>
            <a:schemeClr val="accent1">
              <a:alpha val="18000"/>
            </a:schemeClr>
          </a:solidFill>
          <a:ln w="9525">
            <a:solidFill>
              <a:schemeClr val="accent1">
                <a:alpha val="70000"/>
              </a:schemeClr>
            </a:solidFill>
            <a:prstDash val="solid"/>
          </a:ln>
        </p:spPr>
      </p:sp>
      <p:sp>
        <p:nvSpPr>
          <p:cNvPr id="10" name="Text 8"/>
          <p:cNvSpPr txBox="1"/>
          <p:nvPr/>
        </p:nvSpPr>
        <p:spPr>
          <a:xfrm>
            <a:off x="777240" y="2564892"/>
            <a:ext cx="621792" cy="274320"/>
          </a:xfrm>
          <a:prstGeom prst="rect">
            <a:avLst/>
          </a:prstGeom>
          <a:noFill/>
          <a:ln/>
        </p:spPr>
        <p:txBody>
          <a:bodyPr wrap="square" lIns="0" tIns="0" rIns="0" bIns="0" rtlCol="0" anchor="ctr"/>
          <a:lstStyle/>
          <a:p>
            <a:pPr algn="ctr" indent="0" marL="0">
              <a:buNone/>
            </a:pPr>
            <a:r>
              <a:rPr lang="en-US" sz="900" b="1" dirty="0">
                <a:solidFill>
                  <a:schemeClr val="accent1"/>
                </a:solidFill>
                <a:latin typeface="Courier New" pitchFamily="34" charset="0"/>
                <a:ea typeface="Courier New" pitchFamily="34" charset="-122"/>
                <a:cs typeface="Courier New" pitchFamily="34" charset="-120"/>
              </a:rPr>
              <a:t>GET</a:t>
            </a:r>
            <a:endParaRPr lang="en-US" sz="900" dirty="0"/>
          </a:p>
        </p:txBody>
      </p:sp>
      <p:sp>
        <p:nvSpPr>
          <p:cNvPr id="11" name="Text 9"/>
          <p:cNvSpPr txBox="1"/>
          <p:nvPr/>
        </p:nvSpPr>
        <p:spPr>
          <a:xfrm>
            <a:off x="1481328" y="256489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/projects/{projectId}</a:t>
            </a:r>
            <a:endParaRPr lang="en-US" sz="1000" dirty="0"/>
          </a:p>
        </p:txBody>
      </p:sp>
      <p:sp>
        <p:nvSpPr>
          <p:cNvPr id="12" name="pill"/>
          <p:cNvSpPr/>
          <p:nvPr/>
        </p:nvSpPr>
        <p:spPr>
          <a:xfrm>
            <a:off x="777240" y="2953512"/>
            <a:ext cx="621792" cy="274320"/>
          </a:xfrm>
          <a:prstGeom prst="roundRect">
            <a:avLst>
              <a:gd name="adj" fmla="val 50000"/>
            </a:avLst>
          </a:prstGeom>
          <a:solidFill>
            <a:schemeClr val="accent5">
              <a:alpha val="18000"/>
            </a:schemeClr>
          </a:solidFill>
          <a:ln w="9525">
            <a:solidFill>
              <a:schemeClr val="accent5">
                <a:alpha val="70000"/>
              </a:schemeClr>
            </a:solidFill>
            <a:prstDash val="solid"/>
          </a:ln>
        </p:spPr>
      </p:sp>
      <p:sp>
        <p:nvSpPr>
          <p:cNvPr id="13" name="Text 11"/>
          <p:cNvSpPr txBox="1"/>
          <p:nvPr/>
        </p:nvSpPr>
        <p:spPr>
          <a:xfrm>
            <a:off x="777240" y="2953512"/>
            <a:ext cx="621792" cy="274320"/>
          </a:xfrm>
          <a:prstGeom prst="rect">
            <a:avLst/>
          </a:prstGeom>
          <a:noFill/>
          <a:ln/>
        </p:spPr>
        <p:txBody>
          <a:bodyPr wrap="square" lIns="0" tIns="0" rIns="0" bIns="0" rtlCol="0" anchor="ctr"/>
          <a:lstStyle/>
          <a:p>
            <a:pPr algn="ctr" indent="0" marL="0">
              <a:buNone/>
            </a:pPr>
            <a:r>
              <a:rPr lang="en-US" sz="900" b="1" dirty="0">
                <a:solidFill>
                  <a:schemeClr val="accent5"/>
                </a:solidFill>
                <a:latin typeface="Courier New" pitchFamily="34" charset="0"/>
                <a:ea typeface="Courier New" pitchFamily="34" charset="-122"/>
                <a:cs typeface="Courier New" pitchFamily="34" charset="-120"/>
              </a:rPr>
              <a:t>POST</a:t>
            </a:r>
            <a:endParaRPr lang="en-US" sz="900" dirty="0"/>
          </a:p>
        </p:txBody>
      </p:sp>
      <p:sp>
        <p:nvSpPr>
          <p:cNvPr id="14" name="Text 12"/>
          <p:cNvSpPr txBox="1"/>
          <p:nvPr/>
        </p:nvSpPr>
        <p:spPr>
          <a:xfrm>
            <a:off x="1481328" y="295351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/integrations/github/installations</a:t>
            </a:r>
            <a:endParaRPr lang="en-US" sz="1000" dirty="0"/>
          </a:p>
        </p:txBody>
      </p:sp>
      <p:sp>
        <p:nvSpPr>
          <p:cNvPr id="15" name="pill"/>
          <p:cNvSpPr/>
          <p:nvPr/>
        </p:nvSpPr>
        <p:spPr>
          <a:xfrm>
            <a:off x="777240" y="3342132"/>
            <a:ext cx="621792" cy="274320"/>
          </a:xfrm>
          <a:prstGeom prst="roundRect">
            <a:avLst>
              <a:gd name="adj" fmla="val 50000"/>
            </a:avLst>
          </a:prstGeom>
          <a:solidFill>
            <a:schemeClr val="accent1">
              <a:alpha val="18000"/>
            </a:schemeClr>
          </a:solidFill>
          <a:ln w="9525">
            <a:solidFill>
              <a:schemeClr val="accent1">
                <a:alpha val="70000"/>
              </a:schemeClr>
            </a:solidFill>
            <a:prstDash val="solid"/>
          </a:ln>
        </p:spPr>
      </p:sp>
      <p:sp>
        <p:nvSpPr>
          <p:cNvPr id="16" name="Text 14"/>
          <p:cNvSpPr txBox="1"/>
          <p:nvPr/>
        </p:nvSpPr>
        <p:spPr>
          <a:xfrm>
            <a:off x="777240" y="3342132"/>
            <a:ext cx="621792" cy="274320"/>
          </a:xfrm>
          <a:prstGeom prst="rect">
            <a:avLst/>
          </a:prstGeom>
          <a:noFill/>
          <a:ln/>
        </p:spPr>
        <p:txBody>
          <a:bodyPr wrap="square" lIns="0" tIns="0" rIns="0" bIns="0" rtlCol="0" anchor="ctr"/>
          <a:lstStyle/>
          <a:p>
            <a:pPr algn="ctr" indent="0" marL="0">
              <a:buNone/>
            </a:pPr>
            <a:r>
              <a:rPr lang="en-US" sz="900" b="1" dirty="0">
                <a:solidFill>
                  <a:schemeClr val="accent1"/>
                </a:solidFill>
                <a:latin typeface="Courier New" pitchFamily="34" charset="0"/>
                <a:ea typeface="Courier New" pitchFamily="34" charset="-122"/>
                <a:cs typeface="Courier New" pitchFamily="34" charset="-120"/>
              </a:rPr>
              <a:t>GET</a:t>
            </a:r>
            <a:endParaRPr lang="en-US" sz="900" dirty="0"/>
          </a:p>
        </p:txBody>
      </p:sp>
      <p:sp>
        <p:nvSpPr>
          <p:cNvPr id="17" name="Text 15"/>
          <p:cNvSpPr txBox="1"/>
          <p:nvPr/>
        </p:nvSpPr>
        <p:spPr>
          <a:xfrm>
            <a:off x="1481328" y="334213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/integrations</a:t>
            </a:r>
            <a:endParaRPr lang="en-US" sz="1000" dirty="0"/>
          </a:p>
        </p:txBody>
      </p:sp>
      <p:sp>
        <p:nvSpPr>
          <p:cNvPr id="18" name="pill"/>
          <p:cNvSpPr/>
          <p:nvPr/>
        </p:nvSpPr>
        <p:spPr>
          <a:xfrm>
            <a:off x="777240" y="3730752"/>
            <a:ext cx="621792" cy="274320"/>
          </a:xfrm>
          <a:prstGeom prst="roundRect">
            <a:avLst>
              <a:gd name="adj" fmla="val 50000"/>
            </a:avLst>
          </a:prstGeom>
          <a:solidFill>
            <a:schemeClr val="accent5">
              <a:alpha val="18000"/>
            </a:schemeClr>
          </a:solidFill>
          <a:ln w="9525">
            <a:solidFill>
              <a:schemeClr val="accent5">
                <a:alpha val="70000"/>
              </a:schemeClr>
            </a:solidFill>
            <a:prstDash val="solid"/>
          </a:ln>
        </p:spPr>
      </p:sp>
      <p:sp>
        <p:nvSpPr>
          <p:cNvPr id="19" name="Text 17"/>
          <p:cNvSpPr txBox="1"/>
          <p:nvPr/>
        </p:nvSpPr>
        <p:spPr>
          <a:xfrm>
            <a:off x="777240" y="3730752"/>
            <a:ext cx="621792" cy="274320"/>
          </a:xfrm>
          <a:prstGeom prst="rect">
            <a:avLst/>
          </a:prstGeom>
          <a:noFill/>
          <a:ln/>
        </p:spPr>
        <p:txBody>
          <a:bodyPr wrap="square" lIns="0" tIns="0" rIns="0" bIns="0" rtlCol="0" anchor="ctr"/>
          <a:lstStyle/>
          <a:p>
            <a:pPr algn="ctr" indent="0" marL="0">
              <a:buNone/>
            </a:pPr>
            <a:r>
              <a:rPr lang="en-US" sz="900" b="1" dirty="0">
                <a:solidFill>
                  <a:schemeClr val="accent5"/>
                </a:solidFill>
                <a:latin typeface="Courier New" pitchFamily="34" charset="0"/>
                <a:ea typeface="Courier New" pitchFamily="34" charset="-122"/>
                <a:cs typeface="Courier New" pitchFamily="34" charset="-120"/>
              </a:rPr>
              <a:t>POST</a:t>
            </a:r>
            <a:endParaRPr lang="en-US" sz="900" dirty="0"/>
          </a:p>
        </p:txBody>
      </p:sp>
      <p:sp>
        <p:nvSpPr>
          <p:cNvPr id="20" name="Text 18"/>
          <p:cNvSpPr txBox="1"/>
          <p:nvPr/>
        </p:nvSpPr>
        <p:spPr>
          <a:xfrm>
            <a:off x="1481328" y="373075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/webhooks/github</a:t>
            </a:r>
            <a:endParaRPr lang="en-US" sz="1000" dirty="0"/>
          </a:p>
        </p:txBody>
      </p:sp>
      <p:sp>
        <p:nvSpPr>
          <p:cNvPr id="21" name="pill"/>
          <p:cNvSpPr/>
          <p:nvPr/>
        </p:nvSpPr>
        <p:spPr>
          <a:xfrm>
            <a:off x="777240" y="4119372"/>
            <a:ext cx="621792" cy="274320"/>
          </a:xfrm>
          <a:prstGeom prst="roundRect">
            <a:avLst>
              <a:gd name="adj" fmla="val 50000"/>
            </a:avLst>
          </a:prstGeom>
          <a:solidFill>
            <a:schemeClr val="accent5">
              <a:alpha val="18000"/>
            </a:schemeClr>
          </a:solidFill>
          <a:ln w="9525">
            <a:solidFill>
              <a:schemeClr val="accent5">
                <a:alpha val="70000"/>
              </a:schemeClr>
            </a:solidFill>
            <a:prstDash val="solid"/>
          </a:ln>
        </p:spPr>
      </p:sp>
      <p:sp>
        <p:nvSpPr>
          <p:cNvPr id="22" name="Text 20"/>
          <p:cNvSpPr txBox="1"/>
          <p:nvPr/>
        </p:nvSpPr>
        <p:spPr>
          <a:xfrm>
            <a:off x="777240" y="4119372"/>
            <a:ext cx="621792" cy="274320"/>
          </a:xfrm>
          <a:prstGeom prst="rect">
            <a:avLst/>
          </a:prstGeom>
          <a:noFill/>
          <a:ln/>
        </p:spPr>
        <p:txBody>
          <a:bodyPr wrap="square" lIns="0" tIns="0" rIns="0" bIns="0" rtlCol="0" anchor="ctr"/>
          <a:lstStyle/>
          <a:p>
            <a:pPr algn="ctr" indent="0" marL="0">
              <a:buNone/>
            </a:pPr>
            <a:r>
              <a:rPr lang="en-US" sz="900" b="1" dirty="0">
                <a:solidFill>
                  <a:schemeClr val="accent5"/>
                </a:solidFill>
                <a:latin typeface="Courier New" pitchFamily="34" charset="0"/>
                <a:ea typeface="Courier New" pitchFamily="34" charset="-122"/>
                <a:cs typeface="Courier New" pitchFamily="34" charset="-120"/>
              </a:rPr>
              <a:t>POST</a:t>
            </a:r>
            <a:endParaRPr lang="en-US" sz="900" dirty="0"/>
          </a:p>
        </p:txBody>
      </p:sp>
      <p:sp>
        <p:nvSpPr>
          <p:cNvPr id="23" name="Text 21"/>
          <p:cNvSpPr txBox="1"/>
          <p:nvPr/>
        </p:nvSpPr>
        <p:spPr>
          <a:xfrm>
            <a:off x="1481328" y="411937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/projects/{id}/repositories/sync</a:t>
            </a:r>
            <a:endParaRPr lang="en-US" sz="1000" dirty="0"/>
          </a:p>
        </p:txBody>
      </p:sp>
      <p:sp>
        <p:nvSpPr>
          <p:cNvPr id="24" name="card"/>
          <p:cNvSpPr/>
          <p:nvPr/>
        </p:nvSpPr>
        <p:spPr>
          <a:xfrm>
            <a:off x="4297680" y="1554480"/>
            <a:ext cx="3611880" cy="4617720"/>
          </a:xfrm>
          <a:prstGeom prst="roundRect">
            <a:avLst>
              <a:gd name="adj" fmla="val 2532"/>
            </a:avLst>
          </a:prstGeom>
          <a:solidFill>
            <a:schemeClr val="tx2"/>
          </a:solidFill>
          <a:ln w="12700">
            <a:solidFill>
              <a:schemeClr val="accent2">
                <a:alpha val="38000"/>
              </a:schemeClr>
            </a:solidFill>
            <a:prstDash val="solid"/>
          </a:ln>
        </p:spPr>
      </p:sp>
      <p:sp>
        <p:nvSpPr>
          <p:cNvPr id="25" name="Text 23"/>
          <p:cNvSpPr txBox="1"/>
          <p:nvPr/>
        </p:nvSpPr>
        <p:spPr>
          <a:xfrm>
            <a:off x="4526280" y="1719072"/>
            <a:ext cx="3200400" cy="320040"/>
          </a:xfrm>
          <a:prstGeom prst="rect">
            <a:avLst/>
          </a:prstGeom>
          <a:noFill/>
          <a:ln/>
        </p:spPr>
        <p:txBody>
          <a:bodyPr wrap="square" lIns="0" tIns="0" rIns="0" bIns="0" rtlCol="0" anchor="t"/>
          <a:lstStyle/>
          <a:p>
            <a:pPr indent="0" marL="0">
              <a:buNone/>
            </a:pPr>
            <a:r>
              <a:rPr lang="en-US" sz="1500" b="1" dirty="0">
                <a:solidFill>
                  <a:schemeClr val="accent2"/>
                </a:solidFill>
              </a:rPr>
              <a:t>Scans, investigations &amp; findings</a:t>
            </a:r>
            <a:endParaRPr lang="en-US" sz="1500" dirty="0"/>
          </a:p>
        </p:txBody>
      </p:sp>
      <p:sp>
        <p:nvSpPr>
          <p:cNvPr id="26" name="pill"/>
          <p:cNvSpPr/>
          <p:nvPr/>
        </p:nvSpPr>
        <p:spPr>
          <a:xfrm>
            <a:off x="4526280" y="2176272"/>
            <a:ext cx="621792" cy="274320"/>
          </a:xfrm>
          <a:prstGeom prst="roundRect">
            <a:avLst>
              <a:gd name="adj" fmla="val 50000"/>
            </a:avLst>
          </a:prstGeom>
          <a:solidFill>
            <a:schemeClr val="accent5">
              <a:alpha val="18000"/>
            </a:schemeClr>
          </a:solidFill>
          <a:ln w="9525">
            <a:solidFill>
              <a:schemeClr val="accent5">
                <a:alpha val="70000"/>
              </a:schemeClr>
            </a:solidFill>
            <a:prstDash val="solid"/>
          </a:ln>
        </p:spPr>
      </p:sp>
      <p:sp>
        <p:nvSpPr>
          <p:cNvPr id="27" name="Text 25"/>
          <p:cNvSpPr txBox="1"/>
          <p:nvPr/>
        </p:nvSpPr>
        <p:spPr>
          <a:xfrm>
            <a:off x="4526280" y="2176272"/>
            <a:ext cx="621792" cy="274320"/>
          </a:xfrm>
          <a:prstGeom prst="rect">
            <a:avLst/>
          </a:prstGeom>
          <a:noFill/>
          <a:ln/>
        </p:spPr>
        <p:txBody>
          <a:bodyPr wrap="square" lIns="0" tIns="0" rIns="0" bIns="0" rtlCol="0" anchor="ctr"/>
          <a:lstStyle/>
          <a:p>
            <a:pPr algn="ctr" indent="0" marL="0">
              <a:buNone/>
            </a:pPr>
            <a:r>
              <a:rPr lang="en-US" sz="900" b="1" dirty="0">
                <a:solidFill>
                  <a:schemeClr val="accent5"/>
                </a:solidFill>
                <a:latin typeface="Courier New" pitchFamily="34" charset="0"/>
                <a:ea typeface="Courier New" pitchFamily="34" charset="-122"/>
                <a:cs typeface="Courier New" pitchFamily="34" charset="-120"/>
              </a:rPr>
              <a:t>POST</a:t>
            </a:r>
            <a:endParaRPr lang="en-US" sz="900" dirty="0"/>
          </a:p>
        </p:txBody>
      </p:sp>
      <p:sp>
        <p:nvSpPr>
          <p:cNvPr id="28" name="Text 26"/>
          <p:cNvSpPr txBox="1"/>
          <p:nvPr/>
        </p:nvSpPr>
        <p:spPr>
          <a:xfrm>
            <a:off x="5230368" y="217627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/projects/{id}/scans</a:t>
            </a:r>
            <a:endParaRPr lang="en-US" sz="1000" dirty="0"/>
          </a:p>
        </p:txBody>
      </p:sp>
      <p:sp>
        <p:nvSpPr>
          <p:cNvPr id="29" name="pill"/>
          <p:cNvSpPr/>
          <p:nvPr/>
        </p:nvSpPr>
        <p:spPr>
          <a:xfrm>
            <a:off x="4526280" y="2564892"/>
            <a:ext cx="621792" cy="274320"/>
          </a:xfrm>
          <a:prstGeom prst="roundRect">
            <a:avLst>
              <a:gd name="adj" fmla="val 50000"/>
            </a:avLst>
          </a:prstGeom>
          <a:solidFill>
            <a:schemeClr val="accent1">
              <a:alpha val="18000"/>
            </a:schemeClr>
          </a:solidFill>
          <a:ln w="9525">
            <a:solidFill>
              <a:schemeClr val="accent1">
                <a:alpha val="70000"/>
              </a:schemeClr>
            </a:solidFill>
            <a:prstDash val="solid"/>
          </a:ln>
        </p:spPr>
      </p:sp>
      <p:sp>
        <p:nvSpPr>
          <p:cNvPr id="30" name="Text 28"/>
          <p:cNvSpPr txBox="1"/>
          <p:nvPr/>
        </p:nvSpPr>
        <p:spPr>
          <a:xfrm>
            <a:off x="4526280" y="2564892"/>
            <a:ext cx="621792" cy="274320"/>
          </a:xfrm>
          <a:prstGeom prst="rect">
            <a:avLst/>
          </a:prstGeom>
          <a:noFill/>
          <a:ln/>
        </p:spPr>
        <p:txBody>
          <a:bodyPr wrap="square" lIns="0" tIns="0" rIns="0" bIns="0" rtlCol="0" anchor="ctr"/>
          <a:lstStyle/>
          <a:p>
            <a:pPr algn="ctr" indent="0" marL="0">
              <a:buNone/>
            </a:pPr>
            <a:r>
              <a:rPr lang="en-US" sz="900" b="1" dirty="0">
                <a:solidFill>
                  <a:schemeClr val="accent1"/>
                </a:solidFill>
                <a:latin typeface="Courier New" pitchFamily="34" charset="0"/>
                <a:ea typeface="Courier New" pitchFamily="34" charset="-122"/>
                <a:cs typeface="Courier New" pitchFamily="34" charset="-120"/>
              </a:rPr>
              <a:t>GET</a:t>
            </a:r>
            <a:endParaRPr lang="en-US" sz="900" dirty="0"/>
          </a:p>
        </p:txBody>
      </p:sp>
      <p:sp>
        <p:nvSpPr>
          <p:cNvPr id="31" name="Text 29"/>
          <p:cNvSpPr txBox="1"/>
          <p:nvPr/>
        </p:nvSpPr>
        <p:spPr>
          <a:xfrm>
            <a:off x="5230368" y="256489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/jobs/{jobId}</a:t>
            </a:r>
            <a:endParaRPr lang="en-US" sz="1000" dirty="0"/>
          </a:p>
        </p:txBody>
      </p:sp>
      <p:sp>
        <p:nvSpPr>
          <p:cNvPr id="32" name="pill"/>
          <p:cNvSpPr/>
          <p:nvPr/>
        </p:nvSpPr>
        <p:spPr>
          <a:xfrm>
            <a:off x="4526280" y="2953512"/>
            <a:ext cx="621792" cy="274320"/>
          </a:xfrm>
          <a:prstGeom prst="roundRect">
            <a:avLst>
              <a:gd name="adj" fmla="val 50000"/>
            </a:avLst>
          </a:prstGeom>
          <a:solidFill>
            <a:schemeClr val="accent5">
              <a:alpha val="18000"/>
            </a:schemeClr>
          </a:solidFill>
          <a:ln w="9525">
            <a:solidFill>
              <a:schemeClr val="accent5">
                <a:alpha val="70000"/>
              </a:schemeClr>
            </a:solidFill>
            <a:prstDash val="solid"/>
          </a:ln>
        </p:spPr>
      </p:sp>
      <p:sp>
        <p:nvSpPr>
          <p:cNvPr id="33" name="Text 31"/>
          <p:cNvSpPr txBox="1"/>
          <p:nvPr/>
        </p:nvSpPr>
        <p:spPr>
          <a:xfrm>
            <a:off x="4526280" y="2953512"/>
            <a:ext cx="621792" cy="274320"/>
          </a:xfrm>
          <a:prstGeom prst="rect">
            <a:avLst/>
          </a:prstGeom>
          <a:noFill/>
          <a:ln/>
        </p:spPr>
        <p:txBody>
          <a:bodyPr wrap="square" lIns="0" tIns="0" rIns="0" bIns="0" rtlCol="0" anchor="ctr"/>
          <a:lstStyle/>
          <a:p>
            <a:pPr algn="ctr" indent="0" marL="0">
              <a:buNone/>
            </a:pPr>
            <a:r>
              <a:rPr lang="en-US" sz="900" b="1" dirty="0">
                <a:solidFill>
                  <a:schemeClr val="accent5"/>
                </a:solidFill>
                <a:latin typeface="Courier New" pitchFamily="34" charset="0"/>
                <a:ea typeface="Courier New" pitchFamily="34" charset="-122"/>
                <a:cs typeface="Courier New" pitchFamily="34" charset="-120"/>
              </a:rPr>
              <a:t>POST</a:t>
            </a:r>
            <a:endParaRPr lang="en-US" sz="900" dirty="0"/>
          </a:p>
        </p:txBody>
      </p:sp>
      <p:sp>
        <p:nvSpPr>
          <p:cNvPr id="34" name="Text 32"/>
          <p:cNvSpPr txBox="1"/>
          <p:nvPr/>
        </p:nvSpPr>
        <p:spPr>
          <a:xfrm>
            <a:off x="5230368" y="295351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/projects/{id}/investigations</a:t>
            </a:r>
            <a:endParaRPr lang="en-US" sz="1000" dirty="0"/>
          </a:p>
        </p:txBody>
      </p:sp>
      <p:sp>
        <p:nvSpPr>
          <p:cNvPr id="35" name="pill"/>
          <p:cNvSpPr/>
          <p:nvPr/>
        </p:nvSpPr>
        <p:spPr>
          <a:xfrm>
            <a:off x="4526280" y="3342132"/>
            <a:ext cx="621792" cy="274320"/>
          </a:xfrm>
          <a:prstGeom prst="roundRect">
            <a:avLst>
              <a:gd name="adj" fmla="val 50000"/>
            </a:avLst>
          </a:prstGeom>
          <a:solidFill>
            <a:schemeClr val="accent1">
              <a:alpha val="18000"/>
            </a:schemeClr>
          </a:solidFill>
          <a:ln w="9525">
            <a:solidFill>
              <a:schemeClr val="accent1">
                <a:alpha val="70000"/>
              </a:schemeClr>
            </a:solidFill>
            <a:prstDash val="solid"/>
          </a:ln>
        </p:spPr>
      </p:sp>
      <p:sp>
        <p:nvSpPr>
          <p:cNvPr id="36" name="Text 34"/>
          <p:cNvSpPr txBox="1"/>
          <p:nvPr/>
        </p:nvSpPr>
        <p:spPr>
          <a:xfrm>
            <a:off x="4526280" y="3342132"/>
            <a:ext cx="621792" cy="274320"/>
          </a:xfrm>
          <a:prstGeom prst="rect">
            <a:avLst/>
          </a:prstGeom>
          <a:noFill/>
          <a:ln/>
        </p:spPr>
        <p:txBody>
          <a:bodyPr wrap="square" lIns="0" tIns="0" rIns="0" bIns="0" rtlCol="0" anchor="ctr"/>
          <a:lstStyle/>
          <a:p>
            <a:pPr algn="ctr" indent="0" marL="0">
              <a:buNone/>
            </a:pPr>
            <a:r>
              <a:rPr lang="en-US" sz="900" b="1" dirty="0">
                <a:solidFill>
                  <a:schemeClr val="accent1"/>
                </a:solidFill>
                <a:latin typeface="Courier New" pitchFamily="34" charset="0"/>
                <a:ea typeface="Courier New" pitchFamily="34" charset="-122"/>
                <a:cs typeface="Courier New" pitchFamily="34" charset="-120"/>
              </a:rPr>
              <a:t>GET</a:t>
            </a:r>
            <a:endParaRPr lang="en-US" sz="900" dirty="0"/>
          </a:p>
        </p:txBody>
      </p:sp>
      <p:sp>
        <p:nvSpPr>
          <p:cNvPr id="37" name="Text 35"/>
          <p:cNvSpPr txBox="1"/>
          <p:nvPr/>
        </p:nvSpPr>
        <p:spPr>
          <a:xfrm>
            <a:off x="5230368" y="334213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/investigations/{investigationId}</a:t>
            </a:r>
            <a:endParaRPr lang="en-US" sz="1000" dirty="0"/>
          </a:p>
        </p:txBody>
      </p:sp>
      <p:sp>
        <p:nvSpPr>
          <p:cNvPr id="38" name="pill"/>
          <p:cNvSpPr/>
          <p:nvPr/>
        </p:nvSpPr>
        <p:spPr>
          <a:xfrm>
            <a:off x="4526280" y="3730752"/>
            <a:ext cx="621792" cy="274320"/>
          </a:xfrm>
          <a:prstGeom prst="roundRect">
            <a:avLst>
              <a:gd name="adj" fmla="val 50000"/>
            </a:avLst>
          </a:prstGeom>
          <a:solidFill>
            <a:schemeClr val="accent1">
              <a:alpha val="18000"/>
            </a:schemeClr>
          </a:solidFill>
          <a:ln w="9525">
            <a:solidFill>
              <a:schemeClr val="accent1">
                <a:alpha val="70000"/>
              </a:schemeClr>
            </a:solidFill>
            <a:prstDash val="solid"/>
          </a:ln>
        </p:spPr>
      </p:sp>
      <p:sp>
        <p:nvSpPr>
          <p:cNvPr id="39" name="Text 37"/>
          <p:cNvSpPr txBox="1"/>
          <p:nvPr/>
        </p:nvSpPr>
        <p:spPr>
          <a:xfrm>
            <a:off x="4526280" y="3730752"/>
            <a:ext cx="621792" cy="274320"/>
          </a:xfrm>
          <a:prstGeom prst="rect">
            <a:avLst/>
          </a:prstGeom>
          <a:noFill/>
          <a:ln/>
        </p:spPr>
        <p:txBody>
          <a:bodyPr wrap="square" lIns="0" tIns="0" rIns="0" bIns="0" rtlCol="0" anchor="ctr"/>
          <a:lstStyle/>
          <a:p>
            <a:pPr algn="ctr" indent="0" marL="0">
              <a:buNone/>
            </a:pPr>
            <a:r>
              <a:rPr lang="en-US" sz="900" b="1" dirty="0">
                <a:solidFill>
                  <a:schemeClr val="accent1"/>
                </a:solidFill>
                <a:latin typeface="Courier New" pitchFamily="34" charset="0"/>
                <a:ea typeface="Courier New" pitchFamily="34" charset="-122"/>
                <a:cs typeface="Courier New" pitchFamily="34" charset="-120"/>
              </a:rPr>
              <a:t>GET</a:t>
            </a:r>
            <a:endParaRPr lang="en-US" sz="900" dirty="0"/>
          </a:p>
        </p:txBody>
      </p:sp>
      <p:sp>
        <p:nvSpPr>
          <p:cNvPr id="40" name="Text 38"/>
          <p:cNvSpPr txBox="1"/>
          <p:nvPr/>
        </p:nvSpPr>
        <p:spPr>
          <a:xfrm>
            <a:off x="5230368" y="373075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/projects/{id}/findings</a:t>
            </a:r>
            <a:endParaRPr lang="en-US" sz="1000" dirty="0"/>
          </a:p>
        </p:txBody>
      </p:sp>
      <p:sp>
        <p:nvSpPr>
          <p:cNvPr id="41" name="pill"/>
          <p:cNvSpPr/>
          <p:nvPr/>
        </p:nvSpPr>
        <p:spPr>
          <a:xfrm>
            <a:off x="4526280" y="4119372"/>
            <a:ext cx="621792" cy="274320"/>
          </a:xfrm>
          <a:prstGeom prst="roundRect">
            <a:avLst>
              <a:gd name="adj" fmla="val 50000"/>
            </a:avLst>
          </a:prstGeom>
          <a:solidFill>
            <a:schemeClr val="accent1">
              <a:alpha val="18000"/>
            </a:schemeClr>
          </a:solidFill>
          <a:ln w="9525">
            <a:solidFill>
              <a:schemeClr val="accent1">
                <a:alpha val="70000"/>
              </a:schemeClr>
            </a:solidFill>
            <a:prstDash val="solid"/>
          </a:ln>
        </p:spPr>
      </p:sp>
      <p:sp>
        <p:nvSpPr>
          <p:cNvPr id="42" name="Text 40"/>
          <p:cNvSpPr txBox="1"/>
          <p:nvPr/>
        </p:nvSpPr>
        <p:spPr>
          <a:xfrm>
            <a:off x="4526280" y="4119372"/>
            <a:ext cx="621792" cy="274320"/>
          </a:xfrm>
          <a:prstGeom prst="rect">
            <a:avLst/>
          </a:prstGeom>
          <a:noFill/>
          <a:ln/>
        </p:spPr>
        <p:txBody>
          <a:bodyPr wrap="square" lIns="0" tIns="0" rIns="0" bIns="0" rtlCol="0" anchor="ctr"/>
          <a:lstStyle/>
          <a:p>
            <a:pPr algn="ctr" indent="0" marL="0">
              <a:buNone/>
            </a:pPr>
            <a:r>
              <a:rPr lang="en-US" sz="900" b="1" dirty="0">
                <a:solidFill>
                  <a:schemeClr val="accent1"/>
                </a:solidFill>
                <a:latin typeface="Courier New" pitchFamily="34" charset="0"/>
                <a:ea typeface="Courier New" pitchFamily="34" charset="-122"/>
                <a:cs typeface="Courier New" pitchFamily="34" charset="-120"/>
              </a:rPr>
              <a:t>GET</a:t>
            </a:r>
            <a:endParaRPr lang="en-US" sz="900" dirty="0"/>
          </a:p>
        </p:txBody>
      </p:sp>
      <p:sp>
        <p:nvSpPr>
          <p:cNvPr id="43" name="Text 41"/>
          <p:cNvSpPr txBox="1"/>
          <p:nvPr/>
        </p:nvSpPr>
        <p:spPr>
          <a:xfrm>
            <a:off x="5230368" y="411937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/findings/{findingId}</a:t>
            </a:r>
            <a:endParaRPr lang="en-US" sz="1000" dirty="0"/>
          </a:p>
        </p:txBody>
      </p:sp>
      <p:sp>
        <p:nvSpPr>
          <p:cNvPr id="44" name="pill"/>
          <p:cNvSpPr/>
          <p:nvPr/>
        </p:nvSpPr>
        <p:spPr>
          <a:xfrm>
            <a:off x="4526280" y="4507992"/>
            <a:ext cx="621792" cy="274320"/>
          </a:xfrm>
          <a:prstGeom prst="roundRect">
            <a:avLst>
              <a:gd name="adj" fmla="val 50000"/>
            </a:avLst>
          </a:prstGeom>
          <a:solidFill>
            <a:schemeClr val="accent4">
              <a:alpha val="18000"/>
            </a:schemeClr>
          </a:solidFill>
          <a:ln w="9525">
            <a:solidFill>
              <a:schemeClr val="accent4">
                <a:alpha val="70000"/>
              </a:schemeClr>
            </a:solidFill>
            <a:prstDash val="solid"/>
          </a:ln>
        </p:spPr>
      </p:sp>
      <p:sp>
        <p:nvSpPr>
          <p:cNvPr id="45" name="Text 43"/>
          <p:cNvSpPr txBox="1"/>
          <p:nvPr/>
        </p:nvSpPr>
        <p:spPr>
          <a:xfrm>
            <a:off x="4526280" y="4507992"/>
            <a:ext cx="621792" cy="274320"/>
          </a:xfrm>
          <a:prstGeom prst="rect">
            <a:avLst/>
          </a:prstGeom>
          <a:noFill/>
          <a:ln/>
        </p:spPr>
        <p:txBody>
          <a:bodyPr wrap="square" lIns="0" tIns="0" rIns="0" bIns="0" rtlCol="0" anchor="ctr"/>
          <a:lstStyle/>
          <a:p>
            <a:pPr algn="ctr" indent="0" marL="0">
              <a:buNone/>
            </a:pPr>
            <a:r>
              <a:rPr lang="en-US" sz="900" b="1" dirty="0">
                <a:solidFill>
                  <a:schemeClr val="accent4"/>
                </a:solidFill>
                <a:latin typeface="Courier New" pitchFamily="34" charset="0"/>
                <a:ea typeface="Courier New" pitchFamily="34" charset="-122"/>
                <a:cs typeface="Courier New" pitchFamily="34" charset="-120"/>
              </a:rPr>
              <a:t>PATCH</a:t>
            </a:r>
            <a:endParaRPr lang="en-US" sz="900" dirty="0"/>
          </a:p>
        </p:txBody>
      </p:sp>
      <p:sp>
        <p:nvSpPr>
          <p:cNvPr id="46" name="Text 44"/>
          <p:cNvSpPr txBox="1"/>
          <p:nvPr/>
        </p:nvSpPr>
        <p:spPr>
          <a:xfrm>
            <a:off x="5230368" y="450799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/findings/{findingId}</a:t>
            </a:r>
            <a:endParaRPr lang="en-US" sz="1000" dirty="0"/>
          </a:p>
        </p:txBody>
      </p:sp>
      <p:sp>
        <p:nvSpPr>
          <p:cNvPr id="47" name="pill"/>
          <p:cNvSpPr/>
          <p:nvPr/>
        </p:nvSpPr>
        <p:spPr>
          <a:xfrm>
            <a:off x="4526280" y="4896612"/>
            <a:ext cx="621792" cy="274320"/>
          </a:xfrm>
          <a:prstGeom prst="roundRect">
            <a:avLst>
              <a:gd name="adj" fmla="val 50000"/>
            </a:avLst>
          </a:prstGeom>
          <a:solidFill>
            <a:schemeClr val="accent1">
              <a:alpha val="18000"/>
            </a:schemeClr>
          </a:solidFill>
          <a:ln w="9525">
            <a:solidFill>
              <a:schemeClr val="accent1">
                <a:alpha val="70000"/>
              </a:schemeClr>
            </a:solidFill>
            <a:prstDash val="solid"/>
          </a:ln>
        </p:spPr>
      </p:sp>
      <p:sp>
        <p:nvSpPr>
          <p:cNvPr id="48" name="Text 46"/>
          <p:cNvSpPr txBox="1"/>
          <p:nvPr/>
        </p:nvSpPr>
        <p:spPr>
          <a:xfrm>
            <a:off x="4526280" y="4896612"/>
            <a:ext cx="621792" cy="274320"/>
          </a:xfrm>
          <a:prstGeom prst="rect">
            <a:avLst/>
          </a:prstGeom>
          <a:noFill/>
          <a:ln/>
        </p:spPr>
        <p:txBody>
          <a:bodyPr wrap="square" lIns="0" tIns="0" rIns="0" bIns="0" rtlCol="0" anchor="ctr"/>
          <a:lstStyle/>
          <a:p>
            <a:pPr algn="ctr" indent="0" marL="0">
              <a:buNone/>
            </a:pPr>
            <a:r>
              <a:rPr lang="en-US" sz="900" b="1" dirty="0">
                <a:solidFill>
                  <a:schemeClr val="accent1"/>
                </a:solidFill>
                <a:latin typeface="Courier New" pitchFamily="34" charset="0"/>
                <a:ea typeface="Courier New" pitchFamily="34" charset="-122"/>
                <a:cs typeface="Courier New" pitchFamily="34" charset="-120"/>
              </a:rPr>
              <a:t>GET</a:t>
            </a:r>
            <a:endParaRPr lang="en-US" sz="900" dirty="0"/>
          </a:p>
        </p:txBody>
      </p:sp>
      <p:sp>
        <p:nvSpPr>
          <p:cNvPr id="49" name="Text 47"/>
          <p:cNvSpPr txBox="1"/>
          <p:nvPr/>
        </p:nvSpPr>
        <p:spPr>
          <a:xfrm>
            <a:off x="5230368" y="489661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/findings/{id}/evidence</a:t>
            </a:r>
            <a:endParaRPr lang="en-US" sz="1000" dirty="0"/>
          </a:p>
        </p:txBody>
      </p:sp>
      <p:sp>
        <p:nvSpPr>
          <p:cNvPr id="50" name="pill"/>
          <p:cNvSpPr/>
          <p:nvPr/>
        </p:nvSpPr>
        <p:spPr>
          <a:xfrm>
            <a:off x="4526280" y="5285232"/>
            <a:ext cx="621792" cy="274320"/>
          </a:xfrm>
          <a:prstGeom prst="roundRect">
            <a:avLst>
              <a:gd name="adj" fmla="val 50000"/>
            </a:avLst>
          </a:prstGeom>
          <a:solidFill>
            <a:schemeClr val="accent1">
              <a:alpha val="18000"/>
            </a:schemeClr>
          </a:solidFill>
          <a:ln w="9525">
            <a:solidFill>
              <a:schemeClr val="accent1">
                <a:alpha val="70000"/>
              </a:schemeClr>
            </a:solidFill>
            <a:prstDash val="solid"/>
          </a:ln>
        </p:spPr>
      </p:sp>
      <p:sp>
        <p:nvSpPr>
          <p:cNvPr id="51" name="Text 49"/>
          <p:cNvSpPr txBox="1"/>
          <p:nvPr/>
        </p:nvSpPr>
        <p:spPr>
          <a:xfrm>
            <a:off x="4526280" y="5285232"/>
            <a:ext cx="621792" cy="274320"/>
          </a:xfrm>
          <a:prstGeom prst="rect">
            <a:avLst/>
          </a:prstGeom>
          <a:noFill/>
          <a:ln/>
        </p:spPr>
        <p:txBody>
          <a:bodyPr wrap="square" lIns="0" tIns="0" rIns="0" bIns="0" rtlCol="0" anchor="ctr"/>
          <a:lstStyle/>
          <a:p>
            <a:pPr algn="ctr" indent="0" marL="0">
              <a:buNone/>
            </a:pPr>
            <a:r>
              <a:rPr lang="en-US" sz="900" b="1" dirty="0">
                <a:solidFill>
                  <a:schemeClr val="accent1"/>
                </a:solidFill>
                <a:latin typeface="Courier New" pitchFamily="34" charset="0"/>
                <a:ea typeface="Courier New" pitchFamily="34" charset="-122"/>
                <a:cs typeface="Courier New" pitchFamily="34" charset="-120"/>
              </a:rPr>
              <a:t>GET</a:t>
            </a:r>
            <a:endParaRPr lang="en-US" sz="900" dirty="0"/>
          </a:p>
        </p:txBody>
      </p:sp>
      <p:sp>
        <p:nvSpPr>
          <p:cNvPr id="52" name="Text 50"/>
          <p:cNvSpPr txBox="1"/>
          <p:nvPr/>
        </p:nvSpPr>
        <p:spPr>
          <a:xfrm>
            <a:off x="5230368" y="528523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/findings/{id}/attack-paths</a:t>
            </a:r>
            <a:endParaRPr lang="en-US" sz="1000" dirty="0"/>
          </a:p>
        </p:txBody>
      </p:sp>
      <p:sp>
        <p:nvSpPr>
          <p:cNvPr id="53" name="pill"/>
          <p:cNvSpPr/>
          <p:nvPr/>
        </p:nvSpPr>
        <p:spPr>
          <a:xfrm>
            <a:off x="4526280" y="5673852"/>
            <a:ext cx="621792" cy="274320"/>
          </a:xfrm>
          <a:prstGeom prst="roundRect">
            <a:avLst>
              <a:gd name="adj" fmla="val 50000"/>
            </a:avLst>
          </a:prstGeom>
          <a:solidFill>
            <a:schemeClr val="accent5">
              <a:alpha val="18000"/>
            </a:schemeClr>
          </a:solidFill>
          <a:ln w="9525">
            <a:solidFill>
              <a:schemeClr val="accent5">
                <a:alpha val="70000"/>
              </a:schemeClr>
            </a:solidFill>
            <a:prstDash val="solid"/>
          </a:ln>
        </p:spPr>
      </p:sp>
      <p:sp>
        <p:nvSpPr>
          <p:cNvPr id="54" name="Text 52"/>
          <p:cNvSpPr txBox="1"/>
          <p:nvPr/>
        </p:nvSpPr>
        <p:spPr>
          <a:xfrm>
            <a:off x="4526280" y="5673852"/>
            <a:ext cx="621792" cy="274320"/>
          </a:xfrm>
          <a:prstGeom prst="rect">
            <a:avLst/>
          </a:prstGeom>
          <a:noFill/>
          <a:ln/>
        </p:spPr>
        <p:txBody>
          <a:bodyPr wrap="square" lIns="0" tIns="0" rIns="0" bIns="0" rtlCol="0" anchor="ctr"/>
          <a:lstStyle/>
          <a:p>
            <a:pPr algn="ctr" indent="0" marL="0">
              <a:buNone/>
            </a:pPr>
            <a:r>
              <a:rPr lang="en-US" sz="900" b="1" dirty="0">
                <a:solidFill>
                  <a:schemeClr val="accent5"/>
                </a:solidFill>
                <a:latin typeface="Courier New" pitchFamily="34" charset="0"/>
                <a:ea typeface="Courier New" pitchFamily="34" charset="-122"/>
                <a:cs typeface="Courier New" pitchFamily="34" charset="-120"/>
              </a:rPr>
              <a:t>POST</a:t>
            </a:r>
            <a:endParaRPr lang="en-US" sz="900" dirty="0"/>
          </a:p>
        </p:txBody>
      </p:sp>
      <p:sp>
        <p:nvSpPr>
          <p:cNvPr id="55" name="Text 53"/>
          <p:cNvSpPr txBox="1"/>
          <p:nvPr/>
        </p:nvSpPr>
        <p:spPr>
          <a:xfrm>
            <a:off x="5230368" y="567385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/findings/{id}/recompute-paths</a:t>
            </a:r>
            <a:endParaRPr lang="en-US" sz="1000" dirty="0"/>
          </a:p>
        </p:txBody>
      </p:sp>
      <p:sp>
        <p:nvSpPr>
          <p:cNvPr id="56" name="card"/>
          <p:cNvSpPr/>
          <p:nvPr/>
        </p:nvSpPr>
        <p:spPr>
          <a:xfrm>
            <a:off x="8046720" y="1554480"/>
            <a:ext cx="3611880" cy="4617720"/>
          </a:xfrm>
          <a:prstGeom prst="roundRect">
            <a:avLst>
              <a:gd name="adj" fmla="val 2532"/>
            </a:avLst>
          </a:prstGeom>
          <a:solidFill>
            <a:schemeClr val="tx2"/>
          </a:solidFill>
          <a:ln w="12700">
            <a:solidFill>
              <a:schemeClr val="accent2">
                <a:alpha val="38000"/>
              </a:schemeClr>
            </a:solidFill>
            <a:prstDash val="solid"/>
          </a:ln>
        </p:spPr>
      </p:sp>
      <p:sp>
        <p:nvSpPr>
          <p:cNvPr id="57" name="Text 55"/>
          <p:cNvSpPr txBox="1"/>
          <p:nvPr/>
        </p:nvSpPr>
        <p:spPr>
          <a:xfrm>
            <a:off x="8275320" y="1719072"/>
            <a:ext cx="3200400" cy="320040"/>
          </a:xfrm>
          <a:prstGeom prst="rect">
            <a:avLst/>
          </a:prstGeom>
          <a:noFill/>
          <a:ln/>
        </p:spPr>
        <p:txBody>
          <a:bodyPr wrap="square" lIns="0" tIns="0" rIns="0" bIns="0" rtlCol="0" anchor="t"/>
          <a:lstStyle/>
          <a:p>
            <a:pPr indent="0" marL="0">
              <a:buNone/>
            </a:pPr>
            <a:r>
              <a:rPr lang="en-US" sz="1500" b="1" dirty="0">
                <a:solidFill>
                  <a:schemeClr val="accent5"/>
                </a:solidFill>
              </a:rPr>
              <a:t>Remediation &amp; verification</a:t>
            </a:r>
            <a:endParaRPr lang="en-US" sz="1500" dirty="0"/>
          </a:p>
        </p:txBody>
      </p:sp>
      <p:sp>
        <p:nvSpPr>
          <p:cNvPr id="58" name="pill"/>
          <p:cNvSpPr/>
          <p:nvPr/>
        </p:nvSpPr>
        <p:spPr>
          <a:xfrm>
            <a:off x="8275320" y="2176272"/>
            <a:ext cx="621792" cy="274320"/>
          </a:xfrm>
          <a:prstGeom prst="roundRect">
            <a:avLst>
              <a:gd name="adj" fmla="val 50000"/>
            </a:avLst>
          </a:prstGeom>
          <a:solidFill>
            <a:schemeClr val="accent5">
              <a:alpha val="18000"/>
            </a:schemeClr>
          </a:solidFill>
          <a:ln w="9525">
            <a:solidFill>
              <a:schemeClr val="accent5">
                <a:alpha val="70000"/>
              </a:schemeClr>
            </a:solidFill>
            <a:prstDash val="solid"/>
          </a:ln>
        </p:spPr>
      </p:sp>
      <p:sp>
        <p:nvSpPr>
          <p:cNvPr id="59" name="Text 57"/>
          <p:cNvSpPr txBox="1"/>
          <p:nvPr/>
        </p:nvSpPr>
        <p:spPr>
          <a:xfrm>
            <a:off x="8275320" y="2176272"/>
            <a:ext cx="621792" cy="274320"/>
          </a:xfrm>
          <a:prstGeom prst="rect">
            <a:avLst/>
          </a:prstGeom>
          <a:noFill/>
          <a:ln/>
        </p:spPr>
        <p:txBody>
          <a:bodyPr wrap="square" lIns="0" tIns="0" rIns="0" bIns="0" rtlCol="0" anchor="ctr"/>
          <a:lstStyle/>
          <a:p>
            <a:pPr algn="ctr" indent="0" marL="0">
              <a:buNone/>
            </a:pPr>
            <a:r>
              <a:rPr lang="en-US" sz="900" b="1" dirty="0">
                <a:solidFill>
                  <a:schemeClr val="accent5"/>
                </a:solidFill>
                <a:latin typeface="Courier New" pitchFamily="34" charset="0"/>
                <a:ea typeface="Courier New" pitchFamily="34" charset="-122"/>
                <a:cs typeface="Courier New" pitchFamily="34" charset="-120"/>
              </a:rPr>
              <a:t>POST</a:t>
            </a:r>
            <a:endParaRPr lang="en-US" sz="900" dirty="0"/>
          </a:p>
        </p:txBody>
      </p:sp>
      <p:sp>
        <p:nvSpPr>
          <p:cNvPr id="60" name="Text 58"/>
          <p:cNvSpPr txBox="1"/>
          <p:nvPr/>
        </p:nvSpPr>
        <p:spPr>
          <a:xfrm>
            <a:off x="8979408" y="217627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/findings/{id}/remediations</a:t>
            </a:r>
            <a:endParaRPr lang="en-US" sz="1000" dirty="0"/>
          </a:p>
        </p:txBody>
      </p:sp>
      <p:sp>
        <p:nvSpPr>
          <p:cNvPr id="61" name="pill"/>
          <p:cNvSpPr/>
          <p:nvPr/>
        </p:nvSpPr>
        <p:spPr>
          <a:xfrm>
            <a:off x="8275320" y="2564892"/>
            <a:ext cx="621792" cy="274320"/>
          </a:xfrm>
          <a:prstGeom prst="roundRect">
            <a:avLst>
              <a:gd name="adj" fmla="val 50000"/>
            </a:avLst>
          </a:prstGeom>
          <a:solidFill>
            <a:schemeClr val="accent1">
              <a:alpha val="18000"/>
            </a:schemeClr>
          </a:solidFill>
          <a:ln w="9525">
            <a:solidFill>
              <a:schemeClr val="accent1">
                <a:alpha val="70000"/>
              </a:schemeClr>
            </a:solidFill>
            <a:prstDash val="solid"/>
          </a:ln>
        </p:spPr>
      </p:sp>
      <p:sp>
        <p:nvSpPr>
          <p:cNvPr id="62" name="Text 60"/>
          <p:cNvSpPr txBox="1"/>
          <p:nvPr/>
        </p:nvSpPr>
        <p:spPr>
          <a:xfrm>
            <a:off x="8275320" y="2564892"/>
            <a:ext cx="621792" cy="274320"/>
          </a:xfrm>
          <a:prstGeom prst="rect">
            <a:avLst/>
          </a:prstGeom>
          <a:noFill/>
          <a:ln/>
        </p:spPr>
        <p:txBody>
          <a:bodyPr wrap="square" lIns="0" tIns="0" rIns="0" bIns="0" rtlCol="0" anchor="ctr"/>
          <a:lstStyle/>
          <a:p>
            <a:pPr algn="ctr" indent="0" marL="0">
              <a:buNone/>
            </a:pPr>
            <a:r>
              <a:rPr lang="en-US" sz="900" b="1" dirty="0">
                <a:solidFill>
                  <a:schemeClr val="accent1"/>
                </a:solidFill>
                <a:latin typeface="Courier New" pitchFamily="34" charset="0"/>
                <a:ea typeface="Courier New" pitchFamily="34" charset="-122"/>
                <a:cs typeface="Courier New" pitchFamily="34" charset="-120"/>
              </a:rPr>
              <a:t>GET</a:t>
            </a:r>
            <a:endParaRPr lang="en-US" sz="900" dirty="0"/>
          </a:p>
        </p:txBody>
      </p:sp>
      <p:sp>
        <p:nvSpPr>
          <p:cNvPr id="63" name="Text 61"/>
          <p:cNvSpPr txBox="1"/>
          <p:nvPr/>
        </p:nvSpPr>
        <p:spPr>
          <a:xfrm>
            <a:off x="8979408" y="256489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/remediations/{remediationId}</a:t>
            </a:r>
            <a:endParaRPr lang="en-US" sz="1000" dirty="0"/>
          </a:p>
        </p:txBody>
      </p:sp>
      <p:sp>
        <p:nvSpPr>
          <p:cNvPr id="64" name="pill"/>
          <p:cNvSpPr/>
          <p:nvPr/>
        </p:nvSpPr>
        <p:spPr>
          <a:xfrm>
            <a:off x="8275320" y="2953512"/>
            <a:ext cx="621792" cy="274320"/>
          </a:xfrm>
          <a:prstGeom prst="roundRect">
            <a:avLst>
              <a:gd name="adj" fmla="val 50000"/>
            </a:avLst>
          </a:prstGeom>
          <a:solidFill>
            <a:schemeClr val="accent5">
              <a:alpha val="18000"/>
            </a:schemeClr>
          </a:solidFill>
          <a:ln w="9525">
            <a:solidFill>
              <a:schemeClr val="accent5">
                <a:alpha val="70000"/>
              </a:schemeClr>
            </a:solidFill>
            <a:prstDash val="solid"/>
          </a:ln>
        </p:spPr>
      </p:sp>
      <p:sp>
        <p:nvSpPr>
          <p:cNvPr id="65" name="Text 63"/>
          <p:cNvSpPr txBox="1"/>
          <p:nvPr/>
        </p:nvSpPr>
        <p:spPr>
          <a:xfrm>
            <a:off x="8275320" y="2953512"/>
            <a:ext cx="621792" cy="274320"/>
          </a:xfrm>
          <a:prstGeom prst="rect">
            <a:avLst/>
          </a:prstGeom>
          <a:noFill/>
          <a:ln/>
        </p:spPr>
        <p:txBody>
          <a:bodyPr wrap="square" lIns="0" tIns="0" rIns="0" bIns="0" rtlCol="0" anchor="ctr"/>
          <a:lstStyle/>
          <a:p>
            <a:pPr algn="ctr" indent="0" marL="0">
              <a:buNone/>
            </a:pPr>
            <a:r>
              <a:rPr lang="en-US" sz="900" b="1" dirty="0">
                <a:solidFill>
                  <a:schemeClr val="accent5"/>
                </a:solidFill>
                <a:latin typeface="Courier New" pitchFamily="34" charset="0"/>
                <a:ea typeface="Courier New" pitchFamily="34" charset="-122"/>
                <a:cs typeface="Courier New" pitchFamily="34" charset="-120"/>
              </a:rPr>
              <a:t>POST</a:t>
            </a:r>
            <a:endParaRPr lang="en-US" sz="900" dirty="0"/>
          </a:p>
        </p:txBody>
      </p:sp>
      <p:sp>
        <p:nvSpPr>
          <p:cNvPr id="66" name="Text 64"/>
          <p:cNvSpPr txBox="1"/>
          <p:nvPr/>
        </p:nvSpPr>
        <p:spPr>
          <a:xfrm>
            <a:off x="8979408" y="295351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/remediations/{id}/approve</a:t>
            </a:r>
            <a:endParaRPr lang="en-US" sz="1000" dirty="0"/>
          </a:p>
        </p:txBody>
      </p:sp>
      <p:sp>
        <p:nvSpPr>
          <p:cNvPr id="67" name="pill"/>
          <p:cNvSpPr/>
          <p:nvPr/>
        </p:nvSpPr>
        <p:spPr>
          <a:xfrm>
            <a:off x="8275320" y="3342132"/>
            <a:ext cx="621792" cy="274320"/>
          </a:xfrm>
          <a:prstGeom prst="roundRect">
            <a:avLst>
              <a:gd name="adj" fmla="val 50000"/>
            </a:avLst>
          </a:prstGeom>
          <a:solidFill>
            <a:schemeClr val="accent5">
              <a:alpha val="18000"/>
            </a:schemeClr>
          </a:solidFill>
          <a:ln w="9525">
            <a:solidFill>
              <a:schemeClr val="accent5">
                <a:alpha val="70000"/>
              </a:schemeClr>
            </a:solidFill>
            <a:prstDash val="solid"/>
          </a:ln>
        </p:spPr>
      </p:sp>
      <p:sp>
        <p:nvSpPr>
          <p:cNvPr id="68" name="Text 66"/>
          <p:cNvSpPr txBox="1"/>
          <p:nvPr/>
        </p:nvSpPr>
        <p:spPr>
          <a:xfrm>
            <a:off x="8275320" y="3342132"/>
            <a:ext cx="621792" cy="274320"/>
          </a:xfrm>
          <a:prstGeom prst="rect">
            <a:avLst/>
          </a:prstGeom>
          <a:noFill/>
          <a:ln/>
        </p:spPr>
        <p:txBody>
          <a:bodyPr wrap="square" lIns="0" tIns="0" rIns="0" bIns="0" rtlCol="0" anchor="ctr"/>
          <a:lstStyle/>
          <a:p>
            <a:pPr algn="ctr" indent="0" marL="0">
              <a:buNone/>
            </a:pPr>
            <a:r>
              <a:rPr lang="en-US" sz="900" b="1" dirty="0">
                <a:solidFill>
                  <a:schemeClr val="accent5"/>
                </a:solidFill>
                <a:latin typeface="Courier New" pitchFamily="34" charset="0"/>
                <a:ea typeface="Courier New" pitchFamily="34" charset="-122"/>
                <a:cs typeface="Courier New" pitchFamily="34" charset="-120"/>
              </a:rPr>
              <a:t>POST</a:t>
            </a:r>
            <a:endParaRPr lang="en-US" sz="900" dirty="0"/>
          </a:p>
        </p:txBody>
      </p:sp>
      <p:sp>
        <p:nvSpPr>
          <p:cNvPr id="69" name="Text 67"/>
          <p:cNvSpPr txBox="1"/>
          <p:nvPr/>
        </p:nvSpPr>
        <p:spPr>
          <a:xfrm>
            <a:off x="8979408" y="334213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/remediations/{id}/pull-requests</a:t>
            </a:r>
            <a:endParaRPr lang="en-US" sz="1000" dirty="0"/>
          </a:p>
        </p:txBody>
      </p:sp>
      <p:sp>
        <p:nvSpPr>
          <p:cNvPr id="70" name="pill"/>
          <p:cNvSpPr/>
          <p:nvPr/>
        </p:nvSpPr>
        <p:spPr>
          <a:xfrm>
            <a:off x="8275320" y="3730752"/>
            <a:ext cx="621792" cy="274320"/>
          </a:xfrm>
          <a:prstGeom prst="roundRect">
            <a:avLst>
              <a:gd name="adj" fmla="val 50000"/>
            </a:avLst>
          </a:prstGeom>
          <a:solidFill>
            <a:schemeClr val="accent5">
              <a:alpha val="18000"/>
            </a:schemeClr>
          </a:solidFill>
          <a:ln w="9525">
            <a:solidFill>
              <a:schemeClr val="accent5">
                <a:alpha val="70000"/>
              </a:schemeClr>
            </a:solidFill>
            <a:prstDash val="solid"/>
          </a:ln>
        </p:spPr>
      </p:sp>
      <p:sp>
        <p:nvSpPr>
          <p:cNvPr id="71" name="Text 69"/>
          <p:cNvSpPr txBox="1"/>
          <p:nvPr/>
        </p:nvSpPr>
        <p:spPr>
          <a:xfrm>
            <a:off x="8275320" y="3730752"/>
            <a:ext cx="621792" cy="274320"/>
          </a:xfrm>
          <a:prstGeom prst="rect">
            <a:avLst/>
          </a:prstGeom>
          <a:noFill/>
          <a:ln/>
        </p:spPr>
        <p:txBody>
          <a:bodyPr wrap="square" lIns="0" tIns="0" rIns="0" bIns="0" rtlCol="0" anchor="ctr"/>
          <a:lstStyle/>
          <a:p>
            <a:pPr algn="ctr" indent="0" marL="0">
              <a:buNone/>
            </a:pPr>
            <a:r>
              <a:rPr lang="en-US" sz="900" b="1" dirty="0">
                <a:solidFill>
                  <a:schemeClr val="accent5"/>
                </a:solidFill>
                <a:latin typeface="Courier New" pitchFamily="34" charset="0"/>
                <a:ea typeface="Courier New" pitchFamily="34" charset="-122"/>
                <a:cs typeface="Courier New" pitchFamily="34" charset="-120"/>
              </a:rPr>
              <a:t>POST</a:t>
            </a:r>
            <a:endParaRPr lang="en-US" sz="900" dirty="0"/>
          </a:p>
        </p:txBody>
      </p:sp>
      <p:sp>
        <p:nvSpPr>
          <p:cNvPr id="72" name="Text 70"/>
          <p:cNvSpPr txBox="1"/>
          <p:nvPr/>
        </p:nvSpPr>
        <p:spPr>
          <a:xfrm>
            <a:off x="8979408" y="373075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/remediations/{id}/verify</a:t>
            </a:r>
            <a:endParaRPr lang="en-US" sz="1000" dirty="0"/>
          </a:p>
        </p:txBody>
      </p:sp>
      <p:sp>
        <p:nvSpPr>
          <p:cNvPr id="73" name="pill"/>
          <p:cNvSpPr/>
          <p:nvPr/>
        </p:nvSpPr>
        <p:spPr>
          <a:xfrm>
            <a:off x="8275320" y="4119372"/>
            <a:ext cx="621792" cy="274320"/>
          </a:xfrm>
          <a:prstGeom prst="roundRect">
            <a:avLst>
              <a:gd name="adj" fmla="val 50000"/>
            </a:avLst>
          </a:prstGeom>
          <a:solidFill>
            <a:schemeClr val="accent1">
              <a:alpha val="18000"/>
            </a:schemeClr>
          </a:solidFill>
          <a:ln w="9525">
            <a:solidFill>
              <a:schemeClr val="accent1">
                <a:alpha val="70000"/>
              </a:schemeClr>
            </a:solidFill>
            <a:prstDash val="solid"/>
          </a:ln>
        </p:spPr>
      </p:sp>
      <p:sp>
        <p:nvSpPr>
          <p:cNvPr id="74" name="Text 72"/>
          <p:cNvSpPr txBox="1"/>
          <p:nvPr/>
        </p:nvSpPr>
        <p:spPr>
          <a:xfrm>
            <a:off x="8275320" y="4119372"/>
            <a:ext cx="621792" cy="274320"/>
          </a:xfrm>
          <a:prstGeom prst="rect">
            <a:avLst/>
          </a:prstGeom>
          <a:noFill/>
          <a:ln/>
        </p:spPr>
        <p:txBody>
          <a:bodyPr wrap="square" lIns="0" tIns="0" rIns="0" bIns="0" rtlCol="0" anchor="ctr"/>
          <a:lstStyle/>
          <a:p>
            <a:pPr algn="ctr" indent="0" marL="0">
              <a:buNone/>
            </a:pPr>
            <a:r>
              <a:rPr lang="en-US" sz="900" b="1" dirty="0">
                <a:solidFill>
                  <a:schemeClr val="accent1"/>
                </a:solidFill>
                <a:latin typeface="Courier New" pitchFamily="34" charset="0"/>
                <a:ea typeface="Courier New" pitchFamily="34" charset="-122"/>
                <a:cs typeface="Courier New" pitchFamily="34" charset="-120"/>
              </a:rPr>
              <a:t>GET</a:t>
            </a:r>
            <a:endParaRPr lang="en-US" sz="900" dirty="0"/>
          </a:p>
        </p:txBody>
      </p:sp>
      <p:sp>
        <p:nvSpPr>
          <p:cNvPr id="75" name="Text 73"/>
          <p:cNvSpPr txBox="1"/>
          <p:nvPr/>
        </p:nvSpPr>
        <p:spPr>
          <a:xfrm>
            <a:off x="8979408" y="411937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/verification-runs/{id}</a:t>
            </a:r>
            <a:endParaRPr lang="en-US" sz="1000" dirty="0"/>
          </a:p>
        </p:txBody>
      </p:sp>
      <p:sp>
        <p:nvSpPr>
          <p:cNvPr id="76" name="pill"/>
          <p:cNvSpPr/>
          <p:nvPr/>
        </p:nvSpPr>
        <p:spPr>
          <a:xfrm>
            <a:off x="8275320" y="4507992"/>
            <a:ext cx="621792" cy="274320"/>
          </a:xfrm>
          <a:prstGeom prst="roundRect">
            <a:avLst>
              <a:gd name="adj" fmla="val 50000"/>
            </a:avLst>
          </a:prstGeom>
          <a:solidFill>
            <a:schemeClr val="accent1">
              <a:alpha val="18000"/>
            </a:schemeClr>
          </a:solidFill>
          <a:ln w="9525">
            <a:solidFill>
              <a:schemeClr val="accent1">
                <a:alpha val="70000"/>
              </a:schemeClr>
            </a:solidFill>
            <a:prstDash val="solid"/>
          </a:ln>
        </p:spPr>
      </p:sp>
      <p:sp>
        <p:nvSpPr>
          <p:cNvPr id="77" name="Text 75"/>
          <p:cNvSpPr txBox="1"/>
          <p:nvPr/>
        </p:nvSpPr>
        <p:spPr>
          <a:xfrm>
            <a:off x="8275320" y="4507992"/>
            <a:ext cx="621792" cy="274320"/>
          </a:xfrm>
          <a:prstGeom prst="rect">
            <a:avLst/>
          </a:prstGeom>
          <a:noFill/>
          <a:ln/>
        </p:spPr>
        <p:txBody>
          <a:bodyPr wrap="square" lIns="0" tIns="0" rIns="0" bIns="0" rtlCol="0" anchor="ctr"/>
          <a:lstStyle/>
          <a:p>
            <a:pPr algn="ctr" indent="0" marL="0">
              <a:buNone/>
            </a:pPr>
            <a:r>
              <a:rPr lang="en-US" sz="900" b="1" dirty="0">
                <a:solidFill>
                  <a:schemeClr val="accent1"/>
                </a:solidFill>
                <a:latin typeface="Courier New" pitchFamily="34" charset="0"/>
                <a:ea typeface="Courier New" pitchFamily="34" charset="-122"/>
                <a:cs typeface="Courier New" pitchFamily="34" charset="-120"/>
              </a:rPr>
              <a:t>GET</a:t>
            </a:r>
            <a:endParaRPr lang="en-US" sz="900" dirty="0"/>
          </a:p>
        </p:txBody>
      </p:sp>
      <p:sp>
        <p:nvSpPr>
          <p:cNvPr id="78" name="Text 76"/>
          <p:cNvSpPr txBox="1"/>
          <p:nvPr/>
        </p:nvSpPr>
        <p:spPr>
          <a:xfrm>
            <a:off x="8979408" y="4507992"/>
            <a:ext cx="260604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/audit-events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API BEHAVIOR</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Long-running work returns a job, never a blocking call</a:t>
            </a:r>
            <a:endParaRPr lang="en-US" sz="3200" dirty="0"/>
          </a:p>
        </p:txBody>
      </p:sp>
      <p:sp>
        <p:nvSpPr>
          <p:cNvPr id="4" name="Text 2"/>
          <p:cNvSpPr txBox="1"/>
          <p:nvPr/>
        </p:nvSpPr>
        <p:spPr>
          <a:xfrm>
            <a:off x="548640" y="1554480"/>
            <a:ext cx="27432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REQUEST</a:t>
            </a:r>
            <a:endParaRPr lang="en-US" sz="1100" dirty="0"/>
          </a:p>
        </p:txBody>
      </p:sp>
      <p:sp>
        <p:nvSpPr>
          <p:cNvPr id="5" name="card"/>
          <p:cNvSpPr/>
          <p:nvPr/>
        </p:nvSpPr>
        <p:spPr>
          <a:xfrm>
            <a:off x="548640" y="1828800"/>
            <a:ext cx="5486400" cy="4343400"/>
          </a:xfrm>
          <a:prstGeom prst="roundRect">
            <a:avLst>
              <a:gd name="adj" fmla="val 2105"/>
            </a:avLst>
          </a:prstGeom>
          <a:solidFill>
            <a:schemeClr val="tx1"/>
          </a:solidFill>
          <a:ln w="12700">
            <a:solidFill>
              <a:schemeClr val="accent1">
                <a:alpha val="50000"/>
              </a:schemeClr>
            </a:solidFill>
            <a:prstDash val="solid"/>
          </a:ln>
        </p:spPr>
      </p:sp>
      <p:sp>
        <p:nvSpPr>
          <p:cNvPr id="6" name="Text 4"/>
          <p:cNvSpPr txBox="1"/>
          <p:nvPr/>
        </p:nvSpPr>
        <p:spPr>
          <a:xfrm>
            <a:off x="731520" y="1993392"/>
            <a:ext cx="5212080" cy="4069080"/>
          </a:xfrm>
          <a:prstGeom prst="rect">
            <a:avLst/>
          </a:prstGeom>
          <a:noFill/>
          <a:ln/>
        </p:spPr>
        <p:txBody>
          <a:bodyPr wrap="square" lIns="0" tIns="0" rIns="0" bIns="0" rtlCol="0" anchor="t"/>
          <a:lstStyle/>
          <a:p>
            <a:pPr indent="0" marL="0">
              <a:buNone/>
            </a:pPr>
            <a:r>
              <a:rPr lang="en-US" sz="1150" dirty="0">
                <a:solidFill>
                  <a:schemeClr val="accent1"/>
                </a:solidFill>
                <a:latin typeface="Courier New" pitchFamily="34" charset="0"/>
                <a:ea typeface="Courier New" pitchFamily="34" charset="-122"/>
                <a:cs typeface="Courier New" pitchFamily="34" charset="-120"/>
              </a:rPr>
              <a:t>POST /api/v1/projects/{projectId}/investigations</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"scope": {</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"repository_ids": ["repo-uuid"],</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"agent_ids": ["agent-uuid"]</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"goal": "Find validated paths from agent tools</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or workflow permissions to restricted</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resources",</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"max_hops": 5,</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"max_paths": 20,</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"include_external_intelligence": false</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a:t>
            </a:r>
            <a:endParaRPr lang="en-US" sz="1150" dirty="0"/>
          </a:p>
        </p:txBody>
      </p:sp>
      <p:sp>
        <p:nvSpPr>
          <p:cNvPr id="7" name="Text 5"/>
          <p:cNvSpPr txBox="1"/>
          <p:nvPr/>
        </p:nvSpPr>
        <p:spPr>
          <a:xfrm>
            <a:off x="6309360" y="1554480"/>
            <a:ext cx="2743200" cy="256032"/>
          </a:xfrm>
          <a:prstGeom prst="rect">
            <a:avLst/>
          </a:prstGeom>
          <a:noFill/>
          <a:ln/>
        </p:spPr>
        <p:txBody>
          <a:bodyPr wrap="square" lIns="0" tIns="0" rIns="0" bIns="0" rtlCol="0" anchor="t"/>
          <a:lstStyle/>
          <a:p>
            <a:pPr indent="0" marL="0">
              <a:buNone/>
            </a:pPr>
            <a:r>
              <a:rPr lang="en-US" sz="1100" b="1" spc="200" kern="0" dirty="0">
                <a:solidFill>
                  <a:schemeClr val="accent5"/>
                </a:solidFill>
              </a:rPr>
              <a:t>RESPONSE</a:t>
            </a:r>
            <a:endParaRPr lang="en-US" sz="1100" dirty="0"/>
          </a:p>
        </p:txBody>
      </p:sp>
      <p:sp>
        <p:nvSpPr>
          <p:cNvPr id="8" name="card"/>
          <p:cNvSpPr/>
          <p:nvPr/>
        </p:nvSpPr>
        <p:spPr>
          <a:xfrm>
            <a:off x="6309360" y="1828800"/>
            <a:ext cx="5303520" cy="1965960"/>
          </a:xfrm>
          <a:prstGeom prst="roundRect">
            <a:avLst>
              <a:gd name="adj" fmla="val 4651"/>
            </a:avLst>
          </a:prstGeom>
          <a:solidFill>
            <a:schemeClr val="tx1"/>
          </a:solidFill>
          <a:ln w="12700">
            <a:solidFill>
              <a:schemeClr val="accent5">
                <a:alpha val="50000"/>
              </a:schemeClr>
            </a:solidFill>
            <a:prstDash val="solid"/>
          </a:ln>
        </p:spPr>
      </p:sp>
      <p:sp>
        <p:nvSpPr>
          <p:cNvPr id="9" name="Text 7"/>
          <p:cNvSpPr txBox="1"/>
          <p:nvPr/>
        </p:nvSpPr>
        <p:spPr>
          <a:xfrm>
            <a:off x="6492240" y="1965960"/>
            <a:ext cx="5029200" cy="1737360"/>
          </a:xfrm>
          <a:prstGeom prst="rect">
            <a:avLst/>
          </a:prstGeom>
          <a:noFill/>
          <a:ln/>
        </p:spPr>
        <p:txBody>
          <a:bodyPr wrap="square" lIns="0" tIns="0" rIns="0" bIns="0" rtlCol="0" anchor="t"/>
          <a:lstStyle/>
          <a:p>
            <a:pPr indent="0" marL="0">
              <a:buNone/>
            </a:pPr>
            <a:r>
              <a:rPr lang="en-US" sz="1150" dirty="0">
                <a:solidFill>
                  <a:schemeClr val="accent5"/>
                </a:solidFill>
                <a:latin typeface="Courier New" pitchFamily="34" charset="0"/>
                <a:ea typeface="Courier New" pitchFamily="34" charset="-122"/>
                <a:cs typeface="Courier New" pitchFamily="34" charset="-120"/>
              </a:rPr>
              <a:t>HTTP/1.1 202 Accepted</a:t>
            </a:r>
            <a:endParaRPr lang="en-US" sz="1150" dirty="0"/>
          </a:p>
          <a:p>
            <a:pPr indent="0" marL="0">
              <a:buNone/>
            </a:pPr>
            <a:r>
              <a:rPr lang="en-US" sz="1150" dirty="0">
                <a:solidFill>
                  <a:schemeClr val="accent5"/>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accent5"/>
                </a:solidFill>
                <a:latin typeface="Courier New" pitchFamily="34" charset="0"/>
                <a:ea typeface="Courier New" pitchFamily="34" charset="-122"/>
                <a:cs typeface="Courier New" pitchFamily="34" charset="-120"/>
              </a:rPr>
              <a:t>  "investigation_id": "investigation-uuid",</a:t>
            </a:r>
            <a:endParaRPr lang="en-US" sz="1150" dirty="0"/>
          </a:p>
          <a:p>
            <a:pPr indent="0" marL="0">
              <a:buNone/>
            </a:pPr>
            <a:r>
              <a:rPr lang="en-US" sz="1150" dirty="0">
                <a:solidFill>
                  <a:schemeClr val="accent5"/>
                </a:solidFill>
                <a:latin typeface="Courier New" pitchFamily="34" charset="0"/>
                <a:ea typeface="Courier New" pitchFamily="34" charset="-122"/>
                <a:cs typeface="Courier New" pitchFamily="34" charset="-120"/>
              </a:rPr>
              <a:t>  "job_id": "job-uuid",</a:t>
            </a:r>
            <a:endParaRPr lang="en-US" sz="1150" dirty="0"/>
          </a:p>
          <a:p>
            <a:pPr indent="0" marL="0">
              <a:buNone/>
            </a:pPr>
            <a:r>
              <a:rPr lang="en-US" sz="1150" dirty="0">
                <a:solidFill>
                  <a:schemeClr val="accent5"/>
                </a:solidFill>
                <a:latin typeface="Courier New" pitchFamily="34" charset="0"/>
                <a:ea typeface="Courier New" pitchFamily="34" charset="-122"/>
                <a:cs typeface="Courier New" pitchFamily="34" charset="-120"/>
              </a:rPr>
              <a:t>  "status": "queued",</a:t>
            </a:r>
            <a:endParaRPr lang="en-US" sz="1150" dirty="0"/>
          </a:p>
          <a:p>
            <a:pPr indent="0" marL="0">
              <a:buNone/>
            </a:pPr>
            <a:r>
              <a:rPr lang="en-US" sz="1150" dirty="0">
                <a:solidFill>
                  <a:schemeClr val="accent5"/>
                </a:solidFill>
                <a:latin typeface="Courier New" pitchFamily="34" charset="0"/>
                <a:ea typeface="Courier New" pitchFamily="34" charset="-122"/>
                <a:cs typeface="Courier New" pitchFamily="34" charset="-120"/>
              </a:rPr>
              <a:t>  "status_url": "/api/v1/jobs/job-uuid"</a:t>
            </a:r>
            <a:endParaRPr lang="en-US" sz="1150" dirty="0"/>
          </a:p>
          <a:p>
            <a:pPr indent="0" marL="0">
              <a:buNone/>
            </a:pPr>
            <a:r>
              <a:rPr lang="en-US" sz="1150" dirty="0">
                <a:solidFill>
                  <a:schemeClr val="accent5"/>
                </a:solidFill>
                <a:latin typeface="Courier New" pitchFamily="34" charset="0"/>
                <a:ea typeface="Courier New" pitchFamily="34" charset="-122"/>
                <a:cs typeface="Courier New" pitchFamily="34" charset="-120"/>
              </a:rPr>
              <a:t>}</a:t>
            </a:r>
            <a:endParaRPr lang="en-US" sz="1150" dirty="0"/>
          </a:p>
        </p:txBody>
      </p:sp>
      <p:sp>
        <p:nvSpPr>
          <p:cNvPr id="10" name="Text 8"/>
          <p:cNvSpPr txBox="1"/>
          <p:nvPr/>
        </p:nvSpPr>
        <p:spPr>
          <a:xfrm>
            <a:off x="6309360" y="4023360"/>
            <a:ext cx="5303520" cy="21945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2"/>
                </a:solidFill>
              </a:rPr>
              <a:t>202 Accepted with job_id, status and status URL for queued jobs</a:t>
            </a:r>
            <a:endParaRPr lang="en-US" sz="1300" dirty="0"/>
          </a:p>
          <a:p>
            <a:pPr marL="177800" indent="-177800">
              <a:spcAft>
                <a:spcPts val="500"/>
              </a:spcAft>
              <a:buSzPct val="100000"/>
              <a:buChar char="•"/>
            </a:pPr>
            <a:r>
              <a:rPr lang="en-US" sz="1300" dirty="0">
                <a:solidFill>
                  <a:schemeClr val="bg2"/>
                </a:solidFill>
              </a:rPr>
              <a:t>Idempotency keys for webhooks, remediations, PRs and verification</a:t>
            </a:r>
            <a:endParaRPr lang="en-US" sz="1300" dirty="0"/>
          </a:p>
          <a:p>
            <a:pPr marL="177800" indent="-177800">
              <a:spcAft>
                <a:spcPts val="500"/>
              </a:spcAft>
              <a:buSzPct val="100000"/>
              <a:buChar char="•"/>
            </a:pPr>
            <a:r>
              <a:rPr lang="en-US" sz="1300" dirty="0">
                <a:solidFill>
                  <a:schemeClr val="bg2"/>
                </a:solidFill>
              </a:rPr>
              <a:t>Cursor pagination with bounded page size and sort fields</a:t>
            </a:r>
            <a:endParaRPr lang="en-US" sz="1300" dirty="0"/>
          </a:p>
          <a:p>
            <a:pPr marL="177800" indent="-177800">
              <a:spcAft>
                <a:spcPts val="500"/>
              </a:spcAft>
              <a:buSzPct val="100000"/>
              <a:buChar char="•"/>
            </a:pPr>
            <a:r>
              <a:rPr lang="en-US" sz="1300" dirty="0">
                <a:solidFill>
                  <a:schemeClr val="bg2"/>
                </a:solidFill>
              </a:rPr>
              <a:t>Stable error codes — no secrets, stack traces or cross-tenant hints</a:t>
            </a:r>
            <a:endParaRPr lang="en-US" sz="1300" dirty="0"/>
          </a:p>
          <a:p>
            <a:pPr marL="177800" indent="-177800">
              <a:spcAft>
                <a:spcPts val="500"/>
              </a:spcAft>
              <a:buSzPct val="100000"/>
              <a:buChar char="•"/>
            </a:pPr>
            <a:r>
              <a:rPr lang="en-US" sz="1300" dirty="0">
                <a:solidFill>
                  <a:schemeClr val="bg2"/>
                </a:solidFill>
              </a:rPr>
              <a:t>Cancellation never assumes an executed external action rolled back</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09 · SEVERITY &amp; RISK SCORE</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Severity estimates impact; confidence measures support</a:t>
            </a:r>
            <a:endParaRPr lang="en-US" sz="3200" dirty="0"/>
          </a:p>
        </p:txBody>
      </p:sp>
      <p:sp>
        <p:nvSpPr>
          <p:cNvPr id="4" name="card"/>
          <p:cNvSpPr/>
          <p:nvPr/>
        </p:nvSpPr>
        <p:spPr>
          <a:xfrm>
            <a:off x="548640" y="1572768"/>
            <a:ext cx="5760720" cy="804672"/>
          </a:xfrm>
          <a:prstGeom prst="roundRect">
            <a:avLst>
              <a:gd name="adj" fmla="val 11364"/>
            </a:avLst>
          </a:prstGeom>
          <a:solidFill>
            <a:schemeClr val="tx2"/>
          </a:solidFill>
          <a:ln w="12700">
            <a:solidFill>
              <a:schemeClr val="accent2">
                <a:alpha val="38000"/>
              </a:schemeClr>
            </a:solidFill>
            <a:prstDash val="solid"/>
          </a:ln>
        </p:spPr>
      </p:sp>
      <p:sp>
        <p:nvSpPr>
          <p:cNvPr id="5" name="pill"/>
          <p:cNvSpPr/>
          <p:nvPr/>
        </p:nvSpPr>
        <p:spPr>
          <a:xfrm>
            <a:off x="749808" y="1801368"/>
            <a:ext cx="1417320" cy="347472"/>
          </a:xfrm>
          <a:prstGeom prst="roundRect">
            <a:avLst>
              <a:gd name="adj" fmla="val 50000"/>
            </a:avLst>
          </a:prstGeom>
          <a:solidFill>
            <a:schemeClr val="accent3">
              <a:alpha val="18000"/>
            </a:schemeClr>
          </a:solidFill>
          <a:ln w="9525">
            <a:solidFill>
              <a:schemeClr val="accent3">
                <a:alpha val="70000"/>
              </a:schemeClr>
            </a:solidFill>
            <a:prstDash val="solid"/>
          </a:ln>
        </p:spPr>
      </p:sp>
      <p:sp>
        <p:nvSpPr>
          <p:cNvPr id="6" name="Text 4"/>
          <p:cNvSpPr txBox="1"/>
          <p:nvPr/>
        </p:nvSpPr>
        <p:spPr>
          <a:xfrm>
            <a:off x="749808" y="1801368"/>
            <a:ext cx="1417320" cy="347472"/>
          </a:xfrm>
          <a:prstGeom prst="rect">
            <a:avLst/>
          </a:prstGeom>
          <a:noFill/>
          <a:ln/>
        </p:spPr>
        <p:txBody>
          <a:bodyPr wrap="square" lIns="0" tIns="0" rIns="0" bIns="0" rtlCol="0" anchor="ctr"/>
          <a:lstStyle/>
          <a:p>
            <a:pPr algn="ctr" indent="0" marL="0">
              <a:buNone/>
            </a:pPr>
            <a:r>
              <a:rPr lang="en-US" sz="1100" b="1" dirty="0">
                <a:solidFill>
                  <a:schemeClr val="accent3"/>
                </a:solidFill>
              </a:rPr>
              <a:t>Critical</a:t>
            </a:r>
            <a:endParaRPr lang="en-US" sz="1100" dirty="0"/>
          </a:p>
        </p:txBody>
      </p:sp>
      <p:sp>
        <p:nvSpPr>
          <p:cNvPr id="7" name="Text 5"/>
          <p:cNvSpPr txBox="1"/>
          <p:nvPr/>
        </p:nvSpPr>
        <p:spPr>
          <a:xfrm>
            <a:off x="2377440" y="1645920"/>
            <a:ext cx="3794760" cy="658368"/>
          </a:xfrm>
          <a:prstGeom prst="rect">
            <a:avLst/>
          </a:prstGeom>
          <a:noFill/>
          <a:ln/>
        </p:spPr>
        <p:txBody>
          <a:bodyPr wrap="square" lIns="0" tIns="0" rIns="0" bIns="0" rtlCol="0" anchor="ctr"/>
          <a:lstStyle/>
          <a:p>
            <a:pPr indent="0" marL="0">
              <a:buNone/>
            </a:pPr>
            <a:r>
              <a:rPr lang="en-US" sz="1200" dirty="0">
                <a:solidFill>
                  <a:schemeClr val="bg2"/>
                </a:solidFill>
              </a:rPr>
              <a:t>Verified high-impact compromise or validated path to highly sensitive production assets</a:t>
            </a:r>
            <a:endParaRPr lang="en-US" sz="1200" dirty="0"/>
          </a:p>
        </p:txBody>
      </p:sp>
      <p:sp>
        <p:nvSpPr>
          <p:cNvPr id="8" name="card"/>
          <p:cNvSpPr/>
          <p:nvPr/>
        </p:nvSpPr>
        <p:spPr>
          <a:xfrm>
            <a:off x="548640" y="2487168"/>
            <a:ext cx="5760720" cy="804672"/>
          </a:xfrm>
          <a:prstGeom prst="roundRect">
            <a:avLst>
              <a:gd name="adj" fmla="val 11364"/>
            </a:avLst>
          </a:prstGeom>
          <a:solidFill>
            <a:schemeClr val="tx2"/>
          </a:solidFill>
          <a:ln w="12700">
            <a:solidFill>
              <a:schemeClr val="accent2">
                <a:alpha val="38000"/>
              </a:schemeClr>
            </a:solidFill>
            <a:prstDash val="solid"/>
          </a:ln>
        </p:spPr>
      </p:sp>
      <p:sp>
        <p:nvSpPr>
          <p:cNvPr id="9" name="pill"/>
          <p:cNvSpPr/>
          <p:nvPr/>
        </p:nvSpPr>
        <p:spPr>
          <a:xfrm>
            <a:off x="749808" y="2715768"/>
            <a:ext cx="1417320" cy="347472"/>
          </a:xfrm>
          <a:prstGeom prst="roundRect">
            <a:avLst>
              <a:gd name="adj" fmla="val 50000"/>
            </a:avLst>
          </a:prstGeom>
          <a:solidFill>
            <a:schemeClr val="accent3">
              <a:alpha val="18000"/>
            </a:schemeClr>
          </a:solidFill>
          <a:ln w="9525">
            <a:solidFill>
              <a:schemeClr val="accent3">
                <a:alpha val="70000"/>
              </a:schemeClr>
            </a:solidFill>
            <a:prstDash val="solid"/>
          </a:ln>
        </p:spPr>
      </p:sp>
      <p:sp>
        <p:nvSpPr>
          <p:cNvPr id="10" name="Text 8"/>
          <p:cNvSpPr txBox="1"/>
          <p:nvPr/>
        </p:nvSpPr>
        <p:spPr>
          <a:xfrm>
            <a:off x="749808" y="2715768"/>
            <a:ext cx="1417320" cy="347472"/>
          </a:xfrm>
          <a:prstGeom prst="rect">
            <a:avLst/>
          </a:prstGeom>
          <a:noFill/>
          <a:ln/>
        </p:spPr>
        <p:txBody>
          <a:bodyPr wrap="square" lIns="0" tIns="0" rIns="0" bIns="0" rtlCol="0" anchor="ctr"/>
          <a:lstStyle/>
          <a:p>
            <a:pPr algn="ctr" indent="0" marL="0">
              <a:buNone/>
            </a:pPr>
            <a:r>
              <a:rPr lang="en-US" sz="1100" b="1" dirty="0">
                <a:solidFill>
                  <a:schemeClr val="accent3"/>
                </a:solidFill>
              </a:rPr>
              <a:t>High</a:t>
            </a:r>
            <a:endParaRPr lang="en-US" sz="1100" dirty="0"/>
          </a:p>
        </p:txBody>
      </p:sp>
      <p:sp>
        <p:nvSpPr>
          <p:cNvPr id="11" name="Text 9"/>
          <p:cNvSpPr txBox="1"/>
          <p:nvPr/>
        </p:nvSpPr>
        <p:spPr>
          <a:xfrm>
            <a:off x="2377440" y="2560320"/>
            <a:ext cx="3794760" cy="658368"/>
          </a:xfrm>
          <a:prstGeom prst="rect">
            <a:avLst/>
          </a:prstGeom>
          <a:noFill/>
          <a:ln/>
        </p:spPr>
        <p:txBody>
          <a:bodyPr wrap="square" lIns="0" tIns="0" rIns="0" bIns="0" rtlCol="0" anchor="ctr"/>
          <a:lstStyle/>
          <a:p>
            <a:pPr indent="0" marL="0">
              <a:buNone/>
            </a:pPr>
            <a:r>
              <a:rPr lang="en-US" sz="1200" dirty="0">
                <a:solidFill>
                  <a:schemeClr val="bg2"/>
                </a:solidFill>
              </a:rPr>
              <a:t>Credible path to unauthorized access, privilege abuse or sensitive-data disclosure</a:t>
            </a:r>
            <a:endParaRPr lang="en-US" sz="1200" dirty="0"/>
          </a:p>
        </p:txBody>
      </p:sp>
      <p:sp>
        <p:nvSpPr>
          <p:cNvPr id="12" name="card"/>
          <p:cNvSpPr/>
          <p:nvPr/>
        </p:nvSpPr>
        <p:spPr>
          <a:xfrm>
            <a:off x="548640" y="3401568"/>
            <a:ext cx="5760720" cy="804672"/>
          </a:xfrm>
          <a:prstGeom prst="roundRect">
            <a:avLst>
              <a:gd name="adj" fmla="val 11364"/>
            </a:avLst>
          </a:prstGeom>
          <a:solidFill>
            <a:schemeClr val="tx2"/>
          </a:solidFill>
          <a:ln w="12700">
            <a:solidFill>
              <a:schemeClr val="accent2">
                <a:alpha val="38000"/>
              </a:schemeClr>
            </a:solidFill>
            <a:prstDash val="solid"/>
          </a:ln>
        </p:spPr>
      </p:sp>
      <p:sp>
        <p:nvSpPr>
          <p:cNvPr id="13" name="pill"/>
          <p:cNvSpPr/>
          <p:nvPr/>
        </p:nvSpPr>
        <p:spPr>
          <a:xfrm>
            <a:off x="749808" y="3630168"/>
            <a:ext cx="1417320" cy="347472"/>
          </a:xfrm>
          <a:prstGeom prst="roundRect">
            <a:avLst>
              <a:gd name="adj" fmla="val 50000"/>
            </a:avLst>
          </a:prstGeom>
          <a:solidFill>
            <a:schemeClr val="accent4">
              <a:alpha val="18000"/>
            </a:schemeClr>
          </a:solidFill>
          <a:ln w="9525">
            <a:solidFill>
              <a:schemeClr val="accent4">
                <a:alpha val="70000"/>
              </a:schemeClr>
            </a:solidFill>
            <a:prstDash val="solid"/>
          </a:ln>
        </p:spPr>
      </p:sp>
      <p:sp>
        <p:nvSpPr>
          <p:cNvPr id="14" name="Text 12"/>
          <p:cNvSpPr txBox="1"/>
          <p:nvPr/>
        </p:nvSpPr>
        <p:spPr>
          <a:xfrm>
            <a:off x="749808" y="3630168"/>
            <a:ext cx="1417320" cy="347472"/>
          </a:xfrm>
          <a:prstGeom prst="rect">
            <a:avLst/>
          </a:prstGeom>
          <a:noFill/>
          <a:ln/>
        </p:spPr>
        <p:txBody>
          <a:bodyPr wrap="square" lIns="0" tIns="0" rIns="0" bIns="0" rtlCol="0" anchor="ctr"/>
          <a:lstStyle/>
          <a:p>
            <a:pPr algn="ctr" indent="0" marL="0">
              <a:buNone/>
            </a:pPr>
            <a:r>
              <a:rPr lang="en-US" sz="1100" b="1" dirty="0">
                <a:solidFill>
                  <a:schemeClr val="accent4"/>
                </a:solidFill>
              </a:rPr>
              <a:t>Medium</a:t>
            </a:r>
            <a:endParaRPr lang="en-US" sz="1100" dirty="0"/>
          </a:p>
        </p:txBody>
      </p:sp>
      <p:sp>
        <p:nvSpPr>
          <p:cNvPr id="15" name="Text 13"/>
          <p:cNvSpPr txBox="1"/>
          <p:nvPr/>
        </p:nvSpPr>
        <p:spPr>
          <a:xfrm>
            <a:off x="2377440" y="3474720"/>
            <a:ext cx="3794760" cy="658368"/>
          </a:xfrm>
          <a:prstGeom prst="rect">
            <a:avLst/>
          </a:prstGeom>
          <a:noFill/>
          <a:ln/>
        </p:spPr>
        <p:txBody>
          <a:bodyPr wrap="square" lIns="0" tIns="0" rIns="0" bIns="0" rtlCol="0" anchor="ctr"/>
          <a:lstStyle/>
          <a:p>
            <a:pPr indent="0" marL="0">
              <a:buNone/>
            </a:pPr>
            <a:r>
              <a:rPr lang="en-US" sz="1200" dirty="0">
                <a:solidFill>
                  <a:schemeClr val="bg2"/>
                </a:solidFill>
              </a:rPr>
              <a:t>Material impact but needs additional preconditions or has limited reach</a:t>
            </a:r>
            <a:endParaRPr lang="en-US" sz="1200" dirty="0"/>
          </a:p>
        </p:txBody>
      </p:sp>
      <p:sp>
        <p:nvSpPr>
          <p:cNvPr id="16" name="card"/>
          <p:cNvSpPr/>
          <p:nvPr/>
        </p:nvSpPr>
        <p:spPr>
          <a:xfrm>
            <a:off x="548640" y="4315968"/>
            <a:ext cx="5760720" cy="804672"/>
          </a:xfrm>
          <a:prstGeom prst="roundRect">
            <a:avLst>
              <a:gd name="adj" fmla="val 11364"/>
            </a:avLst>
          </a:prstGeom>
          <a:solidFill>
            <a:schemeClr val="tx2"/>
          </a:solidFill>
          <a:ln w="12700">
            <a:solidFill>
              <a:schemeClr val="accent2">
                <a:alpha val="38000"/>
              </a:schemeClr>
            </a:solidFill>
            <a:prstDash val="solid"/>
          </a:ln>
        </p:spPr>
      </p:sp>
      <p:sp>
        <p:nvSpPr>
          <p:cNvPr id="17" name="pill"/>
          <p:cNvSpPr/>
          <p:nvPr/>
        </p:nvSpPr>
        <p:spPr>
          <a:xfrm>
            <a:off x="749808" y="4544568"/>
            <a:ext cx="1417320" cy="347472"/>
          </a:xfrm>
          <a:prstGeom prst="roundRect">
            <a:avLst>
              <a:gd name="adj" fmla="val 50000"/>
            </a:avLst>
          </a:prstGeom>
          <a:solidFill>
            <a:schemeClr val="accent5">
              <a:alpha val="18000"/>
            </a:schemeClr>
          </a:solidFill>
          <a:ln w="9525">
            <a:solidFill>
              <a:schemeClr val="accent5">
                <a:alpha val="70000"/>
              </a:schemeClr>
            </a:solidFill>
            <a:prstDash val="solid"/>
          </a:ln>
        </p:spPr>
      </p:sp>
      <p:sp>
        <p:nvSpPr>
          <p:cNvPr id="18" name="Text 16"/>
          <p:cNvSpPr txBox="1"/>
          <p:nvPr/>
        </p:nvSpPr>
        <p:spPr>
          <a:xfrm>
            <a:off x="749808" y="4544568"/>
            <a:ext cx="1417320" cy="347472"/>
          </a:xfrm>
          <a:prstGeom prst="rect">
            <a:avLst/>
          </a:prstGeom>
          <a:noFill/>
          <a:ln/>
        </p:spPr>
        <p:txBody>
          <a:bodyPr wrap="square" lIns="0" tIns="0" rIns="0" bIns="0" rtlCol="0" anchor="ctr"/>
          <a:lstStyle/>
          <a:p>
            <a:pPr algn="ctr" indent="0" marL="0">
              <a:buNone/>
            </a:pPr>
            <a:r>
              <a:rPr lang="en-US" sz="1100" b="1" dirty="0">
                <a:solidFill>
                  <a:schemeClr val="accent5"/>
                </a:solidFill>
              </a:rPr>
              <a:t>Low</a:t>
            </a:r>
            <a:endParaRPr lang="en-US" sz="1100" dirty="0"/>
          </a:p>
        </p:txBody>
      </p:sp>
      <p:sp>
        <p:nvSpPr>
          <p:cNvPr id="19" name="Text 17"/>
          <p:cNvSpPr txBox="1"/>
          <p:nvPr/>
        </p:nvSpPr>
        <p:spPr>
          <a:xfrm>
            <a:off x="2377440" y="4389120"/>
            <a:ext cx="3794760" cy="658368"/>
          </a:xfrm>
          <a:prstGeom prst="rect">
            <a:avLst/>
          </a:prstGeom>
          <a:noFill/>
          <a:ln/>
        </p:spPr>
        <p:txBody>
          <a:bodyPr wrap="square" lIns="0" tIns="0" rIns="0" bIns="0" rtlCol="0" anchor="ctr"/>
          <a:lstStyle/>
          <a:p>
            <a:pPr indent="0" marL="0">
              <a:buNone/>
            </a:pPr>
            <a:r>
              <a:rPr lang="en-US" sz="1200" dirty="0">
                <a:solidFill>
                  <a:schemeClr val="bg2"/>
                </a:solidFill>
              </a:rPr>
              <a:t>Limited-impact weakness or defense-in-depth improvement</a:t>
            </a:r>
            <a:endParaRPr lang="en-US" sz="1200" dirty="0"/>
          </a:p>
        </p:txBody>
      </p:sp>
      <p:sp>
        <p:nvSpPr>
          <p:cNvPr id="20" name="card"/>
          <p:cNvSpPr/>
          <p:nvPr/>
        </p:nvSpPr>
        <p:spPr>
          <a:xfrm>
            <a:off x="548640" y="5230368"/>
            <a:ext cx="5760720" cy="804672"/>
          </a:xfrm>
          <a:prstGeom prst="roundRect">
            <a:avLst>
              <a:gd name="adj" fmla="val 11364"/>
            </a:avLst>
          </a:prstGeom>
          <a:solidFill>
            <a:schemeClr val="tx2"/>
          </a:solidFill>
          <a:ln w="12700">
            <a:solidFill>
              <a:schemeClr val="accent2">
                <a:alpha val="38000"/>
              </a:schemeClr>
            </a:solidFill>
            <a:prstDash val="solid"/>
          </a:ln>
        </p:spPr>
      </p:sp>
      <p:sp>
        <p:nvSpPr>
          <p:cNvPr id="21" name="pill"/>
          <p:cNvSpPr/>
          <p:nvPr/>
        </p:nvSpPr>
        <p:spPr>
          <a:xfrm>
            <a:off x="749808" y="5458968"/>
            <a:ext cx="1417320" cy="347472"/>
          </a:xfrm>
          <a:prstGeom prst="roundRect">
            <a:avLst>
              <a:gd name="adj" fmla="val 50000"/>
            </a:avLst>
          </a:prstGeom>
          <a:solidFill>
            <a:schemeClr val="accent6">
              <a:alpha val="18000"/>
            </a:schemeClr>
          </a:solidFill>
          <a:ln w="9525">
            <a:solidFill>
              <a:schemeClr val="accent6">
                <a:alpha val="70000"/>
              </a:schemeClr>
            </a:solidFill>
            <a:prstDash val="solid"/>
          </a:ln>
        </p:spPr>
      </p:sp>
      <p:sp>
        <p:nvSpPr>
          <p:cNvPr id="22" name="Text 20"/>
          <p:cNvSpPr txBox="1"/>
          <p:nvPr/>
        </p:nvSpPr>
        <p:spPr>
          <a:xfrm>
            <a:off x="749808" y="5458968"/>
            <a:ext cx="1417320" cy="347472"/>
          </a:xfrm>
          <a:prstGeom prst="rect">
            <a:avLst/>
          </a:prstGeom>
          <a:noFill/>
          <a:ln/>
        </p:spPr>
        <p:txBody>
          <a:bodyPr wrap="square" lIns="0" tIns="0" rIns="0" bIns="0" rtlCol="0" anchor="ctr"/>
          <a:lstStyle/>
          <a:p>
            <a:pPr algn="ctr" indent="0" marL="0">
              <a:buNone/>
            </a:pPr>
            <a:r>
              <a:rPr lang="en-US" sz="1100" b="1" dirty="0">
                <a:solidFill>
                  <a:schemeClr val="accent6"/>
                </a:solidFill>
              </a:rPr>
              <a:t>Informational</a:t>
            </a:r>
            <a:endParaRPr lang="en-US" sz="1100" dirty="0"/>
          </a:p>
        </p:txBody>
      </p:sp>
      <p:sp>
        <p:nvSpPr>
          <p:cNvPr id="23" name="Text 21"/>
          <p:cNvSpPr txBox="1"/>
          <p:nvPr/>
        </p:nvSpPr>
        <p:spPr>
          <a:xfrm>
            <a:off x="2377440" y="5303520"/>
            <a:ext cx="3794760" cy="658368"/>
          </a:xfrm>
          <a:prstGeom prst="rect">
            <a:avLst/>
          </a:prstGeom>
          <a:noFill/>
          <a:ln/>
        </p:spPr>
        <p:txBody>
          <a:bodyPr wrap="square" lIns="0" tIns="0" rIns="0" bIns="0" rtlCol="0" anchor="ctr"/>
          <a:lstStyle/>
          <a:p>
            <a:pPr indent="0" marL="0">
              <a:buNone/>
            </a:pPr>
            <a:r>
              <a:rPr lang="en-US" sz="1200" dirty="0">
                <a:solidFill>
                  <a:schemeClr val="bg2"/>
                </a:solidFill>
              </a:rPr>
              <a:t>Observation or hardening advice without demonstrated impact</a:t>
            </a:r>
            <a:endParaRPr lang="en-US" sz="1200" dirty="0"/>
          </a:p>
        </p:txBody>
      </p:sp>
      <p:sp>
        <p:nvSpPr>
          <p:cNvPr id="24" name="card"/>
          <p:cNvSpPr/>
          <p:nvPr/>
        </p:nvSpPr>
        <p:spPr>
          <a:xfrm>
            <a:off x="6583680" y="1572768"/>
            <a:ext cx="5029200" cy="4462272"/>
          </a:xfrm>
          <a:prstGeom prst="roundRect">
            <a:avLst>
              <a:gd name="adj" fmla="val 2049"/>
            </a:avLst>
          </a:prstGeom>
          <a:solidFill>
            <a:schemeClr val="tx2"/>
          </a:solidFill>
          <a:ln w="12700">
            <a:solidFill>
              <a:schemeClr val="accent2">
                <a:alpha val="38000"/>
              </a:schemeClr>
            </a:solidFill>
            <a:prstDash val="solid"/>
          </a:ln>
        </p:spPr>
      </p:sp>
      <p:sp>
        <p:nvSpPr>
          <p:cNvPr id="25" name="Text 23"/>
          <p:cNvSpPr txBox="1"/>
          <p:nvPr/>
        </p:nvSpPr>
        <p:spPr>
          <a:xfrm>
            <a:off x="6812280" y="1737360"/>
            <a:ext cx="4663440" cy="32004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risk_score = 100 × Σ (weight × factor)</a:t>
            </a:r>
            <a:endParaRPr lang="en-US" sz="1300" dirty="0"/>
          </a:p>
        </p:txBody>
      </p:sp>
      <p:graphicFrame>
        <p:nvGraphicFramePr>
          <p:cNvPr id="26" name="Chart 0" descr=""/>
          <p:cNvGraphicFramePr/>
          <p:nvPr/>
        </p:nvGraphicFramePr>
        <p:xfrm>
          <a:off x="6720840" y="2148840"/>
          <a:ext cx="4754880" cy="2743200"/>
        </p:xfrm>
        <a:graphic xmlns:a="http://schemas.openxmlformats.org/drawingml/2006/main">
          <a:graphicData uri="http://schemas.openxmlformats.org/drawingml/2006/chart">
            <c:chart xmlns:c="http://schemas.openxmlformats.org/drawingml/2006/chart" r:id="rId1"/>
          </a:graphicData>
        </a:graphic>
      </p:graphicFrame>
      <p:sp>
        <p:nvSpPr>
          <p:cNvPr id="27" name="Text 24"/>
          <p:cNvSpPr txBox="1"/>
          <p:nvPr/>
        </p:nvSpPr>
        <p:spPr>
          <a:xfrm>
            <a:off x="6812280" y="4983480"/>
            <a:ext cx="4617720" cy="960120"/>
          </a:xfrm>
          <a:prstGeom prst="rect">
            <a:avLst/>
          </a:prstGeom>
          <a:noFill/>
          <a:ln/>
        </p:spPr>
        <p:txBody>
          <a:bodyPr wrap="square" lIns="0" tIns="0" rIns="0" bIns="0" rtlCol="0" anchor="t"/>
          <a:lstStyle/>
          <a:p>
            <a:pPr indent="0" marL="0">
              <a:buNone/>
            </a:pPr>
            <a:r>
              <a:rPr lang="en-US" sz="1200" dirty="0">
                <a:solidFill>
                  <a:schemeClr val="accent6"/>
                </a:solidFill>
              </a:rPr>
              <a:t>Each factor normalized 0–1 with documented criteria and calibrated on a labeled test set. A verified high-impact event can override policy; an unverified LLM assertion cannot.</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CONFIDENCE &amp; PATH VALIDATION</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Connectivity alone never proves exploitability</a:t>
            </a:r>
            <a:endParaRPr lang="en-US" sz="3200" dirty="0"/>
          </a:p>
        </p:txBody>
      </p:sp>
      <p:sp>
        <p:nvSpPr>
          <p:cNvPr id="4" name="Text 2"/>
          <p:cNvSpPr txBox="1"/>
          <p:nvPr/>
        </p:nvSpPr>
        <p:spPr>
          <a:xfrm>
            <a:off x="548640" y="1554480"/>
            <a:ext cx="54864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EVIDENCE CONFIDENCE BANDS</a:t>
            </a:r>
            <a:endParaRPr lang="en-US" sz="1100" dirty="0"/>
          </a:p>
        </p:txBody>
      </p:sp>
      <p:sp>
        <p:nvSpPr>
          <p:cNvPr id="5" name="Text 3"/>
          <p:cNvSpPr txBox="1"/>
          <p:nvPr/>
        </p:nvSpPr>
        <p:spPr>
          <a:xfrm>
            <a:off x="548640" y="1920240"/>
            <a:ext cx="1371600" cy="292608"/>
          </a:xfrm>
          <a:prstGeom prst="rect">
            <a:avLst/>
          </a:prstGeom>
          <a:noFill/>
          <a:ln/>
        </p:spPr>
        <p:txBody>
          <a:bodyPr wrap="square" lIns="0" tIns="0" rIns="0" bIns="0" rtlCol="0" anchor="t"/>
          <a:lstStyle/>
          <a:p>
            <a:pPr indent="0" marL="0">
              <a:buNone/>
            </a:pPr>
            <a:r>
              <a:rPr lang="en-US" sz="1400" b="1" dirty="0">
                <a:solidFill>
                  <a:schemeClr val="accent5"/>
                </a:solidFill>
              </a:rPr>
              <a:t>Confirmed</a:t>
            </a:r>
            <a:endParaRPr lang="en-US" sz="1400" dirty="0"/>
          </a:p>
        </p:txBody>
      </p:sp>
      <p:sp>
        <p:nvSpPr>
          <p:cNvPr id="6" name="bar track"/>
          <p:cNvSpPr/>
          <p:nvPr/>
        </p:nvSpPr>
        <p:spPr>
          <a:xfrm>
            <a:off x="1965960" y="1975104"/>
            <a:ext cx="3566160" cy="182880"/>
          </a:xfrm>
          <a:prstGeom prst="roundRect">
            <a:avLst>
              <a:gd name="adj" fmla="val 50000"/>
            </a:avLst>
          </a:prstGeom>
          <a:solidFill>
            <a:schemeClr val="tx2"/>
          </a:solidFill>
          <a:ln w="12700">
            <a:solidFill>
              <a:schemeClr val="tx2"/>
            </a:solidFill>
            <a:prstDash val="solid"/>
          </a:ln>
        </p:spPr>
      </p:sp>
      <p:sp>
        <p:nvSpPr>
          <p:cNvPr id="7" name="bar fill"/>
          <p:cNvSpPr/>
          <p:nvPr/>
        </p:nvSpPr>
        <p:spPr>
          <a:xfrm>
            <a:off x="1965960" y="1975104"/>
            <a:ext cx="3566160" cy="182880"/>
          </a:xfrm>
          <a:prstGeom prst="roundRect">
            <a:avLst>
              <a:gd name="adj" fmla="val 50000"/>
            </a:avLst>
          </a:prstGeom>
          <a:solidFill>
            <a:schemeClr val="accent5"/>
          </a:solidFill>
          <a:ln w="12700">
            <a:solidFill>
              <a:schemeClr val="accent5"/>
            </a:solidFill>
            <a:prstDash val="solid"/>
          </a:ln>
        </p:spPr>
      </p:sp>
      <p:sp>
        <p:nvSpPr>
          <p:cNvPr id="8" name="Text 6"/>
          <p:cNvSpPr txBox="1"/>
          <p:nvPr/>
        </p:nvSpPr>
        <p:spPr>
          <a:xfrm>
            <a:off x="548640" y="2267712"/>
            <a:ext cx="5120640" cy="320040"/>
          </a:xfrm>
          <a:prstGeom prst="rect">
            <a:avLst/>
          </a:prstGeom>
          <a:noFill/>
          <a:ln/>
        </p:spPr>
        <p:txBody>
          <a:bodyPr wrap="square" lIns="0" tIns="0" rIns="0" bIns="0" rtlCol="0" anchor="t"/>
          <a:lstStyle/>
          <a:p>
            <a:pPr indent="0" marL="0">
              <a:buNone/>
            </a:pPr>
            <a:r>
              <a:rPr lang="en-US" sz="1200" dirty="0">
                <a:solidFill>
                  <a:schemeClr val="accent6"/>
                </a:solidFill>
              </a:rPr>
              <a:t>Direct telemetry or deterministic, reproducible check</a:t>
            </a:r>
            <a:endParaRPr lang="en-US" sz="1200" dirty="0"/>
          </a:p>
        </p:txBody>
      </p:sp>
      <p:sp>
        <p:nvSpPr>
          <p:cNvPr id="9" name="Text 7"/>
          <p:cNvSpPr txBox="1"/>
          <p:nvPr/>
        </p:nvSpPr>
        <p:spPr>
          <a:xfrm>
            <a:off x="548640" y="2788920"/>
            <a:ext cx="1371600" cy="292608"/>
          </a:xfrm>
          <a:prstGeom prst="rect">
            <a:avLst/>
          </a:prstGeom>
          <a:noFill/>
          <a:ln/>
        </p:spPr>
        <p:txBody>
          <a:bodyPr wrap="square" lIns="0" tIns="0" rIns="0" bIns="0" rtlCol="0" anchor="t"/>
          <a:lstStyle/>
          <a:p>
            <a:pPr indent="0" marL="0">
              <a:buNone/>
            </a:pPr>
            <a:r>
              <a:rPr lang="en-US" sz="1400" b="1" dirty="0">
                <a:solidFill>
                  <a:schemeClr val="accent1"/>
                </a:solidFill>
              </a:rPr>
              <a:t>Strong</a:t>
            </a:r>
            <a:endParaRPr lang="en-US" sz="1400" dirty="0"/>
          </a:p>
        </p:txBody>
      </p:sp>
      <p:sp>
        <p:nvSpPr>
          <p:cNvPr id="10" name="bar track"/>
          <p:cNvSpPr/>
          <p:nvPr/>
        </p:nvSpPr>
        <p:spPr>
          <a:xfrm>
            <a:off x="1965960" y="2843784"/>
            <a:ext cx="3566160" cy="182880"/>
          </a:xfrm>
          <a:prstGeom prst="roundRect">
            <a:avLst>
              <a:gd name="adj" fmla="val 50000"/>
            </a:avLst>
          </a:prstGeom>
          <a:solidFill>
            <a:schemeClr val="tx2"/>
          </a:solidFill>
          <a:ln w="12700">
            <a:solidFill>
              <a:schemeClr val="tx2"/>
            </a:solidFill>
            <a:prstDash val="solid"/>
          </a:ln>
        </p:spPr>
      </p:sp>
      <p:sp>
        <p:nvSpPr>
          <p:cNvPr id="11" name="bar fill"/>
          <p:cNvSpPr/>
          <p:nvPr/>
        </p:nvSpPr>
        <p:spPr>
          <a:xfrm>
            <a:off x="1965960" y="2843784"/>
            <a:ext cx="2781605" cy="182880"/>
          </a:xfrm>
          <a:prstGeom prst="roundRect">
            <a:avLst>
              <a:gd name="adj" fmla="val 50000"/>
            </a:avLst>
          </a:prstGeom>
          <a:solidFill>
            <a:schemeClr val="accent1"/>
          </a:solidFill>
          <a:ln w="12700">
            <a:solidFill>
              <a:schemeClr val="accent1"/>
            </a:solidFill>
            <a:prstDash val="solid"/>
          </a:ln>
        </p:spPr>
      </p:sp>
      <p:sp>
        <p:nvSpPr>
          <p:cNvPr id="12" name="Text 10"/>
          <p:cNvSpPr txBox="1"/>
          <p:nvPr/>
        </p:nvSpPr>
        <p:spPr>
          <a:xfrm>
            <a:off x="548640" y="3136392"/>
            <a:ext cx="5120640" cy="320040"/>
          </a:xfrm>
          <a:prstGeom prst="rect">
            <a:avLst/>
          </a:prstGeom>
          <a:noFill/>
          <a:ln/>
        </p:spPr>
        <p:txBody>
          <a:bodyPr wrap="square" lIns="0" tIns="0" rIns="0" bIns="0" rtlCol="0" anchor="t"/>
          <a:lstStyle/>
          <a:p>
            <a:pPr indent="0" marL="0">
              <a:buNone/>
            </a:pPr>
            <a:r>
              <a:rPr lang="en-US" sz="1200" dirty="0">
                <a:solidFill>
                  <a:schemeClr val="accent6"/>
                </a:solidFill>
              </a:rPr>
              <a:t>Repeatable sandbox test shows the behavior</a:t>
            </a:r>
            <a:endParaRPr lang="en-US" sz="1200" dirty="0"/>
          </a:p>
        </p:txBody>
      </p:sp>
      <p:sp>
        <p:nvSpPr>
          <p:cNvPr id="13" name="Text 11"/>
          <p:cNvSpPr txBox="1"/>
          <p:nvPr/>
        </p:nvSpPr>
        <p:spPr>
          <a:xfrm>
            <a:off x="548640" y="3657600"/>
            <a:ext cx="1371600" cy="292608"/>
          </a:xfrm>
          <a:prstGeom prst="rect">
            <a:avLst/>
          </a:prstGeom>
          <a:noFill/>
          <a:ln/>
        </p:spPr>
        <p:txBody>
          <a:bodyPr wrap="square" lIns="0" tIns="0" rIns="0" bIns="0" rtlCol="0" anchor="t"/>
          <a:lstStyle/>
          <a:p>
            <a:pPr indent="0" marL="0">
              <a:buNone/>
            </a:pPr>
            <a:r>
              <a:rPr lang="en-US" sz="1400" b="1" dirty="0">
                <a:solidFill>
                  <a:schemeClr val="accent4"/>
                </a:solidFill>
              </a:rPr>
              <a:t>Moderate</a:t>
            </a:r>
            <a:endParaRPr lang="en-US" sz="1400" dirty="0"/>
          </a:p>
        </p:txBody>
      </p:sp>
      <p:sp>
        <p:nvSpPr>
          <p:cNvPr id="14" name="bar track"/>
          <p:cNvSpPr/>
          <p:nvPr/>
        </p:nvSpPr>
        <p:spPr>
          <a:xfrm>
            <a:off x="1965960" y="3712464"/>
            <a:ext cx="3566160" cy="182880"/>
          </a:xfrm>
          <a:prstGeom prst="roundRect">
            <a:avLst>
              <a:gd name="adj" fmla="val 50000"/>
            </a:avLst>
          </a:prstGeom>
          <a:solidFill>
            <a:schemeClr val="tx2"/>
          </a:solidFill>
          <a:ln w="12700">
            <a:solidFill>
              <a:schemeClr val="tx2"/>
            </a:solidFill>
            <a:prstDash val="solid"/>
          </a:ln>
        </p:spPr>
      </p:sp>
      <p:sp>
        <p:nvSpPr>
          <p:cNvPr id="15" name="bar fill"/>
          <p:cNvSpPr/>
          <p:nvPr/>
        </p:nvSpPr>
        <p:spPr>
          <a:xfrm>
            <a:off x="1965960" y="3712464"/>
            <a:ext cx="1961388" cy="182880"/>
          </a:xfrm>
          <a:prstGeom prst="roundRect">
            <a:avLst>
              <a:gd name="adj" fmla="val 50000"/>
            </a:avLst>
          </a:prstGeom>
          <a:solidFill>
            <a:schemeClr val="accent4"/>
          </a:solidFill>
          <a:ln w="12700">
            <a:solidFill>
              <a:schemeClr val="accent4"/>
            </a:solidFill>
            <a:prstDash val="solid"/>
          </a:ln>
        </p:spPr>
      </p:sp>
      <p:sp>
        <p:nvSpPr>
          <p:cNvPr id="16" name="Text 14"/>
          <p:cNvSpPr txBox="1"/>
          <p:nvPr/>
        </p:nvSpPr>
        <p:spPr>
          <a:xfrm>
            <a:off x="548640" y="4005072"/>
            <a:ext cx="5120640" cy="320040"/>
          </a:xfrm>
          <a:prstGeom prst="rect">
            <a:avLst/>
          </a:prstGeom>
          <a:noFill/>
          <a:ln/>
        </p:spPr>
        <p:txBody>
          <a:bodyPr wrap="square" lIns="0" tIns="0" rIns="0" bIns="0" rtlCol="0" anchor="t"/>
          <a:lstStyle/>
          <a:p>
            <a:pPr indent="0" marL="0">
              <a:buNone/>
            </a:pPr>
            <a:r>
              <a:rPr lang="en-US" sz="1200" dirty="0">
                <a:solidFill>
                  <a:schemeClr val="accent6"/>
                </a:solidFill>
              </a:rPr>
              <a:t>Static analysis shows a risky condition; runtime untested</a:t>
            </a:r>
            <a:endParaRPr lang="en-US" sz="1200" dirty="0"/>
          </a:p>
        </p:txBody>
      </p:sp>
      <p:sp>
        <p:nvSpPr>
          <p:cNvPr id="17" name="Text 15"/>
          <p:cNvSpPr txBox="1"/>
          <p:nvPr/>
        </p:nvSpPr>
        <p:spPr>
          <a:xfrm>
            <a:off x="548640" y="4526280"/>
            <a:ext cx="1371600" cy="292608"/>
          </a:xfrm>
          <a:prstGeom prst="rect">
            <a:avLst/>
          </a:prstGeom>
          <a:noFill/>
          <a:ln/>
        </p:spPr>
        <p:txBody>
          <a:bodyPr wrap="square" lIns="0" tIns="0" rIns="0" bIns="0" rtlCol="0" anchor="t"/>
          <a:lstStyle/>
          <a:p>
            <a:pPr indent="0" marL="0">
              <a:buNone/>
            </a:pPr>
            <a:r>
              <a:rPr lang="en-US" sz="1400" b="1" dirty="0">
                <a:solidFill>
                  <a:schemeClr val="accent3"/>
                </a:solidFill>
              </a:rPr>
              <a:t>Tentative</a:t>
            </a:r>
            <a:endParaRPr lang="en-US" sz="1400" dirty="0"/>
          </a:p>
        </p:txBody>
      </p:sp>
      <p:sp>
        <p:nvSpPr>
          <p:cNvPr id="18" name="bar track"/>
          <p:cNvSpPr/>
          <p:nvPr/>
        </p:nvSpPr>
        <p:spPr>
          <a:xfrm>
            <a:off x="1965960" y="4581144"/>
            <a:ext cx="3566160" cy="182880"/>
          </a:xfrm>
          <a:prstGeom prst="roundRect">
            <a:avLst>
              <a:gd name="adj" fmla="val 50000"/>
            </a:avLst>
          </a:prstGeom>
          <a:solidFill>
            <a:schemeClr val="tx2"/>
          </a:solidFill>
          <a:ln w="12700">
            <a:solidFill>
              <a:schemeClr val="tx2"/>
            </a:solidFill>
            <a:prstDash val="solid"/>
          </a:ln>
        </p:spPr>
      </p:sp>
      <p:sp>
        <p:nvSpPr>
          <p:cNvPr id="19" name="bar fill"/>
          <p:cNvSpPr/>
          <p:nvPr/>
        </p:nvSpPr>
        <p:spPr>
          <a:xfrm>
            <a:off x="1965960" y="4581144"/>
            <a:ext cx="1069848" cy="182880"/>
          </a:xfrm>
          <a:prstGeom prst="roundRect">
            <a:avLst>
              <a:gd name="adj" fmla="val 50000"/>
            </a:avLst>
          </a:prstGeom>
          <a:solidFill>
            <a:schemeClr val="accent3"/>
          </a:solidFill>
          <a:ln w="12700">
            <a:solidFill>
              <a:schemeClr val="accent3"/>
            </a:solidFill>
            <a:prstDash val="solid"/>
          </a:ln>
        </p:spPr>
      </p:sp>
      <p:sp>
        <p:nvSpPr>
          <p:cNvPr id="20" name="Text 18"/>
          <p:cNvSpPr txBox="1"/>
          <p:nvPr/>
        </p:nvSpPr>
        <p:spPr>
          <a:xfrm>
            <a:off x="548640" y="4873752"/>
            <a:ext cx="5120640" cy="320040"/>
          </a:xfrm>
          <a:prstGeom prst="rect">
            <a:avLst/>
          </a:prstGeom>
          <a:noFill/>
          <a:ln/>
        </p:spPr>
        <p:txBody>
          <a:bodyPr wrap="square" lIns="0" tIns="0" rIns="0" bIns="0" rtlCol="0" anchor="t"/>
          <a:lstStyle/>
          <a:p>
            <a:pPr indent="0" marL="0">
              <a:buNone/>
            </a:pPr>
            <a:r>
              <a:rPr lang="en-US" sz="1200" dirty="0">
                <a:solidFill>
                  <a:schemeClr val="accent6"/>
                </a:solidFill>
              </a:rPr>
              <a:t>Heuristic or model hypothesis, uncorroborated</a:t>
            </a:r>
            <a:endParaRPr lang="en-US" sz="1200" dirty="0"/>
          </a:p>
        </p:txBody>
      </p:sp>
      <p:sp>
        <p:nvSpPr>
          <p:cNvPr id="21" name="Text 19"/>
          <p:cNvSpPr txBox="1"/>
          <p:nvPr/>
        </p:nvSpPr>
        <p:spPr>
          <a:xfrm>
            <a:off x="6309360" y="1554480"/>
            <a:ext cx="54864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GRAPH PATH VALIDATION STATES</a:t>
            </a:r>
            <a:endParaRPr lang="en-US" sz="1100" dirty="0"/>
          </a:p>
        </p:txBody>
      </p:sp>
      <p:sp>
        <p:nvSpPr>
          <p:cNvPr id="22" name="card"/>
          <p:cNvSpPr/>
          <p:nvPr/>
        </p:nvSpPr>
        <p:spPr>
          <a:xfrm>
            <a:off x="6309360" y="1920240"/>
            <a:ext cx="5303520" cy="731520"/>
          </a:xfrm>
          <a:prstGeom prst="roundRect">
            <a:avLst>
              <a:gd name="adj" fmla="val 12500"/>
            </a:avLst>
          </a:prstGeom>
          <a:solidFill>
            <a:schemeClr val="tx2"/>
          </a:solidFill>
          <a:ln w="12700">
            <a:solidFill>
              <a:schemeClr val="accent2">
                <a:alpha val="38000"/>
              </a:schemeClr>
            </a:solidFill>
            <a:prstDash val="solid"/>
          </a:ln>
        </p:spPr>
      </p:sp>
      <p:sp>
        <p:nvSpPr>
          <p:cNvPr id="23" name="pill"/>
          <p:cNvSpPr/>
          <p:nvPr/>
        </p:nvSpPr>
        <p:spPr>
          <a:xfrm>
            <a:off x="6492240" y="2121408"/>
            <a:ext cx="1691640" cy="329184"/>
          </a:xfrm>
          <a:prstGeom prst="roundRect">
            <a:avLst>
              <a:gd name="adj" fmla="val 50000"/>
            </a:avLst>
          </a:prstGeom>
          <a:solidFill>
            <a:schemeClr val="accent6">
              <a:alpha val="18000"/>
            </a:schemeClr>
          </a:solidFill>
          <a:ln w="9525">
            <a:solidFill>
              <a:schemeClr val="accent6">
                <a:alpha val="70000"/>
              </a:schemeClr>
            </a:solidFill>
            <a:prstDash val="solid"/>
          </a:ln>
        </p:spPr>
      </p:sp>
      <p:sp>
        <p:nvSpPr>
          <p:cNvPr id="24" name="Text 22"/>
          <p:cNvSpPr txBox="1"/>
          <p:nvPr/>
        </p:nvSpPr>
        <p:spPr>
          <a:xfrm>
            <a:off x="6492240" y="2121408"/>
            <a:ext cx="1691640" cy="329184"/>
          </a:xfrm>
          <a:prstGeom prst="rect">
            <a:avLst/>
          </a:prstGeom>
          <a:noFill/>
          <a:ln/>
        </p:spPr>
        <p:txBody>
          <a:bodyPr wrap="square" lIns="0" tIns="0" rIns="0" bIns="0" rtlCol="0" anchor="ctr"/>
          <a:lstStyle/>
          <a:p>
            <a:pPr algn="ctr" indent="0" marL="0">
              <a:buNone/>
            </a:pPr>
            <a:r>
              <a:rPr lang="en-US" sz="1100" b="1" dirty="0">
                <a:solidFill>
                  <a:schemeClr val="accent6"/>
                </a:solidFill>
                <a:latin typeface="Courier New" pitchFamily="34" charset="0"/>
                <a:ea typeface="Courier New" pitchFamily="34" charset="-122"/>
                <a:cs typeface="Courier New" pitchFamily="34" charset="-120"/>
              </a:rPr>
              <a:t>candidate</a:t>
            </a:r>
            <a:endParaRPr lang="en-US" sz="1100" dirty="0"/>
          </a:p>
        </p:txBody>
      </p:sp>
      <p:sp>
        <p:nvSpPr>
          <p:cNvPr id="25" name="Text 23"/>
          <p:cNvSpPr txBox="1"/>
          <p:nvPr/>
        </p:nvSpPr>
        <p:spPr>
          <a:xfrm>
            <a:off x="8366760" y="1965960"/>
            <a:ext cx="3108960" cy="640080"/>
          </a:xfrm>
          <a:prstGeom prst="rect">
            <a:avLst/>
          </a:prstGeom>
          <a:noFill/>
          <a:ln/>
        </p:spPr>
        <p:txBody>
          <a:bodyPr wrap="square" lIns="0" tIns="0" rIns="0" bIns="0" rtlCol="0" anchor="ctr"/>
          <a:lstStyle/>
          <a:p>
            <a:pPr indent="0" marL="0">
              <a:buNone/>
            </a:pPr>
            <a:r>
              <a:rPr lang="en-US" sz="1200" dirty="0">
                <a:solidFill>
                  <a:schemeClr val="bg2"/>
                </a:solidFill>
              </a:rPr>
              <a:t>Graph relationships suggest a possible path</a:t>
            </a:r>
            <a:endParaRPr lang="en-US" sz="1200" dirty="0"/>
          </a:p>
        </p:txBody>
      </p:sp>
      <p:sp>
        <p:nvSpPr>
          <p:cNvPr id="26" name="card"/>
          <p:cNvSpPr/>
          <p:nvPr/>
        </p:nvSpPr>
        <p:spPr>
          <a:xfrm>
            <a:off x="6309360" y="2788920"/>
            <a:ext cx="5303520" cy="731520"/>
          </a:xfrm>
          <a:prstGeom prst="roundRect">
            <a:avLst>
              <a:gd name="adj" fmla="val 12500"/>
            </a:avLst>
          </a:prstGeom>
          <a:solidFill>
            <a:schemeClr val="tx2"/>
          </a:solidFill>
          <a:ln w="12700">
            <a:solidFill>
              <a:schemeClr val="accent2">
                <a:alpha val="38000"/>
              </a:schemeClr>
            </a:solidFill>
            <a:prstDash val="solid"/>
          </a:ln>
        </p:spPr>
      </p:sp>
      <p:sp>
        <p:nvSpPr>
          <p:cNvPr id="27" name="pill"/>
          <p:cNvSpPr/>
          <p:nvPr/>
        </p:nvSpPr>
        <p:spPr>
          <a:xfrm>
            <a:off x="6492240" y="2990088"/>
            <a:ext cx="1691640" cy="329184"/>
          </a:xfrm>
          <a:prstGeom prst="roundRect">
            <a:avLst>
              <a:gd name="adj" fmla="val 50000"/>
            </a:avLst>
          </a:prstGeom>
          <a:solidFill>
            <a:schemeClr val="accent4">
              <a:alpha val="18000"/>
            </a:schemeClr>
          </a:solidFill>
          <a:ln w="9525">
            <a:solidFill>
              <a:schemeClr val="accent4">
                <a:alpha val="70000"/>
              </a:schemeClr>
            </a:solidFill>
            <a:prstDash val="solid"/>
          </a:ln>
        </p:spPr>
      </p:sp>
      <p:sp>
        <p:nvSpPr>
          <p:cNvPr id="28" name="Text 26"/>
          <p:cNvSpPr txBox="1"/>
          <p:nvPr/>
        </p:nvSpPr>
        <p:spPr>
          <a:xfrm>
            <a:off x="6492240" y="2990088"/>
            <a:ext cx="1691640" cy="329184"/>
          </a:xfrm>
          <a:prstGeom prst="rect">
            <a:avLst/>
          </a:prstGeom>
          <a:noFill/>
          <a:ln/>
        </p:spPr>
        <p:txBody>
          <a:bodyPr wrap="square" lIns="0" tIns="0" rIns="0" bIns="0" rtlCol="0" anchor="ctr"/>
          <a:lstStyle/>
          <a:p>
            <a:pPr algn="ctr" indent="0" marL="0">
              <a:buNone/>
            </a:pPr>
            <a:r>
              <a:rPr lang="en-US" sz="1100" b="1" dirty="0">
                <a:solidFill>
                  <a:schemeClr val="accent4"/>
                </a:solidFill>
                <a:latin typeface="Courier New" pitchFamily="34" charset="0"/>
                <a:ea typeface="Courier New" pitchFamily="34" charset="-122"/>
                <a:cs typeface="Courier New" pitchFamily="34" charset="-120"/>
              </a:rPr>
              <a:t>needs_evidence</a:t>
            </a:r>
            <a:endParaRPr lang="en-US" sz="1100" dirty="0"/>
          </a:p>
        </p:txBody>
      </p:sp>
      <p:sp>
        <p:nvSpPr>
          <p:cNvPr id="29" name="Text 27"/>
          <p:cNvSpPr txBox="1"/>
          <p:nvPr/>
        </p:nvSpPr>
        <p:spPr>
          <a:xfrm>
            <a:off x="8366760" y="2834640"/>
            <a:ext cx="3108960" cy="640080"/>
          </a:xfrm>
          <a:prstGeom prst="rect">
            <a:avLst/>
          </a:prstGeom>
          <a:noFill/>
          <a:ln/>
        </p:spPr>
        <p:txBody>
          <a:bodyPr wrap="square" lIns="0" tIns="0" rIns="0" bIns="0" rtlCol="0" anchor="ctr"/>
          <a:lstStyle/>
          <a:p>
            <a:pPr indent="0" marL="0">
              <a:buNone/>
            </a:pPr>
            <a:r>
              <a:rPr lang="en-US" sz="1200" dirty="0">
                <a:solidFill>
                  <a:schemeClr val="bg2"/>
                </a:solidFill>
              </a:rPr>
              <a:t>One or more critical relationships need confirmation</a:t>
            </a:r>
            <a:endParaRPr lang="en-US" sz="1200" dirty="0"/>
          </a:p>
        </p:txBody>
      </p:sp>
      <p:sp>
        <p:nvSpPr>
          <p:cNvPr id="30" name="card"/>
          <p:cNvSpPr/>
          <p:nvPr/>
        </p:nvSpPr>
        <p:spPr>
          <a:xfrm>
            <a:off x="6309360" y="3657600"/>
            <a:ext cx="5303520" cy="731520"/>
          </a:xfrm>
          <a:prstGeom prst="roundRect">
            <a:avLst>
              <a:gd name="adj" fmla="val 12500"/>
            </a:avLst>
          </a:prstGeom>
          <a:solidFill>
            <a:schemeClr val="tx2"/>
          </a:solidFill>
          <a:ln w="12700">
            <a:solidFill>
              <a:schemeClr val="accent2">
                <a:alpha val="38000"/>
              </a:schemeClr>
            </a:solidFill>
            <a:prstDash val="solid"/>
          </a:ln>
        </p:spPr>
      </p:sp>
      <p:sp>
        <p:nvSpPr>
          <p:cNvPr id="31" name="pill"/>
          <p:cNvSpPr/>
          <p:nvPr/>
        </p:nvSpPr>
        <p:spPr>
          <a:xfrm>
            <a:off x="6492240" y="3858768"/>
            <a:ext cx="1691640" cy="329184"/>
          </a:xfrm>
          <a:prstGeom prst="roundRect">
            <a:avLst>
              <a:gd name="adj" fmla="val 50000"/>
            </a:avLst>
          </a:prstGeom>
          <a:solidFill>
            <a:schemeClr val="accent5">
              <a:alpha val="18000"/>
            </a:schemeClr>
          </a:solidFill>
          <a:ln w="9525">
            <a:solidFill>
              <a:schemeClr val="accent5">
                <a:alpha val="70000"/>
              </a:schemeClr>
            </a:solidFill>
            <a:prstDash val="solid"/>
          </a:ln>
        </p:spPr>
      </p:sp>
      <p:sp>
        <p:nvSpPr>
          <p:cNvPr id="32" name="Text 30"/>
          <p:cNvSpPr txBox="1"/>
          <p:nvPr/>
        </p:nvSpPr>
        <p:spPr>
          <a:xfrm>
            <a:off x="6492240" y="3858768"/>
            <a:ext cx="1691640" cy="329184"/>
          </a:xfrm>
          <a:prstGeom prst="rect">
            <a:avLst/>
          </a:prstGeom>
          <a:noFill/>
          <a:ln/>
        </p:spPr>
        <p:txBody>
          <a:bodyPr wrap="square" lIns="0" tIns="0" rIns="0" bIns="0" rtlCol="0" anchor="ctr"/>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validated</a:t>
            </a:r>
            <a:endParaRPr lang="en-US" sz="1100" dirty="0"/>
          </a:p>
        </p:txBody>
      </p:sp>
      <p:sp>
        <p:nvSpPr>
          <p:cNvPr id="33" name="Text 31"/>
          <p:cNvSpPr txBox="1"/>
          <p:nvPr/>
        </p:nvSpPr>
        <p:spPr>
          <a:xfrm>
            <a:off x="8366760" y="3703320"/>
            <a:ext cx="3108960" cy="640080"/>
          </a:xfrm>
          <a:prstGeom prst="rect">
            <a:avLst/>
          </a:prstGeom>
          <a:noFill/>
          <a:ln/>
        </p:spPr>
        <p:txBody>
          <a:bodyPr wrap="square" lIns="0" tIns="0" rIns="0" bIns="0" rtlCol="0" anchor="ctr"/>
          <a:lstStyle/>
          <a:p>
            <a:pPr indent="0" marL="0">
              <a:buNone/>
            </a:pPr>
            <a:r>
              <a:rPr lang="en-US" sz="1200" dirty="0">
                <a:solidFill>
                  <a:schemeClr val="bg2"/>
                </a:solidFill>
              </a:rPr>
              <a:t>Required edges and conditions checked against evidence or a reproducible test</a:t>
            </a:r>
            <a:endParaRPr lang="en-US" sz="1200" dirty="0"/>
          </a:p>
        </p:txBody>
      </p:sp>
      <p:sp>
        <p:nvSpPr>
          <p:cNvPr id="34" name="card"/>
          <p:cNvSpPr/>
          <p:nvPr/>
        </p:nvSpPr>
        <p:spPr>
          <a:xfrm>
            <a:off x="6309360" y="4526280"/>
            <a:ext cx="5303520" cy="731520"/>
          </a:xfrm>
          <a:prstGeom prst="roundRect">
            <a:avLst>
              <a:gd name="adj" fmla="val 12500"/>
            </a:avLst>
          </a:prstGeom>
          <a:solidFill>
            <a:schemeClr val="tx2"/>
          </a:solidFill>
          <a:ln w="12700">
            <a:solidFill>
              <a:schemeClr val="accent2">
                <a:alpha val="38000"/>
              </a:schemeClr>
            </a:solidFill>
            <a:prstDash val="solid"/>
          </a:ln>
        </p:spPr>
      </p:sp>
      <p:sp>
        <p:nvSpPr>
          <p:cNvPr id="35" name="pill"/>
          <p:cNvSpPr/>
          <p:nvPr/>
        </p:nvSpPr>
        <p:spPr>
          <a:xfrm>
            <a:off x="6492240" y="4727448"/>
            <a:ext cx="1691640" cy="329184"/>
          </a:xfrm>
          <a:prstGeom prst="roundRect">
            <a:avLst>
              <a:gd name="adj" fmla="val 50000"/>
            </a:avLst>
          </a:prstGeom>
          <a:solidFill>
            <a:schemeClr val="accent3">
              <a:alpha val="18000"/>
            </a:schemeClr>
          </a:solidFill>
          <a:ln w="9525">
            <a:solidFill>
              <a:schemeClr val="accent3">
                <a:alpha val="70000"/>
              </a:schemeClr>
            </a:solidFill>
            <a:prstDash val="solid"/>
          </a:ln>
        </p:spPr>
      </p:sp>
      <p:sp>
        <p:nvSpPr>
          <p:cNvPr id="36" name="Text 34"/>
          <p:cNvSpPr txBox="1"/>
          <p:nvPr/>
        </p:nvSpPr>
        <p:spPr>
          <a:xfrm>
            <a:off x="6492240" y="4727448"/>
            <a:ext cx="1691640" cy="329184"/>
          </a:xfrm>
          <a:prstGeom prst="rect">
            <a:avLst/>
          </a:prstGeom>
          <a:noFill/>
          <a:ln/>
        </p:spPr>
        <p:txBody>
          <a:bodyPr wrap="square" lIns="0" tIns="0" rIns="0" bIns="0" rtlCol="0" anchor="ctr"/>
          <a:lstStyle/>
          <a:p>
            <a:pPr algn="ctr" indent="0" marL="0">
              <a:buNone/>
            </a:pPr>
            <a:r>
              <a:rPr lang="en-US" sz="1100" b="1" dirty="0">
                <a:solidFill>
                  <a:schemeClr val="accent3"/>
                </a:solidFill>
                <a:latin typeface="Courier New" pitchFamily="34" charset="0"/>
                <a:ea typeface="Courier New" pitchFamily="34" charset="-122"/>
                <a:cs typeface="Courier New" pitchFamily="34" charset="-120"/>
              </a:rPr>
              <a:t>disproven</a:t>
            </a:r>
            <a:endParaRPr lang="en-US" sz="1100" dirty="0"/>
          </a:p>
        </p:txBody>
      </p:sp>
      <p:sp>
        <p:nvSpPr>
          <p:cNvPr id="37" name="Text 35"/>
          <p:cNvSpPr txBox="1"/>
          <p:nvPr/>
        </p:nvSpPr>
        <p:spPr>
          <a:xfrm>
            <a:off x="8366760" y="4572000"/>
            <a:ext cx="3108960" cy="640080"/>
          </a:xfrm>
          <a:prstGeom prst="rect">
            <a:avLst/>
          </a:prstGeom>
          <a:noFill/>
          <a:ln/>
        </p:spPr>
        <p:txBody>
          <a:bodyPr wrap="square" lIns="0" tIns="0" rIns="0" bIns="0" rtlCol="0" anchor="ctr"/>
          <a:lstStyle/>
          <a:p>
            <a:pPr indent="0" marL="0">
              <a:buNone/>
            </a:pPr>
            <a:r>
              <a:rPr lang="en-US" sz="1200" dirty="0">
                <a:solidFill>
                  <a:schemeClr val="bg2"/>
                </a:solidFill>
              </a:rPr>
              <a:t>Evidence contradicts the path</a:t>
            </a:r>
            <a:endParaRPr lang="en-US" sz="1200" dirty="0"/>
          </a:p>
        </p:txBody>
      </p:sp>
      <p:sp>
        <p:nvSpPr>
          <p:cNvPr id="38" name="card"/>
          <p:cNvSpPr/>
          <p:nvPr/>
        </p:nvSpPr>
        <p:spPr>
          <a:xfrm>
            <a:off x="548640" y="5486400"/>
            <a:ext cx="11064240" cy="731520"/>
          </a:xfrm>
          <a:prstGeom prst="roundRect">
            <a:avLst>
              <a:gd name="adj" fmla="val 12500"/>
            </a:avLst>
          </a:prstGeom>
          <a:solidFill>
            <a:schemeClr val="accent3">
              <a:alpha val="10000"/>
            </a:schemeClr>
          </a:solidFill>
          <a:ln w="12700">
            <a:solidFill>
              <a:schemeClr val="accent3">
                <a:alpha val="65000"/>
              </a:schemeClr>
            </a:solidFill>
            <a:prstDash val="solid"/>
          </a:ln>
        </p:spPr>
      </p:sp>
      <p:sp>
        <p:nvSpPr>
          <p:cNvPr id="39" name="icon tile"/>
          <p:cNvSpPr/>
          <p:nvPr/>
        </p:nvSpPr>
        <p:spPr>
          <a:xfrm>
            <a:off x="731520" y="5596128"/>
            <a:ext cx="502920" cy="502920"/>
          </a:xfrm>
          <a:prstGeom prst="roundRect">
            <a:avLst>
              <a:gd name="adj" fmla="val 22000"/>
            </a:avLst>
          </a:prstGeom>
          <a:solidFill>
            <a:schemeClr val="accent3">
              <a:alpha val="20000"/>
            </a:schemeClr>
          </a:solidFill>
          <a:ln w="9525">
            <a:solidFill>
              <a:schemeClr val="accent3">
                <a:alpha val="55000"/>
              </a:schemeClr>
            </a:solidFill>
            <a:prstDash val="solid"/>
          </a:ln>
        </p:spPr>
      </p:sp>
      <p:pic>
        <p:nvPicPr>
          <p:cNvPr id="40" name="icon" descr="preencoded.png">    </p:cNvPr>
          <p:cNvPicPr>
            <a:picLocks noChangeAspect="1"/>
          </p:cNvPicPr>
          <p:nvPr/>
        </p:nvPicPr>
        <p:blipFill>
          <a:blip r:embed="rId1"/>
          <a:stretch>
            <a:fillRect/>
          </a:stretch>
        </p:blipFill>
        <p:spPr>
          <a:xfrm>
            <a:off x="852221" y="5716829"/>
            <a:ext cx="261518" cy="261518"/>
          </a:xfrm>
          <a:prstGeom prst="rect">
            <a:avLst/>
          </a:prstGeom>
        </p:spPr>
      </p:pic>
      <p:sp>
        <p:nvSpPr>
          <p:cNvPr id="41" name="Text 38"/>
          <p:cNvSpPr txBox="1"/>
          <p:nvPr/>
        </p:nvSpPr>
        <p:spPr>
          <a:xfrm>
            <a:off x="1417320" y="5504688"/>
            <a:ext cx="10058400" cy="694944"/>
          </a:xfrm>
          <a:prstGeom prst="rect">
            <a:avLst/>
          </a:prstGeom>
          <a:noFill/>
          <a:ln/>
        </p:spPr>
        <p:txBody>
          <a:bodyPr wrap="square" lIns="0" tIns="0" rIns="0" bIns="0" rtlCol="0" anchor="ctr"/>
          <a:lstStyle/>
          <a:p>
            <a:pPr indent="0" marL="0">
              <a:buNone/>
            </a:pPr>
            <a:r>
              <a:rPr lang="en-US" sz="1300" dirty="0">
                <a:solidFill>
                  <a:schemeClr val="bg2"/>
                </a:solidFill>
              </a:rPr>
              <a:t>An agent with both file access and network access does not prove it can exfiltrate a sensitive file. Verify effective permissions, tool semantics, execution context and policy constraints.</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10 · EVIDENCE &amp; PROVENANCE</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What was observed, where, when — and what it proves</a:t>
            </a:r>
            <a:endParaRPr lang="en-US" sz="3200" dirty="0"/>
          </a:p>
        </p:txBody>
      </p:sp>
      <p:sp>
        <p:nvSpPr>
          <p:cNvPr id="4" name="card"/>
          <p:cNvSpPr/>
          <p:nvPr/>
        </p:nvSpPr>
        <p:spPr>
          <a:xfrm>
            <a:off x="548640" y="1572768"/>
            <a:ext cx="3566160" cy="4617720"/>
          </a:xfrm>
          <a:prstGeom prst="roundRect">
            <a:avLst>
              <a:gd name="adj" fmla="val 2564"/>
            </a:avLst>
          </a:prstGeom>
          <a:solidFill>
            <a:schemeClr val="tx2"/>
          </a:solidFill>
          <a:ln w="12700">
            <a:solidFill>
              <a:schemeClr val="accent2">
                <a:alpha val="38000"/>
              </a:schemeClr>
            </a:solidFill>
            <a:prstDash val="solid"/>
          </a:ln>
        </p:spPr>
      </p:sp>
      <p:sp>
        <p:nvSpPr>
          <p:cNvPr id="5" name="icon tile"/>
          <p:cNvSpPr/>
          <p:nvPr/>
        </p:nvSpPr>
        <p:spPr>
          <a:xfrm>
            <a:off x="804672" y="1810512"/>
            <a:ext cx="548640" cy="548640"/>
          </a:xfrm>
          <a:prstGeom prst="roundRect">
            <a:avLst>
              <a:gd name="adj" fmla="val 22000"/>
            </a:avLst>
          </a:prstGeom>
          <a:solidFill>
            <a:schemeClr val="accent1">
              <a:alpha val="20000"/>
            </a:schemeClr>
          </a:solidFill>
          <a:ln w="9525">
            <a:solidFill>
              <a:schemeClr val="accent1">
                <a:alpha val="55000"/>
              </a:schemeClr>
            </a:solidFill>
            <a:prstDash val="solid"/>
          </a:ln>
        </p:spPr>
      </p:sp>
      <p:pic>
        <p:nvPicPr>
          <p:cNvPr id="6" name="icon" descr="preencoded.png">    </p:cNvPr>
          <p:cNvPicPr>
            <a:picLocks noChangeAspect="1"/>
          </p:cNvPicPr>
          <p:nvPr/>
        </p:nvPicPr>
        <p:blipFill>
          <a:blip r:embed="rId1"/>
          <a:stretch>
            <a:fillRect/>
          </a:stretch>
        </p:blipFill>
        <p:spPr>
          <a:xfrm>
            <a:off x="936346" y="1942186"/>
            <a:ext cx="285293" cy="285293"/>
          </a:xfrm>
          <a:prstGeom prst="rect">
            <a:avLst/>
          </a:prstGeom>
        </p:spPr>
      </p:pic>
      <p:sp>
        <p:nvSpPr>
          <p:cNvPr id="7" name="Text 4"/>
          <p:cNvSpPr txBox="1"/>
          <p:nvPr/>
        </p:nvSpPr>
        <p:spPr>
          <a:xfrm>
            <a:off x="1508760" y="1920240"/>
            <a:ext cx="2468880" cy="365760"/>
          </a:xfrm>
          <a:prstGeom prst="rect">
            <a:avLst/>
          </a:prstGeom>
          <a:noFill/>
          <a:ln/>
        </p:spPr>
        <p:txBody>
          <a:bodyPr wrap="square" lIns="0" tIns="0" rIns="0" bIns="0" rtlCol="0" anchor="t"/>
          <a:lstStyle/>
          <a:p>
            <a:pPr indent="0" marL="0">
              <a:buNone/>
            </a:pPr>
            <a:r>
              <a:rPr lang="en-US" sz="1600" b="1" dirty="0">
                <a:solidFill>
                  <a:schemeClr val="bg1"/>
                </a:solidFill>
              </a:rPr>
              <a:t>Evidence types</a:t>
            </a:r>
            <a:endParaRPr lang="en-US" sz="1600" dirty="0"/>
          </a:p>
        </p:txBody>
      </p:sp>
      <p:sp>
        <p:nvSpPr>
          <p:cNvPr id="8" name="Text 5"/>
          <p:cNvSpPr txBox="1"/>
          <p:nvPr/>
        </p:nvSpPr>
        <p:spPr>
          <a:xfrm>
            <a:off x="804672" y="2578608"/>
            <a:ext cx="3108960" cy="3520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2"/>
                </a:solidFill>
              </a:rPr>
              <a:t>GitHub workflow / config excerpt</a:t>
            </a:r>
            <a:endParaRPr lang="en-US" sz="1300" dirty="0"/>
          </a:p>
          <a:p>
            <a:pPr marL="177800" indent="-177800">
              <a:spcAft>
                <a:spcPts val="500"/>
              </a:spcAft>
              <a:buSzPct val="100000"/>
              <a:buChar char="•"/>
            </a:pPr>
            <a:r>
              <a:rPr lang="en-US" sz="1300" dirty="0">
                <a:solidFill>
                  <a:schemeClr val="bg2"/>
                </a:solidFill>
              </a:rPr>
              <a:t>Scanner result with tool and rule version</a:t>
            </a:r>
            <a:endParaRPr lang="en-US" sz="1300" dirty="0"/>
          </a:p>
          <a:p>
            <a:pPr marL="177800" indent="-177800">
              <a:spcAft>
                <a:spcPts val="500"/>
              </a:spcAft>
              <a:buSzPct val="100000"/>
              <a:buChar char="•"/>
            </a:pPr>
            <a:r>
              <a:rPr lang="en-US" sz="1300" dirty="0">
                <a:solidFill>
                  <a:schemeClr val="bg2"/>
                </a:solidFill>
              </a:rPr>
              <a:t>Graph traversal output and edge provenance</a:t>
            </a:r>
            <a:endParaRPr lang="en-US" sz="1300" dirty="0"/>
          </a:p>
          <a:p>
            <a:pPr marL="177800" indent="-177800">
              <a:spcAft>
                <a:spcPts val="500"/>
              </a:spcAft>
              <a:buSzPct val="100000"/>
              <a:buChar char="•"/>
            </a:pPr>
            <a:r>
              <a:rPr lang="en-US" sz="1300" dirty="0">
                <a:solidFill>
                  <a:schemeClr val="bg2"/>
                </a:solidFill>
              </a:rPr>
              <a:t>Sandbox test input, output, exit status</a:t>
            </a:r>
            <a:endParaRPr lang="en-US" sz="1300" dirty="0"/>
          </a:p>
          <a:p>
            <a:pPr marL="177800" indent="-177800">
              <a:spcAft>
                <a:spcPts val="500"/>
              </a:spcAft>
              <a:buSzPct val="100000"/>
              <a:buChar char="•"/>
            </a:pPr>
            <a:r>
              <a:rPr lang="en-US" sz="1300" dirty="0">
                <a:solidFill>
                  <a:schemeClr val="bg2"/>
                </a:solidFill>
              </a:rPr>
              <a:t>CI run / commit / PR reference</a:t>
            </a:r>
            <a:endParaRPr lang="en-US" sz="1300" dirty="0"/>
          </a:p>
          <a:p>
            <a:pPr marL="177800" indent="-177800">
              <a:spcAft>
                <a:spcPts val="500"/>
              </a:spcAft>
              <a:buSzPct val="100000"/>
              <a:buChar char="•"/>
            </a:pPr>
            <a:r>
              <a:rPr lang="en-US" sz="1300" dirty="0">
                <a:solidFill>
                  <a:schemeClr val="bg2"/>
                </a:solidFill>
              </a:rPr>
              <a:t>External advisory or threat intel</a:t>
            </a:r>
            <a:endParaRPr lang="en-US" sz="1300" dirty="0"/>
          </a:p>
          <a:p>
            <a:pPr marL="177800" indent="-177800">
              <a:spcAft>
                <a:spcPts val="500"/>
              </a:spcAft>
              <a:buSzPct val="100000"/>
              <a:buChar char="•"/>
            </a:pPr>
            <a:r>
              <a:rPr lang="en-US" sz="1300" dirty="0">
                <a:solidFill>
                  <a:schemeClr val="bg2"/>
                </a:solidFill>
              </a:rPr>
              <a:t>LLM hypothesis, clearly labeled</a:t>
            </a:r>
            <a:endParaRPr lang="en-US" sz="1300" dirty="0"/>
          </a:p>
        </p:txBody>
      </p:sp>
      <p:sp>
        <p:nvSpPr>
          <p:cNvPr id="9" name="card"/>
          <p:cNvSpPr/>
          <p:nvPr/>
        </p:nvSpPr>
        <p:spPr>
          <a:xfrm>
            <a:off x="4297680" y="1572768"/>
            <a:ext cx="3566160" cy="4617720"/>
          </a:xfrm>
          <a:prstGeom prst="roundRect">
            <a:avLst>
              <a:gd name="adj" fmla="val 2564"/>
            </a:avLst>
          </a:prstGeom>
          <a:solidFill>
            <a:schemeClr val="tx2"/>
          </a:solidFill>
          <a:ln w="12700">
            <a:solidFill>
              <a:schemeClr val="accent2">
                <a:alpha val="38000"/>
              </a:schemeClr>
            </a:solidFill>
            <a:prstDash val="solid"/>
          </a:ln>
        </p:spPr>
      </p:sp>
      <p:sp>
        <p:nvSpPr>
          <p:cNvPr id="10" name="icon tile"/>
          <p:cNvSpPr/>
          <p:nvPr/>
        </p:nvSpPr>
        <p:spPr>
          <a:xfrm>
            <a:off x="4553712" y="1810512"/>
            <a:ext cx="548640" cy="548640"/>
          </a:xfrm>
          <a:prstGeom prst="roundRect">
            <a:avLst>
              <a:gd name="adj" fmla="val 22000"/>
            </a:avLst>
          </a:prstGeom>
          <a:solidFill>
            <a:schemeClr val="accent2">
              <a:alpha val="20000"/>
            </a:schemeClr>
          </a:solidFill>
          <a:ln w="9525">
            <a:solidFill>
              <a:schemeClr val="accent2">
                <a:alpha val="55000"/>
              </a:schemeClr>
            </a:solidFill>
            <a:prstDash val="solid"/>
          </a:ln>
        </p:spPr>
      </p:sp>
      <p:pic>
        <p:nvPicPr>
          <p:cNvPr id="11" name="icon" descr="preencoded.png">    </p:cNvPr>
          <p:cNvPicPr>
            <a:picLocks noChangeAspect="1"/>
          </p:cNvPicPr>
          <p:nvPr/>
        </p:nvPicPr>
        <p:blipFill>
          <a:blip r:embed="rId2"/>
          <a:stretch>
            <a:fillRect/>
          </a:stretch>
        </p:blipFill>
        <p:spPr>
          <a:xfrm>
            <a:off x="4685386" y="1942186"/>
            <a:ext cx="285293" cy="285293"/>
          </a:xfrm>
          <a:prstGeom prst="rect">
            <a:avLst/>
          </a:prstGeom>
        </p:spPr>
      </p:pic>
      <p:sp>
        <p:nvSpPr>
          <p:cNvPr id="12" name="Text 8"/>
          <p:cNvSpPr txBox="1"/>
          <p:nvPr/>
        </p:nvSpPr>
        <p:spPr>
          <a:xfrm>
            <a:off x="5257800" y="1920240"/>
            <a:ext cx="2468880" cy="365760"/>
          </a:xfrm>
          <a:prstGeom prst="rect">
            <a:avLst/>
          </a:prstGeom>
          <a:noFill/>
          <a:ln/>
        </p:spPr>
        <p:txBody>
          <a:bodyPr wrap="square" lIns="0" tIns="0" rIns="0" bIns="0" rtlCol="0" anchor="t"/>
          <a:lstStyle/>
          <a:p>
            <a:pPr indent="0" marL="0">
              <a:buNone/>
            </a:pPr>
            <a:r>
              <a:rPr lang="en-US" sz="1600" b="1" dirty="0">
                <a:solidFill>
                  <a:schemeClr val="bg1"/>
                </a:solidFill>
              </a:rPr>
              <a:t>Evidence metadata</a:t>
            </a:r>
            <a:endParaRPr lang="en-US" sz="1600" dirty="0"/>
          </a:p>
        </p:txBody>
      </p:sp>
      <p:sp>
        <p:nvSpPr>
          <p:cNvPr id="13" name="Text 9"/>
          <p:cNvSpPr txBox="1"/>
          <p:nvPr/>
        </p:nvSpPr>
        <p:spPr>
          <a:xfrm>
            <a:off x="4553712" y="2578608"/>
            <a:ext cx="3108960" cy="3520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2"/>
                </a:solidFill>
              </a:rPr>
              <a:t>Evidence ID and linked finding / observation</a:t>
            </a:r>
            <a:endParaRPr lang="en-US" sz="1300" dirty="0"/>
          </a:p>
          <a:p>
            <a:pPr marL="177800" indent="-177800">
              <a:spcAft>
                <a:spcPts val="500"/>
              </a:spcAft>
              <a:buSzPct val="100000"/>
              <a:buChar char="•"/>
            </a:pPr>
            <a:r>
              <a:rPr lang="en-US" sz="1300" dirty="0">
                <a:solidFill>
                  <a:schemeClr val="bg2"/>
                </a:solidFill>
              </a:rPr>
              <a:t>Source type, URL or artifact reference</a:t>
            </a:r>
            <a:endParaRPr lang="en-US" sz="1300" dirty="0"/>
          </a:p>
          <a:p>
            <a:pPr marL="177800" indent="-177800">
              <a:spcAft>
                <a:spcPts val="500"/>
              </a:spcAft>
              <a:buSzPct val="100000"/>
              <a:buChar char="•"/>
            </a:pPr>
            <a:r>
              <a:rPr lang="en-US" sz="1300" dirty="0">
                <a:solidFill>
                  <a:schemeClr val="bg2"/>
                </a:solidFill>
              </a:rPr>
              <a:t>Collection time and source timestamp</a:t>
            </a:r>
            <a:endParaRPr lang="en-US" sz="1300" dirty="0"/>
          </a:p>
          <a:p>
            <a:pPr marL="177800" indent="-177800">
              <a:spcAft>
                <a:spcPts val="500"/>
              </a:spcAft>
              <a:buSzPct val="100000"/>
              <a:buChar char="•"/>
            </a:pPr>
            <a:r>
              <a:rPr lang="en-US" sz="1300" dirty="0">
                <a:solidFill>
                  <a:schemeClr val="bg2"/>
                </a:solidFill>
              </a:rPr>
              <a:t>Content hash and collector version</a:t>
            </a:r>
            <a:endParaRPr lang="en-US" sz="1300" dirty="0"/>
          </a:p>
          <a:p>
            <a:pPr marL="177800" indent="-177800">
              <a:spcAft>
                <a:spcPts val="500"/>
              </a:spcAft>
              <a:buSzPct val="100000"/>
              <a:buChar char="•"/>
            </a:pPr>
            <a:r>
              <a:rPr lang="en-US" sz="1300" dirty="0">
                <a:solidFill>
                  <a:schemeClr val="bg2"/>
                </a:solidFill>
              </a:rPr>
              <a:t>Trust level and validation status</a:t>
            </a:r>
            <a:endParaRPr lang="en-US" sz="1300" dirty="0"/>
          </a:p>
          <a:p>
            <a:pPr marL="177800" indent="-177800">
              <a:spcAft>
                <a:spcPts val="500"/>
              </a:spcAft>
              <a:buSzPct val="100000"/>
              <a:buChar char="•"/>
            </a:pPr>
            <a:r>
              <a:rPr lang="en-US" sz="1300" dirty="0">
                <a:solidFill>
                  <a:schemeClr val="bg2"/>
                </a:solidFill>
              </a:rPr>
              <a:t>Exact claim supported, and limitations</a:t>
            </a:r>
            <a:endParaRPr lang="en-US" sz="1300" dirty="0"/>
          </a:p>
          <a:p>
            <a:pPr marL="177800" indent="-177800">
              <a:spcAft>
                <a:spcPts val="500"/>
              </a:spcAft>
              <a:buSzPct val="100000"/>
              <a:buChar char="•"/>
            </a:pPr>
            <a:r>
              <a:rPr lang="en-US" sz="1300" dirty="0">
                <a:solidFill>
                  <a:schemeClr val="bg2"/>
                </a:solidFill>
              </a:rPr>
              <a:t>Sanitization / redaction status</a:t>
            </a:r>
            <a:endParaRPr lang="en-US" sz="1300" dirty="0"/>
          </a:p>
        </p:txBody>
      </p:sp>
      <p:sp>
        <p:nvSpPr>
          <p:cNvPr id="14" name="card"/>
          <p:cNvSpPr/>
          <p:nvPr/>
        </p:nvSpPr>
        <p:spPr>
          <a:xfrm>
            <a:off x="8046720" y="1572768"/>
            <a:ext cx="3566160" cy="4617720"/>
          </a:xfrm>
          <a:prstGeom prst="roundRect">
            <a:avLst>
              <a:gd name="adj" fmla="val 2564"/>
            </a:avLst>
          </a:prstGeom>
          <a:solidFill>
            <a:schemeClr val="tx2"/>
          </a:solidFill>
          <a:ln w="12700">
            <a:solidFill>
              <a:schemeClr val="accent2">
                <a:alpha val="38000"/>
              </a:schemeClr>
            </a:solidFill>
            <a:prstDash val="solid"/>
          </a:ln>
        </p:spPr>
      </p:sp>
      <p:sp>
        <p:nvSpPr>
          <p:cNvPr id="15" name="icon tile"/>
          <p:cNvSpPr/>
          <p:nvPr/>
        </p:nvSpPr>
        <p:spPr>
          <a:xfrm>
            <a:off x="8302752" y="1810512"/>
            <a:ext cx="548640" cy="548640"/>
          </a:xfrm>
          <a:prstGeom prst="roundRect">
            <a:avLst>
              <a:gd name="adj" fmla="val 22000"/>
            </a:avLst>
          </a:prstGeom>
          <a:solidFill>
            <a:schemeClr val="accent5">
              <a:alpha val="20000"/>
            </a:schemeClr>
          </a:solidFill>
          <a:ln w="9525">
            <a:solidFill>
              <a:schemeClr val="accent5">
                <a:alpha val="55000"/>
              </a:schemeClr>
            </a:solidFill>
            <a:prstDash val="solid"/>
          </a:ln>
        </p:spPr>
      </p:sp>
      <p:pic>
        <p:nvPicPr>
          <p:cNvPr id="16" name="icon" descr="preencoded.png">    </p:cNvPr>
          <p:cNvPicPr>
            <a:picLocks noChangeAspect="1"/>
          </p:cNvPicPr>
          <p:nvPr/>
        </p:nvPicPr>
        <p:blipFill>
          <a:blip r:embed="rId3"/>
          <a:stretch>
            <a:fillRect/>
          </a:stretch>
        </p:blipFill>
        <p:spPr>
          <a:xfrm>
            <a:off x="8434426" y="1942186"/>
            <a:ext cx="285293" cy="285293"/>
          </a:xfrm>
          <a:prstGeom prst="rect">
            <a:avLst/>
          </a:prstGeom>
        </p:spPr>
      </p:pic>
      <p:sp>
        <p:nvSpPr>
          <p:cNvPr id="17" name="Text 12"/>
          <p:cNvSpPr txBox="1"/>
          <p:nvPr/>
        </p:nvSpPr>
        <p:spPr>
          <a:xfrm>
            <a:off x="9006840" y="1920240"/>
            <a:ext cx="2468880" cy="365760"/>
          </a:xfrm>
          <a:prstGeom prst="rect">
            <a:avLst/>
          </a:prstGeom>
          <a:noFill/>
          <a:ln/>
        </p:spPr>
        <p:txBody>
          <a:bodyPr wrap="square" lIns="0" tIns="0" rIns="0" bIns="0" rtlCol="0" anchor="t"/>
          <a:lstStyle/>
          <a:p>
            <a:pPr indent="0" marL="0">
              <a:buNone/>
            </a:pPr>
            <a:r>
              <a:rPr lang="en-US" sz="1600" b="1" dirty="0">
                <a:solidFill>
                  <a:schemeClr val="bg1"/>
                </a:solidFill>
              </a:rPr>
              <a:t>Display requirements</a:t>
            </a:r>
            <a:endParaRPr lang="en-US" sz="1600" dirty="0"/>
          </a:p>
        </p:txBody>
      </p:sp>
      <p:sp>
        <p:nvSpPr>
          <p:cNvPr id="18" name="Text 13"/>
          <p:cNvSpPr txBox="1"/>
          <p:nvPr/>
        </p:nvSpPr>
        <p:spPr>
          <a:xfrm>
            <a:off x="8302752" y="2578608"/>
            <a:ext cx="3108960" cy="3520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2"/>
                </a:solidFill>
              </a:rPr>
              <a:t>Sanitized preview by default; authorization for full artifact</a:t>
            </a:r>
            <a:endParaRPr lang="en-US" sz="1300" dirty="0"/>
          </a:p>
          <a:p>
            <a:pPr marL="177800" indent="-177800">
              <a:spcAft>
                <a:spcPts val="500"/>
              </a:spcAft>
              <a:buSzPct val="100000"/>
              <a:buChar char="•"/>
            </a:pPr>
            <a:r>
              <a:rPr lang="en-US" sz="1300" dirty="0">
                <a:solidFill>
                  <a:schemeClr val="bg2"/>
                </a:solidFill>
              </a:rPr>
              <a:t>Link every attack-path edge to its evidence</a:t>
            </a:r>
            <a:endParaRPr lang="en-US" sz="1300" dirty="0"/>
          </a:p>
          <a:p>
            <a:pPr marL="177800" indent="-177800">
              <a:spcAft>
                <a:spcPts val="500"/>
              </a:spcAft>
              <a:buSzPct val="100000"/>
              <a:buChar char="•"/>
            </a:pPr>
            <a:r>
              <a:rPr lang="en-US" sz="1300" dirty="0">
                <a:solidFill>
                  <a:schemeClr val="bg2"/>
                </a:solidFill>
              </a:rPr>
              <a:t>Separate source facts from AgentShield interpretation</a:t>
            </a:r>
            <a:endParaRPr lang="en-US" sz="1300" dirty="0"/>
          </a:p>
          <a:p>
            <a:pPr marL="177800" indent="-177800">
              <a:spcAft>
                <a:spcPts val="500"/>
              </a:spcAft>
              <a:buSzPct val="100000"/>
              <a:buChar char="•"/>
            </a:pPr>
            <a:r>
              <a:rPr lang="en-US" sz="1300" dirty="0">
                <a:solidFill>
                  <a:schemeClr val="bg2"/>
                </a:solidFill>
              </a:rPr>
              <a:t>Never let the model fabricate citations</a:t>
            </a:r>
            <a:endParaRPr lang="en-US" sz="1300" dirty="0"/>
          </a:p>
          <a:p>
            <a:pPr marL="177800" indent="-177800">
              <a:spcAft>
                <a:spcPts val="500"/>
              </a:spcAft>
              <a:buSzPct val="100000"/>
              <a:buChar char="•"/>
            </a:pPr>
            <a:r>
              <a:rPr lang="en-US" sz="1300" dirty="0">
                <a:solidFill>
                  <a:schemeClr val="bg2"/>
                </a:solidFill>
              </a:rPr>
              <a:t>Show contradictory or stale evidence</a:t>
            </a:r>
            <a:endParaRPr lang="en-US" sz="1300" dirty="0"/>
          </a:p>
          <a:p>
            <a:pPr marL="177800" indent="-177800">
              <a:spcAft>
                <a:spcPts val="500"/>
              </a:spcAft>
              <a:buSzPct val="100000"/>
              <a:buChar char="•"/>
            </a:pPr>
            <a:r>
              <a:rPr lang="en-US" sz="1300" dirty="0">
                <a:solidFill>
                  <a:schemeClr val="bg2"/>
                </a:solidFill>
              </a:rPr>
              <a:t>Search results are not proof of maliciousness</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11 · REMEDIATION WORKFLOW</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Every fix is proposed, approved, applied and proven</a:t>
            </a:r>
            <a:endParaRPr lang="en-US" sz="3200" dirty="0"/>
          </a:p>
        </p:txBody>
      </p:sp>
      <p:sp>
        <p:nvSpPr>
          <p:cNvPr id="4" name="card"/>
          <p:cNvSpPr/>
          <p:nvPr/>
        </p:nvSpPr>
        <p:spPr>
          <a:xfrm>
            <a:off x="548640" y="1645920"/>
            <a:ext cx="1965960" cy="777240"/>
          </a:xfrm>
          <a:prstGeom prst="roundRect">
            <a:avLst>
              <a:gd name="adj" fmla="val 11765"/>
            </a:avLst>
          </a:prstGeom>
          <a:solidFill>
            <a:schemeClr val="tx2"/>
          </a:solidFill>
          <a:ln w="12700">
            <a:solidFill>
              <a:schemeClr val="accent1">
                <a:alpha val="65000"/>
              </a:schemeClr>
            </a:solidFill>
            <a:prstDash val="solid"/>
          </a:ln>
        </p:spPr>
      </p:sp>
      <p:sp>
        <p:nvSpPr>
          <p:cNvPr id="5" name="Text 3"/>
          <p:cNvSpPr txBox="1"/>
          <p:nvPr/>
        </p:nvSpPr>
        <p:spPr>
          <a:xfrm>
            <a:off x="685800" y="1737360"/>
            <a:ext cx="365760" cy="274320"/>
          </a:xfrm>
          <a:prstGeom prst="rect">
            <a:avLst/>
          </a:prstGeom>
          <a:noFill/>
          <a:ln/>
        </p:spPr>
        <p:txBody>
          <a:bodyPr wrap="square" lIns="0" tIns="0" rIns="0" bIns="0" rtlCol="0" anchor="t"/>
          <a:lstStyle/>
          <a:p>
            <a:pPr indent="0" marL="0">
              <a:buNone/>
            </a:pPr>
            <a:r>
              <a:rPr lang="en-US" sz="1100" b="1" dirty="0">
                <a:solidFill>
                  <a:schemeClr val="accent1"/>
                </a:solidFill>
              </a:rPr>
              <a:t>1</a:t>
            </a:r>
            <a:endParaRPr lang="en-US" sz="1100" dirty="0"/>
          </a:p>
        </p:txBody>
      </p:sp>
      <p:sp>
        <p:nvSpPr>
          <p:cNvPr id="6" name="Text 4"/>
          <p:cNvSpPr txBox="1"/>
          <p:nvPr/>
        </p:nvSpPr>
        <p:spPr>
          <a:xfrm>
            <a:off x="685800" y="1920240"/>
            <a:ext cx="1691640" cy="457200"/>
          </a:xfrm>
          <a:prstGeom prst="rect">
            <a:avLst/>
          </a:prstGeom>
          <a:noFill/>
          <a:ln/>
        </p:spPr>
        <p:txBody>
          <a:bodyPr wrap="square" lIns="0" tIns="0" rIns="0" bIns="0" rtlCol="0" anchor="t"/>
          <a:lstStyle/>
          <a:p>
            <a:pPr indent="0" marL="0">
              <a:buNone/>
            </a:pPr>
            <a:r>
              <a:rPr lang="en-US" sz="1200" b="1" dirty="0">
                <a:solidFill>
                  <a:schemeClr val="bg1"/>
                </a:solidFill>
              </a:rPr>
              <a:t>Finding created</a:t>
            </a:r>
            <a:endParaRPr lang="en-US" sz="1200" dirty="0"/>
          </a:p>
        </p:txBody>
      </p:sp>
      <p:sp>
        <p:nvSpPr>
          <p:cNvPr id="7" name="connector"/>
          <p:cNvSpPr/>
          <p:nvPr/>
        </p:nvSpPr>
        <p:spPr>
          <a:xfrm>
            <a:off x="2542032" y="2034540"/>
            <a:ext cx="253746" cy="914"/>
          </a:xfrm>
          <a:prstGeom prst="line">
            <a:avLst/>
          </a:prstGeom>
          <a:noFill/>
          <a:ln w="19050">
            <a:solidFill>
              <a:srgbClr val="00E5FF"/>
            </a:solidFill>
            <a:prstDash val="solid"/>
            <a:tailEnd type="triangle"/>
          </a:ln>
        </p:spPr>
      </p:sp>
      <p:sp>
        <p:nvSpPr>
          <p:cNvPr id="8" name="card"/>
          <p:cNvSpPr/>
          <p:nvPr/>
        </p:nvSpPr>
        <p:spPr>
          <a:xfrm>
            <a:off x="2823210" y="1645920"/>
            <a:ext cx="1965960" cy="777240"/>
          </a:xfrm>
          <a:prstGeom prst="roundRect">
            <a:avLst>
              <a:gd name="adj" fmla="val 11765"/>
            </a:avLst>
          </a:prstGeom>
          <a:solidFill>
            <a:schemeClr val="tx2"/>
          </a:solidFill>
          <a:ln w="12700">
            <a:solidFill>
              <a:schemeClr val="accent1">
                <a:alpha val="65000"/>
              </a:schemeClr>
            </a:solidFill>
            <a:prstDash val="solid"/>
          </a:ln>
        </p:spPr>
      </p:sp>
      <p:sp>
        <p:nvSpPr>
          <p:cNvPr id="9" name="Text 7"/>
          <p:cNvSpPr txBox="1"/>
          <p:nvPr/>
        </p:nvSpPr>
        <p:spPr>
          <a:xfrm>
            <a:off x="2960370" y="1737360"/>
            <a:ext cx="365760" cy="274320"/>
          </a:xfrm>
          <a:prstGeom prst="rect">
            <a:avLst/>
          </a:prstGeom>
          <a:noFill/>
          <a:ln/>
        </p:spPr>
        <p:txBody>
          <a:bodyPr wrap="square" lIns="0" tIns="0" rIns="0" bIns="0" rtlCol="0" anchor="t"/>
          <a:lstStyle/>
          <a:p>
            <a:pPr indent="0" marL="0">
              <a:buNone/>
            </a:pPr>
            <a:r>
              <a:rPr lang="en-US" sz="1100" b="1" dirty="0">
                <a:solidFill>
                  <a:schemeClr val="accent1"/>
                </a:solidFill>
              </a:rPr>
              <a:t>2</a:t>
            </a:r>
            <a:endParaRPr lang="en-US" sz="1100" dirty="0"/>
          </a:p>
        </p:txBody>
      </p:sp>
      <p:sp>
        <p:nvSpPr>
          <p:cNvPr id="10" name="Text 8"/>
          <p:cNvSpPr txBox="1"/>
          <p:nvPr/>
        </p:nvSpPr>
        <p:spPr>
          <a:xfrm>
            <a:off x="2960370" y="1920240"/>
            <a:ext cx="1691640" cy="457200"/>
          </a:xfrm>
          <a:prstGeom prst="rect">
            <a:avLst/>
          </a:prstGeom>
          <a:noFill/>
          <a:ln/>
        </p:spPr>
        <p:txBody>
          <a:bodyPr wrap="square" lIns="0" tIns="0" rIns="0" bIns="0" rtlCol="0" anchor="t"/>
          <a:lstStyle/>
          <a:p>
            <a:pPr indent="0" marL="0">
              <a:buNone/>
            </a:pPr>
            <a:r>
              <a:rPr lang="en-US" sz="1200" b="1" dirty="0">
                <a:solidFill>
                  <a:schemeClr val="bg1"/>
                </a:solidFill>
              </a:rPr>
              <a:t>Triage &amp; assign</a:t>
            </a:r>
            <a:endParaRPr lang="en-US" sz="1200" dirty="0"/>
          </a:p>
        </p:txBody>
      </p:sp>
      <p:sp>
        <p:nvSpPr>
          <p:cNvPr id="11" name="connector"/>
          <p:cNvSpPr/>
          <p:nvPr/>
        </p:nvSpPr>
        <p:spPr>
          <a:xfrm>
            <a:off x="4816602" y="2034540"/>
            <a:ext cx="253746" cy="914"/>
          </a:xfrm>
          <a:prstGeom prst="line">
            <a:avLst/>
          </a:prstGeom>
          <a:noFill/>
          <a:ln w="19050">
            <a:solidFill>
              <a:srgbClr val="00E5FF"/>
            </a:solidFill>
            <a:prstDash val="solid"/>
            <a:tailEnd type="triangle"/>
          </a:ln>
        </p:spPr>
      </p:sp>
      <p:sp>
        <p:nvSpPr>
          <p:cNvPr id="12" name="card"/>
          <p:cNvSpPr/>
          <p:nvPr/>
        </p:nvSpPr>
        <p:spPr>
          <a:xfrm>
            <a:off x="5097780" y="1645920"/>
            <a:ext cx="1965960" cy="777240"/>
          </a:xfrm>
          <a:prstGeom prst="roundRect">
            <a:avLst>
              <a:gd name="adj" fmla="val 11765"/>
            </a:avLst>
          </a:prstGeom>
          <a:solidFill>
            <a:schemeClr val="tx2"/>
          </a:solidFill>
          <a:ln w="12700">
            <a:solidFill>
              <a:schemeClr val="accent1">
                <a:alpha val="65000"/>
              </a:schemeClr>
            </a:solidFill>
            <a:prstDash val="solid"/>
          </a:ln>
        </p:spPr>
      </p:sp>
      <p:sp>
        <p:nvSpPr>
          <p:cNvPr id="13" name="Text 11"/>
          <p:cNvSpPr txBox="1"/>
          <p:nvPr/>
        </p:nvSpPr>
        <p:spPr>
          <a:xfrm>
            <a:off x="5234940" y="1737360"/>
            <a:ext cx="365760" cy="274320"/>
          </a:xfrm>
          <a:prstGeom prst="rect">
            <a:avLst/>
          </a:prstGeom>
          <a:noFill/>
          <a:ln/>
        </p:spPr>
        <p:txBody>
          <a:bodyPr wrap="square" lIns="0" tIns="0" rIns="0" bIns="0" rtlCol="0" anchor="t"/>
          <a:lstStyle/>
          <a:p>
            <a:pPr indent="0" marL="0">
              <a:buNone/>
            </a:pPr>
            <a:r>
              <a:rPr lang="en-US" sz="1100" b="1" dirty="0">
                <a:solidFill>
                  <a:schemeClr val="accent1"/>
                </a:solidFill>
              </a:rPr>
              <a:t>3</a:t>
            </a:r>
            <a:endParaRPr lang="en-US" sz="1100" dirty="0"/>
          </a:p>
        </p:txBody>
      </p:sp>
      <p:sp>
        <p:nvSpPr>
          <p:cNvPr id="14" name="Text 12"/>
          <p:cNvSpPr txBox="1"/>
          <p:nvPr/>
        </p:nvSpPr>
        <p:spPr>
          <a:xfrm>
            <a:off x="5234940" y="1920240"/>
            <a:ext cx="1691640" cy="457200"/>
          </a:xfrm>
          <a:prstGeom prst="rect">
            <a:avLst/>
          </a:prstGeom>
          <a:noFill/>
          <a:ln/>
        </p:spPr>
        <p:txBody>
          <a:bodyPr wrap="square" lIns="0" tIns="0" rIns="0" bIns="0" rtlCol="0" anchor="t"/>
          <a:lstStyle/>
          <a:p>
            <a:pPr indent="0" marL="0">
              <a:buNone/>
            </a:pPr>
            <a:r>
              <a:rPr lang="en-US" sz="1200" b="1" dirty="0">
                <a:solidFill>
                  <a:schemeClr val="bg1"/>
                </a:solidFill>
              </a:rPr>
              <a:t>Gather / validate evidence</a:t>
            </a:r>
            <a:endParaRPr lang="en-US" sz="1200" dirty="0"/>
          </a:p>
        </p:txBody>
      </p:sp>
      <p:sp>
        <p:nvSpPr>
          <p:cNvPr id="15" name="connector"/>
          <p:cNvSpPr/>
          <p:nvPr/>
        </p:nvSpPr>
        <p:spPr>
          <a:xfrm>
            <a:off x="7091172" y="2034540"/>
            <a:ext cx="253746" cy="914"/>
          </a:xfrm>
          <a:prstGeom prst="line">
            <a:avLst/>
          </a:prstGeom>
          <a:noFill/>
          <a:ln w="19050">
            <a:solidFill>
              <a:srgbClr val="00E5FF"/>
            </a:solidFill>
            <a:prstDash val="solid"/>
            <a:tailEnd type="triangle"/>
          </a:ln>
        </p:spPr>
      </p:sp>
      <p:sp>
        <p:nvSpPr>
          <p:cNvPr id="16" name="card"/>
          <p:cNvSpPr/>
          <p:nvPr/>
        </p:nvSpPr>
        <p:spPr>
          <a:xfrm>
            <a:off x="7372350" y="1645920"/>
            <a:ext cx="1965960" cy="777240"/>
          </a:xfrm>
          <a:prstGeom prst="roundRect">
            <a:avLst>
              <a:gd name="adj" fmla="val 11765"/>
            </a:avLst>
          </a:prstGeom>
          <a:solidFill>
            <a:schemeClr val="tx2"/>
          </a:solidFill>
          <a:ln w="12700">
            <a:solidFill>
              <a:schemeClr val="accent1">
                <a:alpha val="65000"/>
              </a:schemeClr>
            </a:solidFill>
            <a:prstDash val="solid"/>
          </a:ln>
        </p:spPr>
      </p:sp>
      <p:sp>
        <p:nvSpPr>
          <p:cNvPr id="17" name="Text 15"/>
          <p:cNvSpPr txBox="1"/>
          <p:nvPr/>
        </p:nvSpPr>
        <p:spPr>
          <a:xfrm>
            <a:off x="7509510" y="1737360"/>
            <a:ext cx="365760" cy="274320"/>
          </a:xfrm>
          <a:prstGeom prst="rect">
            <a:avLst/>
          </a:prstGeom>
          <a:noFill/>
          <a:ln/>
        </p:spPr>
        <p:txBody>
          <a:bodyPr wrap="square" lIns="0" tIns="0" rIns="0" bIns="0" rtlCol="0" anchor="t"/>
          <a:lstStyle/>
          <a:p>
            <a:pPr indent="0" marL="0">
              <a:buNone/>
            </a:pPr>
            <a:r>
              <a:rPr lang="en-US" sz="1100" b="1" dirty="0">
                <a:solidFill>
                  <a:schemeClr val="accent1"/>
                </a:solidFill>
              </a:rPr>
              <a:t>4</a:t>
            </a:r>
            <a:endParaRPr lang="en-US" sz="1100" dirty="0"/>
          </a:p>
        </p:txBody>
      </p:sp>
      <p:sp>
        <p:nvSpPr>
          <p:cNvPr id="18" name="Text 16"/>
          <p:cNvSpPr txBox="1"/>
          <p:nvPr/>
        </p:nvSpPr>
        <p:spPr>
          <a:xfrm>
            <a:off x="7509510" y="1920240"/>
            <a:ext cx="1691640" cy="457200"/>
          </a:xfrm>
          <a:prstGeom prst="rect">
            <a:avLst/>
          </a:prstGeom>
          <a:noFill/>
          <a:ln/>
        </p:spPr>
        <p:txBody>
          <a:bodyPr wrap="square" lIns="0" tIns="0" rIns="0" bIns="0" rtlCol="0" anchor="t"/>
          <a:lstStyle/>
          <a:p>
            <a:pPr indent="0" marL="0">
              <a:buNone/>
            </a:pPr>
            <a:r>
              <a:rPr lang="en-US" sz="1200" b="1" dirty="0">
                <a:solidFill>
                  <a:schemeClr val="bg1"/>
                </a:solidFill>
              </a:rPr>
              <a:t>Discover graph context &amp; paths</a:t>
            </a:r>
            <a:endParaRPr lang="en-US" sz="1200" dirty="0"/>
          </a:p>
        </p:txBody>
      </p:sp>
      <p:sp>
        <p:nvSpPr>
          <p:cNvPr id="19" name="connector"/>
          <p:cNvSpPr/>
          <p:nvPr/>
        </p:nvSpPr>
        <p:spPr>
          <a:xfrm>
            <a:off x="9365742" y="2034540"/>
            <a:ext cx="253746" cy="914"/>
          </a:xfrm>
          <a:prstGeom prst="line">
            <a:avLst/>
          </a:prstGeom>
          <a:noFill/>
          <a:ln w="19050">
            <a:solidFill>
              <a:srgbClr val="00E5FF"/>
            </a:solidFill>
            <a:prstDash val="solid"/>
            <a:tailEnd type="triangle"/>
          </a:ln>
        </p:spPr>
      </p:sp>
      <p:sp>
        <p:nvSpPr>
          <p:cNvPr id="20" name="card"/>
          <p:cNvSpPr/>
          <p:nvPr/>
        </p:nvSpPr>
        <p:spPr>
          <a:xfrm>
            <a:off x="9646920" y="1645920"/>
            <a:ext cx="1965960" cy="777240"/>
          </a:xfrm>
          <a:prstGeom prst="roundRect">
            <a:avLst>
              <a:gd name="adj" fmla="val 11765"/>
            </a:avLst>
          </a:prstGeom>
          <a:solidFill>
            <a:schemeClr val="tx2"/>
          </a:solidFill>
          <a:ln w="12700">
            <a:solidFill>
              <a:schemeClr val="accent1">
                <a:alpha val="65000"/>
              </a:schemeClr>
            </a:solidFill>
            <a:prstDash val="solid"/>
          </a:ln>
        </p:spPr>
      </p:sp>
      <p:sp>
        <p:nvSpPr>
          <p:cNvPr id="21" name="Text 19"/>
          <p:cNvSpPr txBox="1"/>
          <p:nvPr/>
        </p:nvSpPr>
        <p:spPr>
          <a:xfrm>
            <a:off x="9784080" y="1737360"/>
            <a:ext cx="365760" cy="274320"/>
          </a:xfrm>
          <a:prstGeom prst="rect">
            <a:avLst/>
          </a:prstGeom>
          <a:noFill/>
          <a:ln/>
        </p:spPr>
        <p:txBody>
          <a:bodyPr wrap="square" lIns="0" tIns="0" rIns="0" bIns="0" rtlCol="0" anchor="t"/>
          <a:lstStyle/>
          <a:p>
            <a:pPr indent="0" marL="0">
              <a:buNone/>
            </a:pPr>
            <a:r>
              <a:rPr lang="en-US" sz="1100" b="1" dirty="0">
                <a:solidFill>
                  <a:schemeClr val="accent1"/>
                </a:solidFill>
              </a:rPr>
              <a:t>5</a:t>
            </a:r>
            <a:endParaRPr lang="en-US" sz="1100" dirty="0"/>
          </a:p>
        </p:txBody>
      </p:sp>
      <p:sp>
        <p:nvSpPr>
          <p:cNvPr id="22" name="Text 20"/>
          <p:cNvSpPr txBox="1"/>
          <p:nvPr/>
        </p:nvSpPr>
        <p:spPr>
          <a:xfrm>
            <a:off x="9784080" y="1920240"/>
            <a:ext cx="1691640" cy="457200"/>
          </a:xfrm>
          <a:prstGeom prst="rect">
            <a:avLst/>
          </a:prstGeom>
          <a:noFill/>
          <a:ln/>
        </p:spPr>
        <p:txBody>
          <a:bodyPr wrap="square" lIns="0" tIns="0" rIns="0" bIns="0" rtlCol="0" anchor="t"/>
          <a:lstStyle/>
          <a:p>
            <a:pPr indent="0" marL="0">
              <a:buNone/>
            </a:pPr>
            <a:r>
              <a:rPr lang="en-US" sz="1200" b="1" dirty="0">
                <a:solidFill>
                  <a:schemeClr val="bg1"/>
                </a:solidFill>
              </a:rPr>
              <a:t>Generate scoped proposal</a:t>
            </a:r>
            <a:endParaRPr lang="en-US" sz="1200" dirty="0"/>
          </a:p>
        </p:txBody>
      </p:sp>
      <p:sp>
        <p:nvSpPr>
          <p:cNvPr id="23" name="connector"/>
          <p:cNvSpPr/>
          <p:nvPr/>
        </p:nvSpPr>
        <p:spPr>
          <a:xfrm>
            <a:off x="10629900" y="2450592"/>
            <a:ext cx="914" cy="402336"/>
          </a:xfrm>
          <a:prstGeom prst="line">
            <a:avLst/>
          </a:prstGeom>
          <a:noFill/>
          <a:ln w="19050">
            <a:solidFill>
              <a:srgbClr val="00E5FF"/>
            </a:solidFill>
            <a:prstDash val="solid"/>
            <a:tailEnd type="triangle"/>
          </a:ln>
        </p:spPr>
      </p:sp>
      <p:sp>
        <p:nvSpPr>
          <p:cNvPr id="24" name="card"/>
          <p:cNvSpPr/>
          <p:nvPr/>
        </p:nvSpPr>
        <p:spPr>
          <a:xfrm>
            <a:off x="9646920" y="2880360"/>
            <a:ext cx="1965960" cy="777240"/>
          </a:xfrm>
          <a:prstGeom prst="roundRect">
            <a:avLst>
              <a:gd name="adj" fmla="val 11765"/>
            </a:avLst>
          </a:prstGeom>
          <a:solidFill>
            <a:schemeClr val="tx2"/>
          </a:solidFill>
          <a:ln w="12700">
            <a:solidFill>
              <a:schemeClr val="accent1">
                <a:alpha val="65000"/>
              </a:schemeClr>
            </a:solidFill>
            <a:prstDash val="solid"/>
          </a:ln>
        </p:spPr>
      </p:sp>
      <p:sp>
        <p:nvSpPr>
          <p:cNvPr id="25" name="Text 23"/>
          <p:cNvSpPr txBox="1"/>
          <p:nvPr/>
        </p:nvSpPr>
        <p:spPr>
          <a:xfrm>
            <a:off x="9784080" y="2971800"/>
            <a:ext cx="365760" cy="274320"/>
          </a:xfrm>
          <a:prstGeom prst="rect">
            <a:avLst/>
          </a:prstGeom>
          <a:noFill/>
          <a:ln/>
        </p:spPr>
        <p:txBody>
          <a:bodyPr wrap="square" lIns="0" tIns="0" rIns="0" bIns="0" rtlCol="0" anchor="t"/>
          <a:lstStyle/>
          <a:p>
            <a:pPr indent="0" marL="0">
              <a:buNone/>
            </a:pPr>
            <a:r>
              <a:rPr lang="en-US" sz="1100" b="1" dirty="0">
                <a:solidFill>
                  <a:schemeClr val="accent1"/>
                </a:solidFill>
              </a:rPr>
              <a:t>6</a:t>
            </a:r>
            <a:endParaRPr lang="en-US" sz="1100" dirty="0"/>
          </a:p>
        </p:txBody>
      </p:sp>
      <p:sp>
        <p:nvSpPr>
          <p:cNvPr id="26" name="Text 24"/>
          <p:cNvSpPr txBox="1"/>
          <p:nvPr/>
        </p:nvSpPr>
        <p:spPr>
          <a:xfrm>
            <a:off x="9784080" y="3154680"/>
            <a:ext cx="1691640" cy="457200"/>
          </a:xfrm>
          <a:prstGeom prst="rect">
            <a:avLst/>
          </a:prstGeom>
          <a:noFill/>
          <a:ln/>
        </p:spPr>
        <p:txBody>
          <a:bodyPr wrap="square" lIns="0" tIns="0" rIns="0" bIns="0" rtlCol="0" anchor="t"/>
          <a:lstStyle/>
          <a:p>
            <a:pPr indent="0" marL="0">
              <a:buNone/>
            </a:pPr>
            <a:r>
              <a:rPr lang="en-US" sz="1200" b="1" dirty="0">
                <a:solidFill>
                  <a:schemeClr val="bg1"/>
                </a:solidFill>
              </a:rPr>
              <a:t>Static validation + policy checks</a:t>
            </a:r>
            <a:endParaRPr lang="en-US" sz="1200" dirty="0"/>
          </a:p>
        </p:txBody>
      </p:sp>
      <p:sp>
        <p:nvSpPr>
          <p:cNvPr id="27" name="connector"/>
          <p:cNvSpPr/>
          <p:nvPr/>
        </p:nvSpPr>
        <p:spPr>
          <a:xfrm>
            <a:off x="9365742" y="3268980"/>
            <a:ext cx="253746" cy="914"/>
          </a:xfrm>
          <a:prstGeom prst="line">
            <a:avLst/>
          </a:prstGeom>
          <a:noFill/>
          <a:ln w="19050">
            <a:solidFill>
              <a:srgbClr val="00E5FF"/>
            </a:solidFill>
            <a:prstDash val="solid"/>
            <a:tailEnd type="triangle"/>
          </a:ln>
        </p:spPr>
      </p:sp>
      <p:sp>
        <p:nvSpPr>
          <p:cNvPr id="28" name="card"/>
          <p:cNvSpPr/>
          <p:nvPr/>
        </p:nvSpPr>
        <p:spPr>
          <a:xfrm>
            <a:off x="7372350" y="2880360"/>
            <a:ext cx="1965960" cy="777240"/>
          </a:xfrm>
          <a:prstGeom prst="roundRect">
            <a:avLst>
              <a:gd name="adj" fmla="val 11765"/>
            </a:avLst>
          </a:prstGeom>
          <a:solidFill>
            <a:schemeClr val="tx2"/>
          </a:solidFill>
          <a:ln w="12700">
            <a:solidFill>
              <a:schemeClr val="accent4">
                <a:alpha val="65000"/>
              </a:schemeClr>
            </a:solidFill>
            <a:prstDash val="solid"/>
          </a:ln>
        </p:spPr>
      </p:sp>
      <p:sp>
        <p:nvSpPr>
          <p:cNvPr id="29" name="Text 27"/>
          <p:cNvSpPr txBox="1"/>
          <p:nvPr/>
        </p:nvSpPr>
        <p:spPr>
          <a:xfrm>
            <a:off x="7509510" y="2971800"/>
            <a:ext cx="365760" cy="274320"/>
          </a:xfrm>
          <a:prstGeom prst="rect">
            <a:avLst/>
          </a:prstGeom>
          <a:noFill/>
          <a:ln/>
        </p:spPr>
        <p:txBody>
          <a:bodyPr wrap="square" lIns="0" tIns="0" rIns="0" bIns="0" rtlCol="0" anchor="t"/>
          <a:lstStyle/>
          <a:p>
            <a:pPr indent="0" marL="0">
              <a:buNone/>
            </a:pPr>
            <a:r>
              <a:rPr lang="en-US" sz="1100" b="1" dirty="0">
                <a:solidFill>
                  <a:schemeClr val="accent4"/>
                </a:solidFill>
              </a:rPr>
              <a:t>7</a:t>
            </a:r>
            <a:endParaRPr lang="en-US" sz="1100" dirty="0"/>
          </a:p>
        </p:txBody>
      </p:sp>
      <p:sp>
        <p:nvSpPr>
          <p:cNvPr id="30" name="Text 28"/>
          <p:cNvSpPr txBox="1"/>
          <p:nvPr/>
        </p:nvSpPr>
        <p:spPr>
          <a:xfrm>
            <a:off x="7509510" y="3154680"/>
            <a:ext cx="1691640" cy="457200"/>
          </a:xfrm>
          <a:prstGeom prst="rect">
            <a:avLst/>
          </a:prstGeom>
          <a:noFill/>
          <a:ln/>
        </p:spPr>
        <p:txBody>
          <a:bodyPr wrap="square" lIns="0" tIns="0" rIns="0" bIns="0" rtlCol="0" anchor="t"/>
          <a:lstStyle/>
          <a:p>
            <a:pPr indent="0" marL="0">
              <a:buNone/>
            </a:pPr>
            <a:r>
              <a:rPr lang="en-US" sz="1200" b="1" dirty="0">
                <a:solidFill>
                  <a:schemeClr val="bg1"/>
                </a:solidFill>
              </a:rPr>
              <a:t>Approval (when required)</a:t>
            </a:r>
            <a:endParaRPr lang="en-US" sz="1200" dirty="0"/>
          </a:p>
        </p:txBody>
      </p:sp>
      <p:sp>
        <p:nvSpPr>
          <p:cNvPr id="31" name="connector"/>
          <p:cNvSpPr/>
          <p:nvPr/>
        </p:nvSpPr>
        <p:spPr>
          <a:xfrm>
            <a:off x="7091172" y="3268980"/>
            <a:ext cx="253746" cy="914"/>
          </a:xfrm>
          <a:prstGeom prst="line">
            <a:avLst/>
          </a:prstGeom>
          <a:noFill/>
          <a:ln w="19050">
            <a:solidFill>
              <a:srgbClr val="00E5FF"/>
            </a:solidFill>
            <a:prstDash val="solid"/>
            <a:tailEnd type="triangle"/>
          </a:ln>
        </p:spPr>
      </p:sp>
      <p:sp>
        <p:nvSpPr>
          <p:cNvPr id="32" name="card"/>
          <p:cNvSpPr/>
          <p:nvPr/>
        </p:nvSpPr>
        <p:spPr>
          <a:xfrm>
            <a:off x="5097780" y="2880360"/>
            <a:ext cx="1965960" cy="777240"/>
          </a:xfrm>
          <a:prstGeom prst="roundRect">
            <a:avLst>
              <a:gd name="adj" fmla="val 11765"/>
            </a:avLst>
          </a:prstGeom>
          <a:solidFill>
            <a:schemeClr val="tx2"/>
          </a:solidFill>
          <a:ln w="12700">
            <a:solidFill>
              <a:schemeClr val="accent1">
                <a:alpha val="65000"/>
              </a:schemeClr>
            </a:solidFill>
            <a:prstDash val="solid"/>
          </a:ln>
        </p:spPr>
      </p:sp>
      <p:sp>
        <p:nvSpPr>
          <p:cNvPr id="33" name="Text 31"/>
          <p:cNvSpPr txBox="1"/>
          <p:nvPr/>
        </p:nvSpPr>
        <p:spPr>
          <a:xfrm>
            <a:off x="5234940" y="2971800"/>
            <a:ext cx="365760" cy="274320"/>
          </a:xfrm>
          <a:prstGeom prst="rect">
            <a:avLst/>
          </a:prstGeom>
          <a:noFill/>
          <a:ln/>
        </p:spPr>
        <p:txBody>
          <a:bodyPr wrap="square" lIns="0" tIns="0" rIns="0" bIns="0" rtlCol="0" anchor="t"/>
          <a:lstStyle/>
          <a:p>
            <a:pPr indent="0" marL="0">
              <a:buNone/>
            </a:pPr>
            <a:r>
              <a:rPr lang="en-US" sz="1100" b="1" dirty="0">
                <a:solidFill>
                  <a:schemeClr val="accent1"/>
                </a:solidFill>
              </a:rPr>
              <a:t>8</a:t>
            </a:r>
            <a:endParaRPr lang="en-US" sz="1100" dirty="0"/>
          </a:p>
        </p:txBody>
      </p:sp>
      <p:sp>
        <p:nvSpPr>
          <p:cNvPr id="34" name="Text 32"/>
          <p:cNvSpPr txBox="1"/>
          <p:nvPr/>
        </p:nvSpPr>
        <p:spPr>
          <a:xfrm>
            <a:off x="5234940" y="3154680"/>
            <a:ext cx="1691640" cy="457200"/>
          </a:xfrm>
          <a:prstGeom prst="rect">
            <a:avLst/>
          </a:prstGeom>
          <a:noFill/>
          <a:ln/>
        </p:spPr>
        <p:txBody>
          <a:bodyPr wrap="square" lIns="0" tIns="0" rIns="0" bIns="0" rtlCol="0" anchor="t"/>
          <a:lstStyle/>
          <a:p>
            <a:pPr indent="0" marL="0">
              <a:buNone/>
            </a:pPr>
            <a:r>
              <a:rPr lang="en-US" sz="1200" b="1" dirty="0">
                <a:solidFill>
                  <a:schemeClr val="bg1"/>
                </a:solidFill>
              </a:rPr>
              <a:t>Create PR / apply in isolated env</a:t>
            </a:r>
            <a:endParaRPr lang="en-US" sz="1200" dirty="0"/>
          </a:p>
        </p:txBody>
      </p:sp>
      <p:sp>
        <p:nvSpPr>
          <p:cNvPr id="35" name="connector"/>
          <p:cNvSpPr/>
          <p:nvPr/>
        </p:nvSpPr>
        <p:spPr>
          <a:xfrm>
            <a:off x="4816602" y="3268980"/>
            <a:ext cx="253746" cy="914"/>
          </a:xfrm>
          <a:prstGeom prst="line">
            <a:avLst/>
          </a:prstGeom>
          <a:noFill/>
          <a:ln w="19050">
            <a:solidFill>
              <a:srgbClr val="00E5FF"/>
            </a:solidFill>
            <a:prstDash val="solid"/>
            <a:tailEnd type="triangle"/>
          </a:ln>
        </p:spPr>
      </p:sp>
      <p:sp>
        <p:nvSpPr>
          <p:cNvPr id="36" name="card"/>
          <p:cNvSpPr/>
          <p:nvPr/>
        </p:nvSpPr>
        <p:spPr>
          <a:xfrm>
            <a:off x="2823210" y="2880360"/>
            <a:ext cx="1965960" cy="777240"/>
          </a:xfrm>
          <a:prstGeom prst="roundRect">
            <a:avLst>
              <a:gd name="adj" fmla="val 11765"/>
            </a:avLst>
          </a:prstGeom>
          <a:solidFill>
            <a:schemeClr val="tx2"/>
          </a:solidFill>
          <a:ln w="12700">
            <a:solidFill>
              <a:schemeClr val="accent5">
                <a:alpha val="65000"/>
              </a:schemeClr>
            </a:solidFill>
            <a:prstDash val="solid"/>
          </a:ln>
        </p:spPr>
      </p:sp>
      <p:sp>
        <p:nvSpPr>
          <p:cNvPr id="37" name="Text 35"/>
          <p:cNvSpPr txBox="1"/>
          <p:nvPr/>
        </p:nvSpPr>
        <p:spPr>
          <a:xfrm>
            <a:off x="2960370" y="2971800"/>
            <a:ext cx="365760" cy="274320"/>
          </a:xfrm>
          <a:prstGeom prst="rect">
            <a:avLst/>
          </a:prstGeom>
          <a:noFill/>
          <a:ln/>
        </p:spPr>
        <p:txBody>
          <a:bodyPr wrap="square" lIns="0" tIns="0" rIns="0" bIns="0" rtlCol="0" anchor="t"/>
          <a:lstStyle/>
          <a:p>
            <a:pPr indent="0" marL="0">
              <a:buNone/>
            </a:pPr>
            <a:r>
              <a:rPr lang="en-US" sz="1100" b="1" dirty="0">
                <a:solidFill>
                  <a:schemeClr val="accent5"/>
                </a:solidFill>
              </a:rPr>
              <a:t>9</a:t>
            </a:r>
            <a:endParaRPr lang="en-US" sz="1100" dirty="0"/>
          </a:p>
        </p:txBody>
      </p:sp>
      <p:sp>
        <p:nvSpPr>
          <p:cNvPr id="38" name="Text 36"/>
          <p:cNvSpPr txBox="1"/>
          <p:nvPr/>
        </p:nvSpPr>
        <p:spPr>
          <a:xfrm>
            <a:off x="2960370" y="3154680"/>
            <a:ext cx="1691640" cy="457200"/>
          </a:xfrm>
          <a:prstGeom prst="rect">
            <a:avLst/>
          </a:prstGeom>
          <a:noFill/>
          <a:ln/>
        </p:spPr>
        <p:txBody>
          <a:bodyPr wrap="square" lIns="0" tIns="0" rIns="0" bIns="0" rtlCol="0" anchor="t"/>
          <a:lstStyle/>
          <a:p>
            <a:pPr indent="0" marL="0">
              <a:buNone/>
            </a:pPr>
            <a:r>
              <a:rPr lang="en-US" sz="1200" b="1" dirty="0">
                <a:solidFill>
                  <a:schemeClr val="bg1"/>
                </a:solidFill>
              </a:rPr>
              <a:t>Run CI, security tests, graph recompute</a:t>
            </a:r>
            <a:endParaRPr lang="en-US" sz="1200" dirty="0"/>
          </a:p>
        </p:txBody>
      </p:sp>
      <p:sp>
        <p:nvSpPr>
          <p:cNvPr id="39" name="connector"/>
          <p:cNvSpPr/>
          <p:nvPr/>
        </p:nvSpPr>
        <p:spPr>
          <a:xfrm>
            <a:off x="2542032" y="3268980"/>
            <a:ext cx="253746" cy="914"/>
          </a:xfrm>
          <a:prstGeom prst="line">
            <a:avLst/>
          </a:prstGeom>
          <a:noFill/>
          <a:ln w="19050">
            <a:solidFill>
              <a:srgbClr val="00E5FF"/>
            </a:solidFill>
            <a:prstDash val="solid"/>
            <a:tailEnd type="triangle"/>
          </a:ln>
        </p:spPr>
      </p:sp>
      <p:sp>
        <p:nvSpPr>
          <p:cNvPr id="40" name="card"/>
          <p:cNvSpPr/>
          <p:nvPr/>
        </p:nvSpPr>
        <p:spPr>
          <a:xfrm>
            <a:off x="548640" y="2880360"/>
            <a:ext cx="1965960" cy="777240"/>
          </a:xfrm>
          <a:prstGeom prst="roundRect">
            <a:avLst>
              <a:gd name="adj" fmla="val 11765"/>
            </a:avLst>
          </a:prstGeom>
          <a:solidFill>
            <a:schemeClr val="tx2"/>
          </a:solidFill>
          <a:ln w="12700">
            <a:solidFill>
              <a:schemeClr val="accent5">
                <a:alpha val="65000"/>
              </a:schemeClr>
            </a:solidFill>
            <a:prstDash val="solid"/>
          </a:ln>
        </p:spPr>
      </p:sp>
      <p:sp>
        <p:nvSpPr>
          <p:cNvPr id="41" name="Text 39"/>
          <p:cNvSpPr txBox="1"/>
          <p:nvPr/>
        </p:nvSpPr>
        <p:spPr>
          <a:xfrm>
            <a:off x="685800" y="2971800"/>
            <a:ext cx="365760" cy="274320"/>
          </a:xfrm>
          <a:prstGeom prst="rect">
            <a:avLst/>
          </a:prstGeom>
          <a:noFill/>
          <a:ln/>
        </p:spPr>
        <p:txBody>
          <a:bodyPr wrap="square" lIns="0" tIns="0" rIns="0" bIns="0" rtlCol="0" anchor="t"/>
          <a:lstStyle/>
          <a:p>
            <a:pPr indent="0" marL="0">
              <a:buNone/>
            </a:pPr>
            <a:r>
              <a:rPr lang="en-US" sz="1100" b="1" dirty="0">
                <a:solidFill>
                  <a:schemeClr val="accent5"/>
                </a:solidFill>
              </a:rPr>
              <a:t>10</a:t>
            </a:r>
            <a:endParaRPr lang="en-US" sz="1100" dirty="0"/>
          </a:p>
        </p:txBody>
      </p:sp>
      <p:sp>
        <p:nvSpPr>
          <p:cNvPr id="42" name="Text 40"/>
          <p:cNvSpPr txBox="1"/>
          <p:nvPr/>
        </p:nvSpPr>
        <p:spPr>
          <a:xfrm>
            <a:off x="685800" y="3154680"/>
            <a:ext cx="1691640" cy="457200"/>
          </a:xfrm>
          <a:prstGeom prst="rect">
            <a:avLst/>
          </a:prstGeom>
          <a:noFill/>
          <a:ln/>
        </p:spPr>
        <p:txBody>
          <a:bodyPr wrap="square" lIns="0" tIns="0" rIns="0" bIns="0" rtlCol="0" anchor="t"/>
          <a:lstStyle/>
          <a:p>
            <a:pPr indent="0" marL="0">
              <a:buNone/>
            </a:pPr>
            <a:r>
              <a:rPr lang="en-US" sz="1200" b="1" dirty="0">
                <a:solidFill>
                  <a:schemeClr val="bg1"/>
                </a:solidFill>
              </a:rPr>
              <a:t>Verify risky path is broken</a:t>
            </a:r>
            <a:endParaRPr lang="en-US" sz="1200" dirty="0"/>
          </a:p>
        </p:txBody>
      </p:sp>
      <p:sp>
        <p:nvSpPr>
          <p:cNvPr id="43" name="connector"/>
          <p:cNvSpPr/>
          <p:nvPr/>
        </p:nvSpPr>
        <p:spPr>
          <a:xfrm>
            <a:off x="1531620" y="3685032"/>
            <a:ext cx="914" cy="402336"/>
          </a:xfrm>
          <a:prstGeom prst="line">
            <a:avLst/>
          </a:prstGeom>
          <a:noFill/>
          <a:ln w="19050">
            <a:solidFill>
              <a:srgbClr val="00E5FF"/>
            </a:solidFill>
            <a:prstDash val="solid"/>
            <a:tailEnd type="triangle"/>
          </a:ln>
        </p:spPr>
      </p:sp>
      <p:sp>
        <p:nvSpPr>
          <p:cNvPr id="44" name="card"/>
          <p:cNvSpPr/>
          <p:nvPr/>
        </p:nvSpPr>
        <p:spPr>
          <a:xfrm>
            <a:off x="548640" y="4114800"/>
            <a:ext cx="1965960" cy="777240"/>
          </a:xfrm>
          <a:prstGeom prst="roundRect">
            <a:avLst>
              <a:gd name="adj" fmla="val 11765"/>
            </a:avLst>
          </a:prstGeom>
          <a:solidFill>
            <a:schemeClr val="tx2"/>
          </a:solidFill>
          <a:ln w="12700">
            <a:solidFill>
              <a:schemeClr val="accent5">
                <a:alpha val="65000"/>
              </a:schemeClr>
            </a:solidFill>
            <a:prstDash val="solid"/>
          </a:ln>
        </p:spPr>
      </p:sp>
      <p:sp>
        <p:nvSpPr>
          <p:cNvPr id="45" name="Text 43"/>
          <p:cNvSpPr txBox="1"/>
          <p:nvPr/>
        </p:nvSpPr>
        <p:spPr>
          <a:xfrm>
            <a:off x="685800" y="4206240"/>
            <a:ext cx="365760" cy="274320"/>
          </a:xfrm>
          <a:prstGeom prst="rect">
            <a:avLst/>
          </a:prstGeom>
          <a:noFill/>
          <a:ln/>
        </p:spPr>
        <p:txBody>
          <a:bodyPr wrap="square" lIns="0" tIns="0" rIns="0" bIns="0" rtlCol="0" anchor="t"/>
          <a:lstStyle/>
          <a:p>
            <a:pPr indent="0" marL="0">
              <a:buNone/>
            </a:pPr>
            <a:r>
              <a:rPr lang="en-US" sz="1100" b="1" dirty="0">
                <a:solidFill>
                  <a:schemeClr val="accent5"/>
                </a:solidFill>
              </a:rPr>
              <a:t>11</a:t>
            </a:r>
            <a:endParaRPr lang="en-US" sz="1100" dirty="0"/>
          </a:p>
        </p:txBody>
      </p:sp>
      <p:sp>
        <p:nvSpPr>
          <p:cNvPr id="46" name="Text 44"/>
          <p:cNvSpPr txBox="1"/>
          <p:nvPr/>
        </p:nvSpPr>
        <p:spPr>
          <a:xfrm>
            <a:off x="685800" y="4389120"/>
            <a:ext cx="1691640" cy="457200"/>
          </a:xfrm>
          <a:prstGeom prst="rect">
            <a:avLst/>
          </a:prstGeom>
          <a:noFill/>
          <a:ln/>
        </p:spPr>
        <p:txBody>
          <a:bodyPr wrap="square" lIns="0" tIns="0" rIns="0" bIns="0" rtlCol="0" anchor="t"/>
          <a:lstStyle/>
          <a:p>
            <a:pPr indent="0" marL="0">
              <a:buNone/>
            </a:pPr>
            <a:r>
              <a:rPr lang="en-US" sz="1200" b="1" dirty="0">
                <a:solidFill>
                  <a:schemeClr val="bg1"/>
                </a:solidFill>
              </a:rPr>
              <a:t>Confirm legit workflows pass</a:t>
            </a:r>
            <a:endParaRPr lang="en-US" sz="1200" dirty="0"/>
          </a:p>
        </p:txBody>
      </p:sp>
      <p:sp>
        <p:nvSpPr>
          <p:cNvPr id="47" name="connector"/>
          <p:cNvSpPr/>
          <p:nvPr/>
        </p:nvSpPr>
        <p:spPr>
          <a:xfrm>
            <a:off x="2542032" y="4503420"/>
            <a:ext cx="253746" cy="914"/>
          </a:xfrm>
          <a:prstGeom prst="line">
            <a:avLst/>
          </a:prstGeom>
          <a:noFill/>
          <a:ln w="19050">
            <a:solidFill>
              <a:srgbClr val="22C55E"/>
            </a:solidFill>
            <a:prstDash val="solid"/>
            <a:tailEnd type="triangle"/>
          </a:ln>
        </p:spPr>
      </p:sp>
      <p:sp>
        <p:nvSpPr>
          <p:cNvPr id="48" name="card"/>
          <p:cNvSpPr/>
          <p:nvPr/>
        </p:nvSpPr>
        <p:spPr>
          <a:xfrm>
            <a:off x="2823210" y="4114800"/>
            <a:ext cx="4114800" cy="777240"/>
          </a:xfrm>
          <a:prstGeom prst="roundRect">
            <a:avLst>
              <a:gd name="adj" fmla="val 11765"/>
            </a:avLst>
          </a:prstGeom>
          <a:solidFill>
            <a:schemeClr val="accent5">
              <a:alpha val="15000"/>
            </a:schemeClr>
          </a:solidFill>
          <a:ln w="19050">
            <a:solidFill>
              <a:schemeClr val="accent5"/>
            </a:solidFill>
            <a:prstDash val="solid"/>
          </a:ln>
        </p:spPr>
      </p:sp>
      <p:sp>
        <p:nvSpPr>
          <p:cNvPr id="49" name="Text 47"/>
          <p:cNvSpPr txBox="1"/>
          <p:nvPr/>
        </p:nvSpPr>
        <p:spPr>
          <a:xfrm>
            <a:off x="3006090" y="4114800"/>
            <a:ext cx="3840480" cy="777240"/>
          </a:xfrm>
          <a:prstGeom prst="rect">
            <a:avLst/>
          </a:prstGeom>
          <a:noFill/>
          <a:ln/>
        </p:spPr>
        <p:txBody>
          <a:bodyPr wrap="square" lIns="0" tIns="0" rIns="0" bIns="0" rtlCol="0" anchor="ctr"/>
          <a:lstStyle/>
          <a:p>
            <a:pPr indent="0" marL="0">
              <a:buNone/>
            </a:pPr>
            <a:r>
              <a:rPr lang="en-US" sz="1400" b="1" dirty="0">
                <a:solidFill>
                  <a:schemeClr val="accent5"/>
                </a:solidFill>
                <a:latin typeface="Courier New" pitchFamily="34" charset="0"/>
                <a:ea typeface="Courier New" pitchFamily="34" charset="-122"/>
                <a:cs typeface="Courier New" pitchFamily="34" charset="-120"/>
              </a:rPr>
              <a:t>verified_fixed</a:t>
            </a:r>
            <a:pPr indent="0" marL="0">
              <a:buNone/>
            </a:pPr>
            <a:r>
              <a:rPr lang="en-US" sz="1400" dirty="0">
                <a:solidFill>
                  <a:schemeClr val="bg2"/>
                </a:solidFill>
              </a:rPr>
              <a:t>   or keep open / </a:t>
            </a:r>
            <a:pPr indent="0" marL="0">
              <a:buNone/>
            </a:pPr>
            <a:r>
              <a:rPr lang="en-US" sz="1400" b="1" dirty="0">
                <a:solidFill>
                  <a:schemeClr val="accent3"/>
                </a:solidFill>
                <a:latin typeface="Courier New" pitchFamily="34" charset="0"/>
                <a:ea typeface="Courier New" pitchFamily="34" charset="-122"/>
                <a:cs typeface="Courier New" pitchFamily="34" charset="-120"/>
              </a:rPr>
              <a:t>reopened</a:t>
            </a:r>
            <a:endParaRPr lang="en-US" sz="1400" dirty="0"/>
          </a:p>
        </p:txBody>
      </p:sp>
      <p:sp>
        <p:nvSpPr>
          <p:cNvPr id="50" name="card"/>
          <p:cNvSpPr/>
          <p:nvPr/>
        </p:nvSpPr>
        <p:spPr>
          <a:xfrm>
            <a:off x="548640" y="5212080"/>
            <a:ext cx="11064240" cy="960120"/>
          </a:xfrm>
          <a:prstGeom prst="roundRect">
            <a:avLst>
              <a:gd name="adj" fmla="val 9524"/>
            </a:avLst>
          </a:prstGeom>
          <a:solidFill>
            <a:schemeClr val="tx2"/>
          </a:solidFill>
          <a:ln w="12700">
            <a:solidFill>
              <a:schemeClr val="accent2">
                <a:alpha val="38000"/>
              </a:schemeClr>
            </a:solidFill>
            <a:prstDash val="solid"/>
          </a:ln>
        </p:spPr>
      </p:sp>
      <p:sp>
        <p:nvSpPr>
          <p:cNvPr id="51" name="icon tile"/>
          <p:cNvSpPr/>
          <p:nvPr/>
        </p:nvSpPr>
        <p:spPr>
          <a:xfrm>
            <a:off x="777240" y="5394960"/>
            <a:ext cx="594360" cy="594360"/>
          </a:xfrm>
          <a:prstGeom prst="roundRect">
            <a:avLst>
              <a:gd name="adj" fmla="val 22000"/>
            </a:avLst>
          </a:prstGeom>
          <a:solidFill>
            <a:schemeClr val="accent4">
              <a:alpha val="20000"/>
            </a:schemeClr>
          </a:solidFill>
          <a:ln w="9525">
            <a:solidFill>
              <a:schemeClr val="accent4">
                <a:alpha val="55000"/>
              </a:schemeClr>
            </a:solidFill>
            <a:prstDash val="solid"/>
          </a:ln>
        </p:spPr>
      </p:sp>
      <p:pic>
        <p:nvPicPr>
          <p:cNvPr id="52" name="icon" descr="preencoded.png">    </p:cNvPr>
          <p:cNvPicPr>
            <a:picLocks noChangeAspect="1"/>
          </p:cNvPicPr>
          <p:nvPr/>
        </p:nvPicPr>
        <p:blipFill>
          <a:blip r:embed="rId1"/>
          <a:stretch>
            <a:fillRect/>
          </a:stretch>
        </p:blipFill>
        <p:spPr>
          <a:xfrm>
            <a:off x="919886" y="5537606"/>
            <a:ext cx="309067" cy="309067"/>
          </a:xfrm>
          <a:prstGeom prst="rect">
            <a:avLst/>
          </a:prstGeom>
        </p:spPr>
      </p:pic>
      <p:sp>
        <p:nvSpPr>
          <p:cNvPr id="53" name="Text 50"/>
          <p:cNvSpPr txBox="1"/>
          <p:nvPr/>
        </p:nvSpPr>
        <p:spPr>
          <a:xfrm>
            <a:off x="1600200" y="5257800"/>
            <a:ext cx="9829800" cy="868680"/>
          </a:xfrm>
          <a:prstGeom prst="rect">
            <a:avLst/>
          </a:prstGeom>
          <a:noFill/>
          <a:ln/>
        </p:spPr>
        <p:txBody>
          <a:bodyPr wrap="square" lIns="0" tIns="0" rIns="0" bIns="0" rtlCol="0" anchor="ctr"/>
          <a:lstStyle/>
          <a:p>
            <a:pPr indent="0" marL="0">
              <a:buNone/>
            </a:pPr>
            <a:r>
              <a:rPr lang="en-US" sz="1300" b="1" dirty="0">
                <a:solidFill>
                  <a:schemeClr val="accent4"/>
                </a:solidFill>
              </a:rPr>
              <a:t>Approval integrity  </a:t>
            </a:r>
            <a:pPr indent="0" marL="0">
              <a:buNone/>
            </a:pPr>
            <a:r>
              <a:rPr lang="en-US" sz="1300" dirty="0">
                <a:solidFill>
                  <a:schemeClr val="bg2"/>
                </a:solidFill>
              </a:rPr>
              <a:t>Approval binds to the exact proposal hash, repo, branch and scope. Any proposal change invalidates the previous approval. Propose, approve, execute and verify are separate permissions. No auto-merge in the MVP.</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PROPOSAL &amp; VERIFICATION</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Closure requires proof, not a merged PR</a:t>
            </a:r>
            <a:endParaRPr lang="en-US" sz="3200" dirty="0"/>
          </a:p>
        </p:txBody>
      </p:sp>
      <p:sp>
        <p:nvSpPr>
          <p:cNvPr id="4" name="Text 2"/>
          <p:cNvSpPr txBox="1"/>
          <p:nvPr/>
        </p:nvSpPr>
        <p:spPr>
          <a:xfrm>
            <a:off x="548640" y="1554480"/>
            <a:ext cx="54864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REMEDIATION PROPOSAL (GENERIC SCHEMA)</a:t>
            </a:r>
            <a:endParaRPr lang="en-US" sz="1100" dirty="0"/>
          </a:p>
        </p:txBody>
      </p:sp>
      <p:sp>
        <p:nvSpPr>
          <p:cNvPr id="5" name="card"/>
          <p:cNvSpPr/>
          <p:nvPr/>
        </p:nvSpPr>
        <p:spPr>
          <a:xfrm>
            <a:off x="548640" y="1828800"/>
            <a:ext cx="5760720" cy="4343400"/>
          </a:xfrm>
          <a:prstGeom prst="roundRect">
            <a:avLst>
              <a:gd name="adj" fmla="val 2105"/>
            </a:avLst>
          </a:prstGeom>
          <a:solidFill>
            <a:schemeClr val="tx1"/>
          </a:solidFill>
          <a:ln w="12700">
            <a:solidFill>
              <a:schemeClr val="accent1">
                <a:alpha val="50000"/>
              </a:schemeClr>
            </a:solidFill>
            <a:prstDash val="solid"/>
          </a:ln>
        </p:spPr>
      </p:sp>
      <p:sp>
        <p:nvSpPr>
          <p:cNvPr id="6" name="Text 4"/>
          <p:cNvSpPr txBox="1"/>
          <p:nvPr/>
        </p:nvSpPr>
        <p:spPr>
          <a:xfrm>
            <a:off x="731520" y="1965960"/>
            <a:ext cx="5486400" cy="4114800"/>
          </a:xfrm>
          <a:prstGeom prst="rect">
            <a:avLst/>
          </a:prstGeom>
          <a:noFill/>
          <a:ln/>
        </p:spPr>
        <p:txBody>
          <a:bodyPr wrap="square" lIns="0" tIns="0" rIns="0" bIns="0" rtlCol="0" anchor="t"/>
          <a:lstStyle/>
          <a:p>
            <a:pPr indent="0" marL="0">
              <a:buNone/>
            </a:pPr>
            <a:r>
              <a:rPr lang="en-US" sz="1150" dirty="0">
                <a:solidFill>
                  <a:schemeClr val="accent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"finding_id": "finding-uuid",</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"strategy": "least_privilege_workflow_permissions",</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"summary": "Restrict workflow token permissions</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to required scopes",</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"proposed_change": {</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"file": ".github/workflows/build.yml",</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"diff_ref": "controlled-artifact-reference"</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"expected_effect": {</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"path_ids_to_recheck": ["path-uuid"],</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"risk_reduction_claim":</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"Remove unnecessary write capability"</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  "requires_approval": true</a:t>
            </a:r>
            <a:endParaRPr lang="en-US" sz="1150" dirty="0"/>
          </a:p>
          <a:p>
            <a:pPr indent="0" marL="0">
              <a:buNone/>
            </a:pPr>
            <a:r>
              <a:rPr lang="en-US" sz="1150" dirty="0">
                <a:solidFill>
                  <a:schemeClr val="accent1"/>
                </a:solidFill>
                <a:latin typeface="Courier New" pitchFamily="34" charset="0"/>
                <a:ea typeface="Courier New" pitchFamily="34" charset="-122"/>
                <a:cs typeface="Courier New" pitchFamily="34" charset="-120"/>
              </a:rPr>
              <a:t>}</a:t>
            </a:r>
            <a:endParaRPr lang="en-US" sz="1150" dirty="0"/>
          </a:p>
        </p:txBody>
      </p:sp>
      <p:sp>
        <p:nvSpPr>
          <p:cNvPr id="7" name="Text 5"/>
          <p:cNvSpPr txBox="1"/>
          <p:nvPr/>
        </p:nvSpPr>
        <p:spPr>
          <a:xfrm>
            <a:off x="6583680" y="1554480"/>
            <a:ext cx="4572000" cy="256032"/>
          </a:xfrm>
          <a:prstGeom prst="rect">
            <a:avLst/>
          </a:prstGeom>
          <a:noFill/>
          <a:ln/>
        </p:spPr>
        <p:txBody>
          <a:bodyPr wrap="square" lIns="0" tIns="0" rIns="0" bIns="0" rtlCol="0" anchor="t"/>
          <a:lstStyle/>
          <a:p>
            <a:pPr indent="0" marL="0">
              <a:buNone/>
            </a:pPr>
            <a:r>
              <a:rPr lang="en-US" sz="1100" b="1" spc="200" kern="0" dirty="0">
                <a:solidFill>
                  <a:schemeClr val="accent5"/>
                </a:solidFill>
              </a:rPr>
              <a:t>VERIFICATION CONDITIONS</a:t>
            </a:r>
            <a:endParaRPr lang="en-US" sz="1100" dirty="0"/>
          </a:p>
        </p:txBody>
      </p:sp>
      <p:sp>
        <p:nvSpPr>
          <p:cNvPr id="8" name="card"/>
          <p:cNvSpPr/>
          <p:nvPr/>
        </p:nvSpPr>
        <p:spPr>
          <a:xfrm>
            <a:off x="6583680" y="1828800"/>
            <a:ext cx="5029200" cy="621792"/>
          </a:xfrm>
          <a:prstGeom prst="roundRect">
            <a:avLst>
              <a:gd name="adj" fmla="val 14706"/>
            </a:avLst>
          </a:prstGeom>
          <a:solidFill>
            <a:schemeClr val="tx2"/>
          </a:solidFill>
          <a:ln w="12700">
            <a:solidFill>
              <a:schemeClr val="accent2">
                <a:alpha val="38000"/>
              </a:schemeClr>
            </a:solidFill>
            <a:prstDash val="solid"/>
          </a:ln>
        </p:spPr>
      </p:sp>
      <p:pic>
        <p:nvPicPr>
          <p:cNvPr id="9" name="check" descr="preencoded.png">    </p:cNvPr>
          <p:cNvPicPr>
            <a:picLocks noChangeAspect="1"/>
          </p:cNvPicPr>
          <p:nvPr/>
        </p:nvPicPr>
        <p:blipFill>
          <a:blip r:embed="rId1"/>
          <a:stretch>
            <a:fillRect/>
          </a:stretch>
        </p:blipFill>
        <p:spPr>
          <a:xfrm>
            <a:off x="6766560" y="1984248"/>
            <a:ext cx="310896" cy="310896"/>
          </a:xfrm>
          <a:prstGeom prst="rect">
            <a:avLst/>
          </a:prstGeom>
        </p:spPr>
      </p:pic>
      <p:sp>
        <p:nvSpPr>
          <p:cNvPr id="10" name="Text 7"/>
          <p:cNvSpPr txBox="1"/>
          <p:nvPr/>
        </p:nvSpPr>
        <p:spPr>
          <a:xfrm>
            <a:off x="7269480" y="1828800"/>
            <a:ext cx="4206240" cy="621792"/>
          </a:xfrm>
          <a:prstGeom prst="rect">
            <a:avLst/>
          </a:prstGeom>
          <a:noFill/>
          <a:ln/>
        </p:spPr>
        <p:txBody>
          <a:bodyPr wrap="square" lIns="0" tIns="0" rIns="0" bIns="0" rtlCol="0" anchor="ctr"/>
          <a:lstStyle/>
          <a:p>
            <a:pPr indent="0" marL="0">
              <a:buNone/>
            </a:pPr>
            <a:r>
              <a:rPr lang="en-US" sz="1300" dirty="0">
                <a:solidFill>
                  <a:schemeClr val="bg2"/>
                </a:solidFill>
              </a:rPr>
              <a:t>The exact approved proposal version was applied or merged</a:t>
            </a:r>
            <a:endParaRPr lang="en-US" sz="1300" dirty="0"/>
          </a:p>
        </p:txBody>
      </p:sp>
      <p:sp>
        <p:nvSpPr>
          <p:cNvPr id="11" name="card"/>
          <p:cNvSpPr/>
          <p:nvPr/>
        </p:nvSpPr>
        <p:spPr>
          <a:xfrm>
            <a:off x="6583680" y="2560320"/>
            <a:ext cx="5029200" cy="621792"/>
          </a:xfrm>
          <a:prstGeom prst="roundRect">
            <a:avLst>
              <a:gd name="adj" fmla="val 14706"/>
            </a:avLst>
          </a:prstGeom>
          <a:solidFill>
            <a:schemeClr val="tx2"/>
          </a:solidFill>
          <a:ln w="12700">
            <a:solidFill>
              <a:schemeClr val="accent2">
                <a:alpha val="38000"/>
              </a:schemeClr>
            </a:solidFill>
            <a:prstDash val="solid"/>
          </a:ln>
        </p:spPr>
      </p:sp>
      <p:pic>
        <p:nvPicPr>
          <p:cNvPr id="12" name="check" descr="preencoded.png">    </p:cNvPr>
          <p:cNvPicPr>
            <a:picLocks noChangeAspect="1"/>
          </p:cNvPicPr>
          <p:nvPr/>
        </p:nvPicPr>
        <p:blipFill>
          <a:blip r:embed="rId2"/>
          <a:stretch>
            <a:fillRect/>
          </a:stretch>
        </p:blipFill>
        <p:spPr>
          <a:xfrm>
            <a:off x="6766560" y="2715768"/>
            <a:ext cx="310896" cy="310896"/>
          </a:xfrm>
          <a:prstGeom prst="rect">
            <a:avLst/>
          </a:prstGeom>
        </p:spPr>
      </p:pic>
      <p:sp>
        <p:nvSpPr>
          <p:cNvPr id="13" name="Text 9"/>
          <p:cNvSpPr txBox="1"/>
          <p:nvPr/>
        </p:nvSpPr>
        <p:spPr>
          <a:xfrm>
            <a:off x="7269480" y="2560320"/>
            <a:ext cx="4206240" cy="621792"/>
          </a:xfrm>
          <a:prstGeom prst="rect">
            <a:avLst/>
          </a:prstGeom>
          <a:noFill/>
          <a:ln/>
        </p:spPr>
        <p:txBody>
          <a:bodyPr wrap="square" lIns="0" tIns="0" rIns="0" bIns="0" rtlCol="0" anchor="ctr"/>
          <a:lstStyle/>
          <a:p>
            <a:pPr indent="0" marL="0">
              <a:buNone/>
            </a:pPr>
            <a:r>
              <a:rPr lang="en-US" sz="1300" dirty="0">
                <a:solidFill>
                  <a:schemeClr val="bg2"/>
                </a:solidFill>
              </a:rPr>
              <a:t>Relevant scanner and CI tests pass</a:t>
            </a:r>
            <a:endParaRPr lang="en-US" sz="1300" dirty="0"/>
          </a:p>
        </p:txBody>
      </p:sp>
      <p:sp>
        <p:nvSpPr>
          <p:cNvPr id="14" name="card"/>
          <p:cNvSpPr/>
          <p:nvPr/>
        </p:nvSpPr>
        <p:spPr>
          <a:xfrm>
            <a:off x="6583680" y="3291840"/>
            <a:ext cx="5029200" cy="621792"/>
          </a:xfrm>
          <a:prstGeom prst="roundRect">
            <a:avLst>
              <a:gd name="adj" fmla="val 14706"/>
            </a:avLst>
          </a:prstGeom>
          <a:solidFill>
            <a:schemeClr val="tx2"/>
          </a:solidFill>
          <a:ln w="12700">
            <a:solidFill>
              <a:schemeClr val="accent2">
                <a:alpha val="38000"/>
              </a:schemeClr>
            </a:solidFill>
            <a:prstDash val="solid"/>
          </a:ln>
        </p:spPr>
      </p:sp>
      <p:pic>
        <p:nvPicPr>
          <p:cNvPr id="15" name="check" descr="preencoded.png">    </p:cNvPr>
          <p:cNvPicPr>
            <a:picLocks noChangeAspect="1"/>
          </p:cNvPicPr>
          <p:nvPr/>
        </p:nvPicPr>
        <p:blipFill>
          <a:blip r:embed="rId3"/>
          <a:stretch>
            <a:fillRect/>
          </a:stretch>
        </p:blipFill>
        <p:spPr>
          <a:xfrm>
            <a:off x="6766560" y="3447288"/>
            <a:ext cx="310896" cy="310896"/>
          </a:xfrm>
          <a:prstGeom prst="rect">
            <a:avLst/>
          </a:prstGeom>
        </p:spPr>
      </p:pic>
      <p:sp>
        <p:nvSpPr>
          <p:cNvPr id="16" name="Text 11"/>
          <p:cNvSpPr txBox="1"/>
          <p:nvPr/>
        </p:nvSpPr>
        <p:spPr>
          <a:xfrm>
            <a:off x="7269480" y="3291840"/>
            <a:ext cx="4206240" cy="621792"/>
          </a:xfrm>
          <a:prstGeom prst="rect">
            <a:avLst/>
          </a:prstGeom>
          <a:noFill/>
          <a:ln/>
        </p:spPr>
        <p:txBody>
          <a:bodyPr wrap="square" lIns="0" tIns="0" rIns="0" bIns="0" rtlCol="0" anchor="ctr"/>
          <a:lstStyle/>
          <a:p>
            <a:pPr indent="0" marL="0">
              <a:buNone/>
            </a:pPr>
            <a:r>
              <a:rPr lang="en-US" sz="1300" dirty="0">
                <a:solidFill>
                  <a:schemeClr val="bg2"/>
                </a:solidFill>
              </a:rPr>
              <a:t>Target path removed or downgraded for an evidence-backed reason</a:t>
            </a:r>
            <a:endParaRPr lang="en-US" sz="1300" dirty="0"/>
          </a:p>
        </p:txBody>
      </p:sp>
      <p:sp>
        <p:nvSpPr>
          <p:cNvPr id="17" name="card"/>
          <p:cNvSpPr/>
          <p:nvPr/>
        </p:nvSpPr>
        <p:spPr>
          <a:xfrm>
            <a:off x="6583680" y="4023360"/>
            <a:ext cx="5029200" cy="621792"/>
          </a:xfrm>
          <a:prstGeom prst="roundRect">
            <a:avLst>
              <a:gd name="adj" fmla="val 14706"/>
            </a:avLst>
          </a:prstGeom>
          <a:solidFill>
            <a:schemeClr val="tx2"/>
          </a:solidFill>
          <a:ln w="12700">
            <a:solidFill>
              <a:schemeClr val="accent2">
                <a:alpha val="38000"/>
              </a:schemeClr>
            </a:solidFill>
            <a:prstDash val="solid"/>
          </a:ln>
        </p:spPr>
      </p:sp>
      <p:pic>
        <p:nvPicPr>
          <p:cNvPr id="18" name="check" descr="preencoded.png">    </p:cNvPr>
          <p:cNvPicPr>
            <a:picLocks noChangeAspect="1"/>
          </p:cNvPicPr>
          <p:nvPr/>
        </p:nvPicPr>
        <p:blipFill>
          <a:blip r:embed="rId4"/>
          <a:stretch>
            <a:fillRect/>
          </a:stretch>
        </p:blipFill>
        <p:spPr>
          <a:xfrm>
            <a:off x="6766560" y="4178808"/>
            <a:ext cx="310896" cy="310896"/>
          </a:xfrm>
          <a:prstGeom prst="rect">
            <a:avLst/>
          </a:prstGeom>
        </p:spPr>
      </p:pic>
      <p:sp>
        <p:nvSpPr>
          <p:cNvPr id="19" name="Text 13"/>
          <p:cNvSpPr txBox="1"/>
          <p:nvPr/>
        </p:nvSpPr>
        <p:spPr>
          <a:xfrm>
            <a:off x="7269480" y="4023360"/>
            <a:ext cx="4206240" cy="621792"/>
          </a:xfrm>
          <a:prstGeom prst="rect">
            <a:avLst/>
          </a:prstGeom>
          <a:noFill/>
          <a:ln/>
        </p:spPr>
        <p:txBody>
          <a:bodyPr wrap="square" lIns="0" tIns="0" rIns="0" bIns="0" rtlCol="0" anchor="ctr"/>
          <a:lstStyle/>
          <a:p>
            <a:pPr indent="0" marL="0">
              <a:buNone/>
            </a:pPr>
            <a:r>
              <a:rPr lang="en-US" sz="1300" dirty="0">
                <a:solidFill>
                  <a:schemeClr val="bg2"/>
                </a:solidFill>
              </a:rPr>
              <a:t>Negative tests confirm the prohibited action is blocked</a:t>
            </a:r>
            <a:endParaRPr lang="en-US" sz="1300" dirty="0"/>
          </a:p>
        </p:txBody>
      </p:sp>
      <p:sp>
        <p:nvSpPr>
          <p:cNvPr id="20" name="card"/>
          <p:cNvSpPr/>
          <p:nvPr/>
        </p:nvSpPr>
        <p:spPr>
          <a:xfrm>
            <a:off x="6583680" y="4754880"/>
            <a:ext cx="5029200" cy="621792"/>
          </a:xfrm>
          <a:prstGeom prst="roundRect">
            <a:avLst>
              <a:gd name="adj" fmla="val 14706"/>
            </a:avLst>
          </a:prstGeom>
          <a:solidFill>
            <a:schemeClr val="tx2"/>
          </a:solidFill>
          <a:ln w="12700">
            <a:solidFill>
              <a:schemeClr val="accent2">
                <a:alpha val="38000"/>
              </a:schemeClr>
            </a:solidFill>
            <a:prstDash val="solid"/>
          </a:ln>
        </p:spPr>
      </p:sp>
      <p:pic>
        <p:nvPicPr>
          <p:cNvPr id="21" name="check" descr="preencoded.png">    </p:cNvPr>
          <p:cNvPicPr>
            <a:picLocks noChangeAspect="1"/>
          </p:cNvPicPr>
          <p:nvPr/>
        </p:nvPicPr>
        <p:blipFill>
          <a:blip r:embed="rId5"/>
          <a:stretch>
            <a:fillRect/>
          </a:stretch>
        </p:blipFill>
        <p:spPr>
          <a:xfrm>
            <a:off x="6766560" y="4910328"/>
            <a:ext cx="310896" cy="310896"/>
          </a:xfrm>
          <a:prstGeom prst="rect">
            <a:avLst/>
          </a:prstGeom>
        </p:spPr>
      </p:pic>
      <p:sp>
        <p:nvSpPr>
          <p:cNvPr id="22" name="Text 15"/>
          <p:cNvSpPr txBox="1"/>
          <p:nvPr/>
        </p:nvSpPr>
        <p:spPr>
          <a:xfrm>
            <a:off x="7269480" y="4754880"/>
            <a:ext cx="4206240" cy="621792"/>
          </a:xfrm>
          <a:prstGeom prst="rect">
            <a:avLst/>
          </a:prstGeom>
          <a:noFill/>
          <a:ln/>
        </p:spPr>
        <p:txBody>
          <a:bodyPr wrap="square" lIns="0" tIns="0" rIns="0" bIns="0" rtlCol="0" anchor="ctr"/>
          <a:lstStyle/>
          <a:p>
            <a:pPr indent="0" marL="0">
              <a:buNone/>
            </a:pPr>
            <a:r>
              <a:rPr lang="en-US" sz="1300" dirty="0">
                <a:solidFill>
                  <a:schemeClr val="bg2"/>
                </a:solidFill>
              </a:rPr>
              <a:t>Positive tests confirm legitimate operations still work</a:t>
            </a:r>
            <a:endParaRPr lang="en-US" sz="1300" dirty="0"/>
          </a:p>
        </p:txBody>
      </p:sp>
      <p:sp>
        <p:nvSpPr>
          <p:cNvPr id="23" name="card"/>
          <p:cNvSpPr/>
          <p:nvPr/>
        </p:nvSpPr>
        <p:spPr>
          <a:xfrm>
            <a:off x="6583680" y="5486400"/>
            <a:ext cx="5029200" cy="621792"/>
          </a:xfrm>
          <a:prstGeom prst="roundRect">
            <a:avLst>
              <a:gd name="adj" fmla="val 14706"/>
            </a:avLst>
          </a:prstGeom>
          <a:solidFill>
            <a:schemeClr val="tx2"/>
          </a:solidFill>
          <a:ln w="12700">
            <a:solidFill>
              <a:schemeClr val="accent2">
                <a:alpha val="38000"/>
              </a:schemeClr>
            </a:solidFill>
            <a:prstDash val="solid"/>
          </a:ln>
        </p:spPr>
      </p:sp>
      <p:pic>
        <p:nvPicPr>
          <p:cNvPr id="24" name="check" descr="preencoded.png">    </p:cNvPr>
          <p:cNvPicPr>
            <a:picLocks noChangeAspect="1"/>
          </p:cNvPicPr>
          <p:nvPr/>
        </p:nvPicPr>
        <p:blipFill>
          <a:blip r:embed="rId6"/>
          <a:stretch>
            <a:fillRect/>
          </a:stretch>
        </p:blipFill>
        <p:spPr>
          <a:xfrm>
            <a:off x="6766560" y="5641848"/>
            <a:ext cx="310896" cy="310896"/>
          </a:xfrm>
          <a:prstGeom prst="rect">
            <a:avLst/>
          </a:prstGeom>
        </p:spPr>
      </p:pic>
      <p:sp>
        <p:nvSpPr>
          <p:cNvPr id="25" name="Text 17"/>
          <p:cNvSpPr txBox="1"/>
          <p:nvPr/>
        </p:nvSpPr>
        <p:spPr>
          <a:xfrm>
            <a:off x="7269480" y="5486400"/>
            <a:ext cx="4206240" cy="621792"/>
          </a:xfrm>
          <a:prstGeom prst="rect">
            <a:avLst/>
          </a:prstGeom>
          <a:noFill/>
          <a:ln/>
        </p:spPr>
        <p:txBody>
          <a:bodyPr wrap="square" lIns="0" tIns="0" rIns="0" bIns="0" rtlCol="0" anchor="ctr"/>
          <a:lstStyle/>
          <a:p>
            <a:pPr indent="0" marL="0">
              <a:buNone/>
            </a:pPr>
            <a:r>
              <a:rPr lang="en-US" sz="1300" dirty="0">
                <a:solidFill>
                  <a:schemeClr val="bg2"/>
                </a:solidFill>
              </a:rPr>
              <a:t>Result links to commit, CI run, policy version and evidence</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12 · GITHUB &amp; CI/CD INTEGRATION</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Read by default, write only after explicit approval</a:t>
            </a:r>
            <a:endParaRPr lang="en-US" sz="3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743200"/>
                <a:gridCol w="4206240"/>
                <a:gridCol w="4114800"/>
              </a:tblGrid>
              <a:tr h="621792">
                <a:tc>
                  <a:txBody>
                    <a:bodyPr/>
                    <a:lstStyle/>
                    <a:p>
                      <a:pPr indent="0" marL="0">
                        <a:buNone/>
                      </a:pPr>
                      <a:r>
                        <a:rPr lang="en-US" sz="1300" b="1" dirty="0">
                          <a:solidFill>
                            <a:schemeClr val="accent1"/>
                          </a:solidFill>
                        </a:rPr>
                        <a:t>Capability</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300" b="1" dirty="0">
                          <a:solidFill>
                            <a:schemeClr val="accent1"/>
                          </a:solidFill>
                        </a:rPr>
                        <a:t>MVP behavior</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300" b="1" dirty="0">
                          <a:solidFill>
                            <a:schemeClr val="accent1"/>
                          </a:solidFill>
                        </a:rPr>
                        <a:t>Guardrail</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621792">
                <a:tc>
                  <a:txBody>
                    <a:bodyPr/>
                    <a:lstStyle/>
                    <a:p>
                      <a:pPr indent="0" marL="0">
                        <a:buNone/>
                      </a:pPr>
                      <a:r>
                        <a:rPr lang="en-US" sz="1300" b="1" dirty="0">
                          <a:solidFill>
                            <a:schemeClr val="bg1"/>
                          </a:solidFill>
                        </a:rPr>
                        <a:t>Repository metadata</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List selected repos, default branch and relevant file paths</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Explicit repository selection and tenant mapping</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621792">
                <a:tc>
                  <a:txBody>
                    <a:bodyPr/>
                    <a:lstStyle/>
                    <a:p>
                      <a:pPr indent="0" marL="0">
                        <a:buNone/>
                      </a:pPr>
                      <a:r>
                        <a:rPr lang="en-US" sz="1300" b="1" dirty="0">
                          <a:solidFill>
                            <a:schemeClr val="bg1"/>
                          </a:solidFill>
                        </a:rPr>
                        <a:t>Workflow configuration</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Read .github/workflows files and permissions</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Never execute repository code during ingestion</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621792">
                <a:tc>
                  <a:txBody>
                    <a:bodyPr/>
                    <a:lstStyle/>
                    <a:p>
                      <a:pPr indent="0" marL="0">
                        <a:buNone/>
                      </a:pPr>
                      <a:r>
                        <a:rPr lang="en-US" sz="1300" b="1" dirty="0">
                          <a:solidFill>
                            <a:schemeClr val="bg1"/>
                          </a:solidFill>
                        </a:rPr>
                        <a:t>Security / scanner artifacts</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Import supported results; map records to graph entities</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Validate format and source; record scanner version</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621792">
                <a:tc>
                  <a:txBody>
                    <a:bodyPr/>
                    <a:lstStyle/>
                    <a:p>
                      <a:pPr indent="0" marL="0">
                        <a:buNone/>
                      </a:pPr>
                      <a:r>
                        <a:rPr lang="en-US" sz="1300" b="1" dirty="0">
                          <a:solidFill>
                            <a:schemeClr val="bg1"/>
                          </a:solidFill>
                        </a:rPr>
                        <a:t>Push / PR webhooks</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Queue targeted graph updates when relevant files change</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Verify signature, deduplicate, handle replay</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621792">
                <a:tc>
                  <a:txBody>
                    <a:bodyPr/>
                    <a:lstStyle/>
                    <a:p>
                      <a:pPr indent="0" marL="0">
                        <a:buNone/>
                      </a:pPr>
                      <a:r>
                        <a:rPr lang="en-US" sz="1300" b="1" dirty="0">
                          <a:solidFill>
                            <a:schemeClr val="bg1"/>
                          </a:solidFill>
                        </a:rPr>
                        <a:t>Pull request creation</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Open a proposed-fix branch and PR after approval</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No auto-merge in MVP; show diff and test status</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621792">
                <a:tc>
                  <a:txBody>
                    <a:bodyPr/>
                    <a:lstStyle/>
                    <a:p>
                      <a:pPr indent="0" marL="0">
                        <a:buNone/>
                      </a:pPr>
                      <a:r>
                        <a:rPr lang="en-US" sz="1300" b="1" dirty="0">
                          <a:solidFill>
                            <a:schemeClr val="bg1"/>
                          </a:solidFill>
                        </a:rPr>
                        <a:t>CI status</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Post or read verification status where configured</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Least privilege; unverified results never pass</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SUGGESTED CI PIPELINE</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Ten steps from checkout to verified merge</a:t>
            </a:r>
            <a:endParaRPr lang="en-US" sz="3200" dirty="0"/>
          </a:p>
        </p:txBody>
      </p:sp>
      <p:sp>
        <p:nvSpPr>
          <p:cNvPr id="4" name="step"/>
          <p:cNvSpPr/>
          <p:nvPr/>
        </p:nvSpPr>
        <p:spPr>
          <a:xfrm>
            <a:off x="548640" y="1682496"/>
            <a:ext cx="502920" cy="502920"/>
          </a:xfrm>
          <a:prstGeom prst="ellipse">
            <a:avLst/>
          </a:prstGeom>
          <a:solidFill>
            <a:schemeClr val="tx2"/>
          </a:solidFill>
          <a:ln w="22225">
            <a:solidFill>
              <a:schemeClr val="accent1"/>
            </a:solidFill>
            <a:prstDash val="solid"/>
          </a:ln>
        </p:spPr>
      </p:sp>
      <p:sp>
        <p:nvSpPr>
          <p:cNvPr id="5" name="Text 3"/>
          <p:cNvSpPr txBox="1"/>
          <p:nvPr/>
        </p:nvSpPr>
        <p:spPr>
          <a:xfrm>
            <a:off x="548640" y="1682496"/>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188720" y="1618488"/>
            <a:ext cx="2697480" cy="640080"/>
          </a:xfrm>
          <a:prstGeom prst="rect">
            <a:avLst/>
          </a:prstGeom>
          <a:noFill/>
          <a:ln/>
        </p:spPr>
        <p:txBody>
          <a:bodyPr wrap="square" lIns="0" tIns="0" rIns="0" bIns="0" rtlCol="0" anchor="ctr"/>
          <a:lstStyle/>
          <a:p>
            <a:pPr indent="0" marL="0">
              <a:buNone/>
            </a:pPr>
            <a:r>
              <a:rPr lang="en-US" sz="1300" dirty="0">
                <a:solidFill>
                  <a:schemeClr val="bg2"/>
                </a:solidFill>
              </a:rPr>
              <a:t>Checkout repo (trusted runner)</a:t>
            </a:r>
            <a:endParaRPr lang="en-US" sz="1300" dirty="0"/>
          </a:p>
        </p:txBody>
      </p:sp>
      <p:sp>
        <p:nvSpPr>
          <p:cNvPr id="7" name="step"/>
          <p:cNvSpPr/>
          <p:nvPr/>
        </p:nvSpPr>
        <p:spPr>
          <a:xfrm>
            <a:off x="548640" y="2578608"/>
            <a:ext cx="502920" cy="502920"/>
          </a:xfrm>
          <a:prstGeom prst="ellipse">
            <a:avLst/>
          </a:prstGeom>
          <a:solidFill>
            <a:schemeClr val="tx2"/>
          </a:solidFill>
          <a:ln w="22225">
            <a:solidFill>
              <a:schemeClr val="accent1"/>
            </a:solidFill>
            <a:prstDash val="solid"/>
          </a:ln>
        </p:spPr>
      </p:sp>
      <p:sp>
        <p:nvSpPr>
          <p:cNvPr id="8" name="Text 6"/>
          <p:cNvSpPr txBox="1"/>
          <p:nvPr/>
        </p:nvSpPr>
        <p:spPr>
          <a:xfrm>
            <a:off x="548640" y="2578608"/>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1188720" y="2514600"/>
            <a:ext cx="2697480" cy="640080"/>
          </a:xfrm>
          <a:prstGeom prst="rect">
            <a:avLst/>
          </a:prstGeom>
          <a:noFill/>
          <a:ln/>
        </p:spPr>
        <p:txBody>
          <a:bodyPr wrap="square" lIns="0" tIns="0" rIns="0" bIns="0" rtlCol="0" anchor="ctr"/>
          <a:lstStyle/>
          <a:p>
            <a:pPr indent="0" marL="0">
              <a:buNone/>
            </a:pPr>
            <a:r>
              <a:rPr lang="en-US" sz="1300" dirty="0">
                <a:solidFill>
                  <a:schemeClr val="bg2"/>
                </a:solidFill>
              </a:rPr>
              <a:t>Validate workflow / agent config</a:t>
            </a:r>
            <a:endParaRPr lang="en-US" sz="1300" dirty="0"/>
          </a:p>
        </p:txBody>
      </p:sp>
      <p:sp>
        <p:nvSpPr>
          <p:cNvPr id="10" name="step"/>
          <p:cNvSpPr/>
          <p:nvPr/>
        </p:nvSpPr>
        <p:spPr>
          <a:xfrm>
            <a:off x="548640" y="3474720"/>
            <a:ext cx="502920" cy="502920"/>
          </a:xfrm>
          <a:prstGeom prst="ellipse">
            <a:avLst/>
          </a:prstGeom>
          <a:solidFill>
            <a:schemeClr val="tx2"/>
          </a:solidFill>
          <a:ln w="22225">
            <a:solidFill>
              <a:schemeClr val="accent1"/>
            </a:solidFill>
            <a:prstDash val="solid"/>
          </a:ln>
        </p:spPr>
      </p:sp>
      <p:sp>
        <p:nvSpPr>
          <p:cNvPr id="11" name="Text 9"/>
          <p:cNvSpPr txBox="1"/>
          <p:nvPr/>
        </p:nvSpPr>
        <p:spPr>
          <a:xfrm>
            <a:off x="548640" y="347472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10"/>
          <p:cNvSpPr txBox="1"/>
          <p:nvPr/>
        </p:nvSpPr>
        <p:spPr>
          <a:xfrm>
            <a:off x="1188720" y="3410712"/>
            <a:ext cx="2697480" cy="640080"/>
          </a:xfrm>
          <a:prstGeom prst="rect">
            <a:avLst/>
          </a:prstGeom>
          <a:noFill/>
          <a:ln/>
        </p:spPr>
        <p:txBody>
          <a:bodyPr wrap="square" lIns="0" tIns="0" rIns="0" bIns="0" rtlCol="0" anchor="ctr"/>
          <a:lstStyle/>
          <a:p>
            <a:pPr indent="0" marL="0">
              <a:buNone/>
            </a:pPr>
            <a:r>
              <a:rPr lang="en-US" sz="1300" dirty="0">
                <a:solidFill>
                  <a:schemeClr val="bg2"/>
                </a:solidFill>
              </a:rPr>
              <a:t>Run existing SAST, secret and dependency scans</a:t>
            </a:r>
            <a:endParaRPr lang="en-US" sz="1300" dirty="0"/>
          </a:p>
        </p:txBody>
      </p:sp>
      <p:sp>
        <p:nvSpPr>
          <p:cNvPr id="13" name="step"/>
          <p:cNvSpPr/>
          <p:nvPr/>
        </p:nvSpPr>
        <p:spPr>
          <a:xfrm>
            <a:off x="548640" y="4370832"/>
            <a:ext cx="502920" cy="502920"/>
          </a:xfrm>
          <a:prstGeom prst="ellipse">
            <a:avLst/>
          </a:prstGeom>
          <a:solidFill>
            <a:schemeClr val="tx2"/>
          </a:solidFill>
          <a:ln w="22225">
            <a:solidFill>
              <a:schemeClr val="accent1"/>
            </a:solidFill>
            <a:prstDash val="solid"/>
          </a:ln>
        </p:spPr>
      </p:sp>
      <p:sp>
        <p:nvSpPr>
          <p:cNvPr id="14" name="Text 12"/>
          <p:cNvSpPr txBox="1"/>
          <p:nvPr/>
        </p:nvSpPr>
        <p:spPr>
          <a:xfrm>
            <a:off x="548640" y="4370832"/>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 13"/>
          <p:cNvSpPr txBox="1"/>
          <p:nvPr/>
        </p:nvSpPr>
        <p:spPr>
          <a:xfrm>
            <a:off x="1188720" y="4306824"/>
            <a:ext cx="2697480" cy="640080"/>
          </a:xfrm>
          <a:prstGeom prst="rect">
            <a:avLst/>
          </a:prstGeom>
          <a:noFill/>
          <a:ln/>
        </p:spPr>
        <p:txBody>
          <a:bodyPr wrap="square" lIns="0" tIns="0" rIns="0" bIns="0" rtlCol="0" anchor="ctr"/>
          <a:lstStyle/>
          <a:p>
            <a:pPr indent="0" marL="0">
              <a:buNone/>
            </a:pPr>
            <a:r>
              <a:rPr lang="en-US" sz="1300" dirty="0">
                <a:solidFill>
                  <a:schemeClr val="bg2"/>
                </a:solidFill>
              </a:rPr>
              <a:t>Upload normalized findings artifact</a:t>
            </a:r>
            <a:endParaRPr lang="en-US" sz="1300" dirty="0"/>
          </a:p>
        </p:txBody>
      </p:sp>
      <p:sp>
        <p:nvSpPr>
          <p:cNvPr id="16" name="step"/>
          <p:cNvSpPr/>
          <p:nvPr/>
        </p:nvSpPr>
        <p:spPr>
          <a:xfrm>
            <a:off x="548640" y="5266944"/>
            <a:ext cx="502920" cy="502920"/>
          </a:xfrm>
          <a:prstGeom prst="ellipse">
            <a:avLst/>
          </a:prstGeom>
          <a:solidFill>
            <a:schemeClr val="tx2"/>
          </a:solidFill>
          <a:ln w="22225">
            <a:solidFill>
              <a:schemeClr val="accent2"/>
            </a:solidFill>
            <a:prstDash val="solid"/>
          </a:ln>
        </p:spPr>
      </p:sp>
      <p:sp>
        <p:nvSpPr>
          <p:cNvPr id="17" name="Text 15"/>
          <p:cNvSpPr txBox="1"/>
          <p:nvPr/>
        </p:nvSpPr>
        <p:spPr>
          <a:xfrm>
            <a:off x="548640" y="5266944"/>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8" name="Text 16"/>
          <p:cNvSpPr txBox="1"/>
          <p:nvPr/>
        </p:nvSpPr>
        <p:spPr>
          <a:xfrm>
            <a:off x="1188720" y="5202936"/>
            <a:ext cx="2697480" cy="640080"/>
          </a:xfrm>
          <a:prstGeom prst="rect">
            <a:avLst/>
          </a:prstGeom>
          <a:noFill/>
          <a:ln/>
        </p:spPr>
        <p:txBody>
          <a:bodyPr wrap="square" lIns="0" tIns="0" rIns="0" bIns="0" rtlCol="0" anchor="ctr"/>
          <a:lstStyle/>
          <a:p>
            <a:pPr indent="0" marL="0">
              <a:buNone/>
            </a:pPr>
            <a:r>
              <a:rPr lang="en-US" sz="1300" dirty="0">
                <a:solidFill>
                  <a:schemeClr val="bg2"/>
                </a:solidFill>
              </a:rPr>
              <a:t>AgentShield ingestion updates FalkorDB</a:t>
            </a:r>
            <a:endParaRPr lang="en-US" sz="1300" dirty="0"/>
          </a:p>
        </p:txBody>
      </p:sp>
      <p:sp>
        <p:nvSpPr>
          <p:cNvPr id="19" name="step"/>
          <p:cNvSpPr/>
          <p:nvPr/>
        </p:nvSpPr>
        <p:spPr>
          <a:xfrm>
            <a:off x="4069080" y="1682496"/>
            <a:ext cx="502920" cy="502920"/>
          </a:xfrm>
          <a:prstGeom prst="ellipse">
            <a:avLst/>
          </a:prstGeom>
          <a:solidFill>
            <a:schemeClr val="tx2"/>
          </a:solidFill>
          <a:ln w="22225">
            <a:solidFill>
              <a:schemeClr val="accent2"/>
            </a:solidFill>
            <a:prstDash val="solid"/>
          </a:ln>
        </p:spPr>
      </p:sp>
      <p:sp>
        <p:nvSpPr>
          <p:cNvPr id="20" name="Text 18"/>
          <p:cNvSpPr txBox="1"/>
          <p:nvPr/>
        </p:nvSpPr>
        <p:spPr>
          <a:xfrm>
            <a:off x="4069080" y="1682496"/>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1" name="Text 19"/>
          <p:cNvSpPr txBox="1"/>
          <p:nvPr/>
        </p:nvSpPr>
        <p:spPr>
          <a:xfrm>
            <a:off x="4709160" y="1618488"/>
            <a:ext cx="2697480" cy="640080"/>
          </a:xfrm>
          <a:prstGeom prst="rect">
            <a:avLst/>
          </a:prstGeom>
          <a:noFill/>
          <a:ln/>
        </p:spPr>
        <p:txBody>
          <a:bodyPr wrap="square" lIns="0" tIns="0" rIns="0" bIns="0" rtlCol="0" anchor="ctr"/>
          <a:lstStyle/>
          <a:p>
            <a:pPr indent="0" marL="0">
              <a:buNone/>
            </a:pPr>
            <a:r>
              <a:rPr lang="en-US" sz="1300" dirty="0">
                <a:solidFill>
                  <a:schemeClr val="bg2"/>
                </a:solidFill>
              </a:rPr>
              <a:t>Graph investigation on changed entities</a:t>
            </a:r>
            <a:endParaRPr lang="en-US" sz="1300" dirty="0"/>
          </a:p>
        </p:txBody>
      </p:sp>
      <p:sp>
        <p:nvSpPr>
          <p:cNvPr id="22" name="step"/>
          <p:cNvSpPr/>
          <p:nvPr/>
        </p:nvSpPr>
        <p:spPr>
          <a:xfrm>
            <a:off x="4069080" y="2578608"/>
            <a:ext cx="502920" cy="502920"/>
          </a:xfrm>
          <a:prstGeom prst="ellipse">
            <a:avLst/>
          </a:prstGeom>
          <a:solidFill>
            <a:schemeClr val="tx2"/>
          </a:solidFill>
          <a:ln w="22225">
            <a:solidFill>
              <a:schemeClr val="accent1"/>
            </a:solidFill>
            <a:prstDash val="solid"/>
          </a:ln>
        </p:spPr>
      </p:sp>
      <p:sp>
        <p:nvSpPr>
          <p:cNvPr id="23" name="Text 21"/>
          <p:cNvSpPr txBox="1"/>
          <p:nvPr/>
        </p:nvSpPr>
        <p:spPr>
          <a:xfrm>
            <a:off x="4069080" y="2578608"/>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24" name="Text 22"/>
          <p:cNvSpPr txBox="1"/>
          <p:nvPr/>
        </p:nvSpPr>
        <p:spPr>
          <a:xfrm>
            <a:off x="4709160" y="2514600"/>
            <a:ext cx="2697480" cy="640080"/>
          </a:xfrm>
          <a:prstGeom prst="rect">
            <a:avLst/>
          </a:prstGeom>
          <a:noFill/>
          <a:ln/>
        </p:spPr>
        <p:txBody>
          <a:bodyPr wrap="square" lIns="0" tIns="0" rIns="0" bIns="0" rtlCol="0" anchor="ctr"/>
          <a:lstStyle/>
          <a:p>
            <a:pPr indent="0" marL="0">
              <a:buNone/>
            </a:pPr>
            <a:r>
              <a:rPr lang="en-US" sz="1300" dirty="0">
                <a:solidFill>
                  <a:schemeClr val="bg2"/>
                </a:solidFill>
              </a:rPr>
              <a:t>Deterministic risk policy evaluates</a:t>
            </a:r>
            <a:endParaRPr lang="en-US" sz="1300" dirty="0"/>
          </a:p>
        </p:txBody>
      </p:sp>
      <p:sp>
        <p:nvSpPr>
          <p:cNvPr id="25" name="step"/>
          <p:cNvSpPr/>
          <p:nvPr/>
        </p:nvSpPr>
        <p:spPr>
          <a:xfrm>
            <a:off x="4069080" y="3474720"/>
            <a:ext cx="502920" cy="502920"/>
          </a:xfrm>
          <a:prstGeom prst="ellipse">
            <a:avLst/>
          </a:prstGeom>
          <a:solidFill>
            <a:schemeClr val="tx2"/>
          </a:solidFill>
          <a:ln w="22225">
            <a:solidFill>
              <a:schemeClr val="accent1"/>
            </a:solidFill>
            <a:prstDash val="solid"/>
          </a:ln>
        </p:spPr>
      </p:sp>
      <p:sp>
        <p:nvSpPr>
          <p:cNvPr id="26" name="Text 24"/>
          <p:cNvSpPr txBox="1"/>
          <p:nvPr/>
        </p:nvSpPr>
        <p:spPr>
          <a:xfrm>
            <a:off x="4069080" y="347472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27" name="Text 25"/>
          <p:cNvSpPr txBox="1"/>
          <p:nvPr/>
        </p:nvSpPr>
        <p:spPr>
          <a:xfrm>
            <a:off x="4709160" y="3410712"/>
            <a:ext cx="2697480" cy="640080"/>
          </a:xfrm>
          <a:prstGeom prst="rect">
            <a:avLst/>
          </a:prstGeom>
          <a:noFill/>
          <a:ln/>
        </p:spPr>
        <p:txBody>
          <a:bodyPr wrap="square" lIns="0" tIns="0" rIns="0" bIns="0" rtlCol="0" anchor="ctr"/>
          <a:lstStyle/>
          <a:p>
            <a:pPr indent="0" marL="0">
              <a:buNone/>
            </a:pPr>
            <a:r>
              <a:rPr lang="en-US" sz="1300" dirty="0">
                <a:solidFill>
                  <a:schemeClr val="bg2"/>
                </a:solidFill>
              </a:rPr>
              <a:t>CI reports findings and evidence links</a:t>
            </a:r>
            <a:endParaRPr lang="en-US" sz="1300" dirty="0"/>
          </a:p>
        </p:txBody>
      </p:sp>
      <p:sp>
        <p:nvSpPr>
          <p:cNvPr id="28" name="step"/>
          <p:cNvSpPr/>
          <p:nvPr/>
        </p:nvSpPr>
        <p:spPr>
          <a:xfrm>
            <a:off x="4069080" y="4370832"/>
            <a:ext cx="502920" cy="502920"/>
          </a:xfrm>
          <a:prstGeom prst="ellipse">
            <a:avLst/>
          </a:prstGeom>
          <a:solidFill>
            <a:schemeClr val="tx2"/>
          </a:solidFill>
          <a:ln w="22225">
            <a:solidFill>
              <a:schemeClr val="accent1"/>
            </a:solidFill>
            <a:prstDash val="solid"/>
          </a:ln>
        </p:spPr>
      </p:sp>
      <p:sp>
        <p:nvSpPr>
          <p:cNvPr id="29" name="Text 27"/>
          <p:cNvSpPr txBox="1"/>
          <p:nvPr/>
        </p:nvSpPr>
        <p:spPr>
          <a:xfrm>
            <a:off x="4069080" y="4370832"/>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30" name="Text 28"/>
          <p:cNvSpPr txBox="1"/>
          <p:nvPr/>
        </p:nvSpPr>
        <p:spPr>
          <a:xfrm>
            <a:off x="4709160" y="4306824"/>
            <a:ext cx="2697480" cy="640080"/>
          </a:xfrm>
          <a:prstGeom prst="rect">
            <a:avLst/>
          </a:prstGeom>
          <a:noFill/>
          <a:ln/>
        </p:spPr>
        <p:txBody>
          <a:bodyPr wrap="square" lIns="0" tIns="0" rIns="0" bIns="0" rtlCol="0" anchor="ctr"/>
          <a:lstStyle/>
          <a:p>
            <a:pPr indent="0" marL="0">
              <a:buNone/>
            </a:pPr>
            <a:r>
              <a:rPr lang="en-US" sz="1300" dirty="0">
                <a:solidFill>
                  <a:schemeClr val="bg2"/>
                </a:solidFill>
              </a:rPr>
              <a:t>Optional: open remediation PR (never silent)</a:t>
            </a:r>
            <a:endParaRPr lang="en-US" sz="1300" dirty="0"/>
          </a:p>
        </p:txBody>
      </p:sp>
      <p:sp>
        <p:nvSpPr>
          <p:cNvPr id="31" name="step"/>
          <p:cNvSpPr/>
          <p:nvPr/>
        </p:nvSpPr>
        <p:spPr>
          <a:xfrm>
            <a:off x="4069080" y="5266944"/>
            <a:ext cx="502920" cy="502920"/>
          </a:xfrm>
          <a:prstGeom prst="ellipse">
            <a:avLst/>
          </a:prstGeom>
          <a:solidFill>
            <a:schemeClr val="tx2"/>
          </a:solidFill>
          <a:ln w="22225">
            <a:solidFill>
              <a:schemeClr val="accent5"/>
            </a:solidFill>
            <a:prstDash val="solid"/>
          </a:ln>
        </p:spPr>
      </p:sp>
      <p:sp>
        <p:nvSpPr>
          <p:cNvPr id="32" name="Text 30"/>
          <p:cNvSpPr txBox="1"/>
          <p:nvPr/>
        </p:nvSpPr>
        <p:spPr>
          <a:xfrm>
            <a:off x="4069080" y="5266944"/>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33" name="Text 31"/>
          <p:cNvSpPr txBox="1"/>
          <p:nvPr/>
        </p:nvSpPr>
        <p:spPr>
          <a:xfrm>
            <a:off x="4709160" y="5202936"/>
            <a:ext cx="2697480" cy="640080"/>
          </a:xfrm>
          <a:prstGeom prst="rect">
            <a:avLst/>
          </a:prstGeom>
          <a:noFill/>
          <a:ln/>
        </p:spPr>
        <p:txBody>
          <a:bodyPr wrap="square" lIns="0" tIns="0" rIns="0" bIns="0" rtlCol="0" anchor="ctr"/>
          <a:lstStyle/>
          <a:p>
            <a:pPr indent="0" marL="0">
              <a:buNone/>
            </a:pPr>
            <a:r>
              <a:rPr lang="en-US" sz="1300" dirty="0">
                <a:solidFill>
                  <a:schemeClr val="bg2"/>
                </a:solidFill>
              </a:rPr>
              <a:t>On merge: rerun checks and verify</a:t>
            </a:r>
            <a:endParaRPr lang="en-US" sz="1300" dirty="0"/>
          </a:p>
        </p:txBody>
      </p:sp>
      <p:sp>
        <p:nvSpPr>
          <p:cNvPr id="34" name="card"/>
          <p:cNvSpPr/>
          <p:nvPr/>
        </p:nvSpPr>
        <p:spPr>
          <a:xfrm>
            <a:off x="7772400" y="1572768"/>
            <a:ext cx="3840480" cy="2148840"/>
          </a:xfrm>
          <a:prstGeom prst="roundRect">
            <a:avLst>
              <a:gd name="adj" fmla="val 4255"/>
            </a:avLst>
          </a:prstGeom>
          <a:solidFill>
            <a:schemeClr val="tx2"/>
          </a:solidFill>
          <a:ln w="12700">
            <a:solidFill>
              <a:schemeClr val="accent2">
                <a:alpha val="38000"/>
              </a:schemeClr>
            </a:solidFill>
            <a:prstDash val="solid"/>
          </a:ln>
        </p:spPr>
      </p:sp>
      <p:sp>
        <p:nvSpPr>
          <p:cNvPr id="35" name="Text 33"/>
          <p:cNvSpPr txBox="1"/>
          <p:nvPr/>
        </p:nvSpPr>
        <p:spPr>
          <a:xfrm>
            <a:off x="8001000" y="1737360"/>
            <a:ext cx="3474720" cy="320040"/>
          </a:xfrm>
          <a:prstGeom prst="rect">
            <a:avLst/>
          </a:prstGeom>
          <a:noFill/>
          <a:ln/>
        </p:spPr>
        <p:txBody>
          <a:bodyPr wrap="square" lIns="0" tIns="0" rIns="0" bIns="0" rtlCol="0" anchor="t"/>
          <a:lstStyle/>
          <a:p>
            <a:pPr indent="0" marL="0">
              <a:buNone/>
            </a:pPr>
            <a:r>
              <a:rPr lang="en-US" sz="1500" b="1" dirty="0">
                <a:solidFill>
                  <a:schemeClr val="accent2"/>
                </a:solidFill>
              </a:rPr>
              <a:t>Incremental updates</a:t>
            </a:r>
            <a:endParaRPr lang="en-US" sz="1500" dirty="0"/>
          </a:p>
        </p:txBody>
      </p:sp>
      <p:sp>
        <p:nvSpPr>
          <p:cNvPr id="36" name="Text 34"/>
          <p:cNvSpPr txBox="1"/>
          <p:nvPr/>
        </p:nvSpPr>
        <p:spPr>
          <a:xfrm>
            <a:off x="8001000" y="2103120"/>
            <a:ext cx="3429000" cy="1508760"/>
          </a:xfrm>
          <a:prstGeom prst="rect">
            <a:avLst/>
          </a:prstGeom>
          <a:noFill/>
          <a:ln/>
        </p:spPr>
        <p:txBody>
          <a:bodyPr wrap="square" lIns="0" tIns="0" rIns="0" bIns="0" rtlCol="0" anchor="t"/>
          <a:lstStyle/>
          <a:p>
            <a:pPr indent="0" marL="0">
              <a:buNone/>
            </a:pPr>
            <a:r>
              <a:rPr lang="en-US" sz="1200" dirty="0">
                <a:solidFill>
                  <a:schemeClr val="bg2"/>
                </a:solidFill>
              </a:rPr>
              <a:t>Update only changed graph regions on webhook events. Keep the commit SHA and snapshot per scan; recompute paths touched by changed nodes, policy or advisory data.</a:t>
            </a:r>
            <a:endParaRPr lang="en-US" sz="1200" dirty="0"/>
          </a:p>
        </p:txBody>
      </p:sp>
      <p:sp>
        <p:nvSpPr>
          <p:cNvPr id="37" name="card"/>
          <p:cNvSpPr/>
          <p:nvPr/>
        </p:nvSpPr>
        <p:spPr>
          <a:xfrm>
            <a:off x="7772400" y="3886200"/>
            <a:ext cx="3840480" cy="2286000"/>
          </a:xfrm>
          <a:prstGeom prst="roundRect">
            <a:avLst>
              <a:gd name="adj" fmla="val 4000"/>
            </a:avLst>
          </a:prstGeom>
          <a:solidFill>
            <a:schemeClr val="tx2"/>
          </a:solidFill>
          <a:ln w="12700">
            <a:solidFill>
              <a:schemeClr val="accent3">
                <a:alpha val="55000"/>
              </a:schemeClr>
            </a:solidFill>
            <a:prstDash val="solid"/>
          </a:ln>
        </p:spPr>
      </p:sp>
      <p:sp>
        <p:nvSpPr>
          <p:cNvPr id="38" name="Text 36"/>
          <p:cNvSpPr txBox="1"/>
          <p:nvPr/>
        </p:nvSpPr>
        <p:spPr>
          <a:xfrm>
            <a:off x="8001000" y="4041648"/>
            <a:ext cx="3474720" cy="320040"/>
          </a:xfrm>
          <a:prstGeom prst="rect">
            <a:avLst/>
          </a:prstGeom>
          <a:noFill/>
          <a:ln/>
        </p:spPr>
        <p:txBody>
          <a:bodyPr wrap="square" lIns="0" tIns="0" rIns="0" bIns="0" rtlCol="0" anchor="t"/>
          <a:lstStyle/>
          <a:p>
            <a:pPr indent="0" marL="0">
              <a:buNone/>
            </a:pPr>
            <a:r>
              <a:rPr lang="en-US" sz="1500" b="1" dirty="0">
                <a:solidFill>
                  <a:schemeClr val="accent3"/>
                </a:solidFill>
              </a:rPr>
              <a:t>Failure behavior</a:t>
            </a:r>
            <a:endParaRPr lang="en-US" sz="1500" dirty="0"/>
          </a:p>
        </p:txBody>
      </p:sp>
      <p:sp>
        <p:nvSpPr>
          <p:cNvPr id="39" name="Text 37"/>
          <p:cNvSpPr txBox="1"/>
          <p:nvPr/>
        </p:nvSpPr>
        <p:spPr>
          <a:xfrm>
            <a:off x="8001000" y="4434840"/>
            <a:ext cx="3474720" cy="164592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bg2"/>
                </a:solidFill>
              </a:rPr>
              <a:t>Show integration health and last sync</a:t>
            </a:r>
            <a:endParaRPr lang="en-US" sz="1200" dirty="0"/>
          </a:p>
          <a:p>
            <a:pPr marL="177800" indent="-177800">
              <a:spcAft>
                <a:spcPts val="400"/>
              </a:spcAft>
              <a:buSzPct val="100000"/>
              <a:buChar char="•"/>
            </a:pPr>
            <a:r>
              <a:rPr lang="en-US" sz="1200" dirty="0">
                <a:solidFill>
                  <a:schemeClr val="bg2"/>
                </a:solidFill>
              </a:rPr>
              <a:t>Mark stale graph data clearly</a:t>
            </a:r>
            <a:endParaRPr lang="en-US" sz="1200" dirty="0"/>
          </a:p>
          <a:p>
            <a:pPr marL="177800" indent="-177800">
              <a:spcAft>
                <a:spcPts val="400"/>
              </a:spcAft>
              <a:buSzPct val="100000"/>
              <a:buChar char="•"/>
            </a:pPr>
            <a:r>
              <a:rPr lang="en-US" sz="1200" dirty="0">
                <a:solidFill>
                  <a:schemeClr val="bg2"/>
                </a:solidFill>
              </a:rPr>
              <a:t>Bounded retries and dead-letter handling</a:t>
            </a:r>
            <a:endParaRPr lang="en-US" sz="1200" dirty="0"/>
          </a:p>
          <a:p>
            <a:pPr marL="177800" indent="-177800">
              <a:spcAft>
                <a:spcPts val="400"/>
              </a:spcAft>
              <a:buSzPct val="100000"/>
              <a:buChar char="•"/>
            </a:pPr>
            <a:r>
              <a:rPr lang="en-US" sz="1200" dirty="0">
                <a:solidFill>
                  <a:schemeClr val="bg2"/>
                </a:solidFill>
              </a:rPr>
              <a:t>Never silently fail open on enforced controls</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13 · SECURING AGENTSHIELD ITSELF</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A security product must meet its own bar</a:t>
            </a:r>
            <a:endParaRPr lang="en-US" sz="3200" dirty="0"/>
          </a:p>
        </p:txBody>
      </p:sp>
      <p:sp>
        <p:nvSpPr>
          <p:cNvPr id="4" name="card"/>
          <p:cNvSpPr/>
          <p:nvPr/>
        </p:nvSpPr>
        <p:spPr>
          <a:xfrm>
            <a:off x="548640" y="1572768"/>
            <a:ext cx="3566160" cy="2148840"/>
          </a:xfrm>
          <a:prstGeom prst="roundRect">
            <a:avLst>
              <a:gd name="adj" fmla="val 4255"/>
            </a:avLst>
          </a:prstGeom>
          <a:solidFill>
            <a:schemeClr val="tx2"/>
          </a:solidFill>
          <a:ln w="12700">
            <a:solidFill>
              <a:schemeClr val="accent2">
                <a:alpha val="38000"/>
              </a:schemeClr>
            </a:solidFill>
            <a:prstDash val="solid"/>
          </a:ln>
        </p:spPr>
      </p:sp>
      <p:sp>
        <p:nvSpPr>
          <p:cNvPr id="5" name="icon tile"/>
          <p:cNvSpPr/>
          <p:nvPr/>
        </p:nvSpPr>
        <p:spPr>
          <a:xfrm>
            <a:off x="804672" y="1828800"/>
            <a:ext cx="548640" cy="548640"/>
          </a:xfrm>
          <a:prstGeom prst="roundRect">
            <a:avLst>
              <a:gd name="adj" fmla="val 22000"/>
            </a:avLst>
          </a:prstGeom>
          <a:solidFill>
            <a:schemeClr val="accent1">
              <a:alpha val="20000"/>
            </a:schemeClr>
          </a:solidFill>
          <a:ln w="9525">
            <a:solidFill>
              <a:schemeClr val="accent1">
                <a:alpha val="55000"/>
              </a:schemeClr>
            </a:solidFill>
            <a:prstDash val="solid"/>
          </a:ln>
        </p:spPr>
      </p:sp>
      <p:pic>
        <p:nvPicPr>
          <p:cNvPr id="6" name="icon" descr="preencoded.png">    </p:cNvPr>
          <p:cNvPicPr>
            <a:picLocks noChangeAspect="1"/>
          </p:cNvPicPr>
          <p:nvPr/>
        </p:nvPicPr>
        <p:blipFill>
          <a:blip r:embed="rId1"/>
          <a:stretch>
            <a:fillRect/>
          </a:stretch>
        </p:blipFill>
        <p:spPr>
          <a:xfrm>
            <a:off x="936346" y="1960474"/>
            <a:ext cx="285293" cy="285293"/>
          </a:xfrm>
          <a:prstGeom prst="rect">
            <a:avLst/>
          </a:prstGeom>
        </p:spPr>
      </p:pic>
      <p:sp>
        <p:nvSpPr>
          <p:cNvPr id="7" name="Text 4"/>
          <p:cNvSpPr txBox="1"/>
          <p:nvPr/>
        </p:nvSpPr>
        <p:spPr>
          <a:xfrm>
            <a:off x="1508760" y="1920240"/>
            <a:ext cx="2514600" cy="365760"/>
          </a:xfrm>
          <a:prstGeom prst="rect">
            <a:avLst/>
          </a:prstGeom>
          <a:noFill/>
          <a:ln/>
        </p:spPr>
        <p:txBody>
          <a:bodyPr wrap="square" lIns="0" tIns="0" rIns="0" bIns="0" rtlCol="0" anchor="t"/>
          <a:lstStyle/>
          <a:p>
            <a:pPr indent="0" marL="0">
              <a:buNone/>
            </a:pPr>
            <a:r>
              <a:rPr lang="en-US" sz="1600" b="1" dirty="0">
                <a:solidFill>
                  <a:schemeClr val="bg1"/>
                </a:solidFill>
              </a:rPr>
              <a:t>Identity &amp; tenancy</a:t>
            </a:r>
            <a:endParaRPr lang="en-US" sz="1600" dirty="0"/>
          </a:p>
        </p:txBody>
      </p:sp>
      <p:sp>
        <p:nvSpPr>
          <p:cNvPr id="8" name="Text 5"/>
          <p:cNvSpPr txBox="1"/>
          <p:nvPr/>
        </p:nvSpPr>
        <p:spPr>
          <a:xfrm>
            <a:off x="804672" y="2487168"/>
            <a:ext cx="3108960" cy="1143000"/>
          </a:xfrm>
          <a:prstGeom prst="rect">
            <a:avLst/>
          </a:prstGeom>
          <a:noFill/>
          <a:ln/>
        </p:spPr>
        <p:txBody>
          <a:bodyPr wrap="square" lIns="0" tIns="0" rIns="0" bIns="0" rtlCol="0" anchor="t"/>
          <a:lstStyle/>
          <a:p>
            <a:pPr indent="0" marL="0">
              <a:buNone/>
            </a:pPr>
            <a:r>
              <a:rPr lang="en-US" sz="1300" dirty="0">
                <a:solidFill>
                  <a:schemeClr val="bg2"/>
                </a:solidFill>
              </a:rPr>
              <a:t>Tenant-scoped authz on every API, query, artifact and job. RBAC: admin, analyst, developer, auditor. Integration identity separate from users.</a:t>
            </a:r>
            <a:endParaRPr lang="en-US" sz="1300" dirty="0"/>
          </a:p>
        </p:txBody>
      </p:sp>
      <p:sp>
        <p:nvSpPr>
          <p:cNvPr id="9" name="card"/>
          <p:cNvSpPr/>
          <p:nvPr/>
        </p:nvSpPr>
        <p:spPr>
          <a:xfrm>
            <a:off x="4297680" y="1572768"/>
            <a:ext cx="3566160" cy="2148840"/>
          </a:xfrm>
          <a:prstGeom prst="roundRect">
            <a:avLst>
              <a:gd name="adj" fmla="val 4255"/>
            </a:avLst>
          </a:prstGeom>
          <a:solidFill>
            <a:schemeClr val="tx2"/>
          </a:solidFill>
          <a:ln w="12700">
            <a:solidFill>
              <a:schemeClr val="accent2">
                <a:alpha val="38000"/>
              </a:schemeClr>
            </a:solidFill>
            <a:prstDash val="solid"/>
          </a:ln>
        </p:spPr>
      </p:sp>
      <p:sp>
        <p:nvSpPr>
          <p:cNvPr id="10" name="icon tile"/>
          <p:cNvSpPr/>
          <p:nvPr/>
        </p:nvSpPr>
        <p:spPr>
          <a:xfrm>
            <a:off x="4553712" y="1828800"/>
            <a:ext cx="548640" cy="548640"/>
          </a:xfrm>
          <a:prstGeom prst="roundRect">
            <a:avLst>
              <a:gd name="adj" fmla="val 22000"/>
            </a:avLst>
          </a:prstGeom>
          <a:solidFill>
            <a:schemeClr val="accent4">
              <a:alpha val="20000"/>
            </a:schemeClr>
          </a:solidFill>
          <a:ln w="9525">
            <a:solidFill>
              <a:schemeClr val="accent4">
                <a:alpha val="55000"/>
              </a:schemeClr>
            </a:solidFill>
            <a:prstDash val="solid"/>
          </a:ln>
        </p:spPr>
      </p:sp>
      <p:pic>
        <p:nvPicPr>
          <p:cNvPr id="11" name="icon" descr="preencoded.png">    </p:cNvPr>
          <p:cNvPicPr>
            <a:picLocks noChangeAspect="1"/>
          </p:cNvPicPr>
          <p:nvPr/>
        </p:nvPicPr>
        <p:blipFill>
          <a:blip r:embed="rId2"/>
          <a:stretch>
            <a:fillRect/>
          </a:stretch>
        </p:blipFill>
        <p:spPr>
          <a:xfrm>
            <a:off x="4685386" y="1960474"/>
            <a:ext cx="285293" cy="285293"/>
          </a:xfrm>
          <a:prstGeom prst="rect">
            <a:avLst/>
          </a:prstGeom>
        </p:spPr>
      </p:pic>
      <p:sp>
        <p:nvSpPr>
          <p:cNvPr id="12" name="Text 8"/>
          <p:cNvSpPr txBox="1"/>
          <p:nvPr/>
        </p:nvSpPr>
        <p:spPr>
          <a:xfrm>
            <a:off x="5257800" y="1920240"/>
            <a:ext cx="2514600" cy="365760"/>
          </a:xfrm>
          <a:prstGeom prst="rect">
            <a:avLst/>
          </a:prstGeom>
          <a:noFill/>
          <a:ln/>
        </p:spPr>
        <p:txBody>
          <a:bodyPr wrap="square" lIns="0" tIns="0" rIns="0" bIns="0" rtlCol="0" anchor="t"/>
          <a:lstStyle/>
          <a:p>
            <a:pPr indent="0" marL="0">
              <a:buNone/>
            </a:pPr>
            <a:r>
              <a:rPr lang="en-US" sz="1600" b="1" dirty="0">
                <a:solidFill>
                  <a:schemeClr val="bg1"/>
                </a:solidFill>
              </a:rPr>
              <a:t>Secrets &amp; artifacts</a:t>
            </a:r>
            <a:endParaRPr lang="en-US" sz="1600" dirty="0"/>
          </a:p>
        </p:txBody>
      </p:sp>
      <p:sp>
        <p:nvSpPr>
          <p:cNvPr id="13" name="Text 9"/>
          <p:cNvSpPr txBox="1"/>
          <p:nvPr/>
        </p:nvSpPr>
        <p:spPr>
          <a:xfrm>
            <a:off x="4553712" y="2487168"/>
            <a:ext cx="3108960" cy="1143000"/>
          </a:xfrm>
          <a:prstGeom prst="rect">
            <a:avLst/>
          </a:prstGeom>
          <a:noFill/>
          <a:ln/>
        </p:spPr>
        <p:txBody>
          <a:bodyPr wrap="square" lIns="0" tIns="0" rIns="0" bIns="0" rtlCol="0" anchor="t"/>
          <a:lstStyle/>
          <a:p>
            <a:pPr indent="0" marL="0">
              <a:buNone/>
            </a:pPr>
            <a:r>
              <a:rPr lang="en-US" sz="1300" dirty="0">
                <a:solidFill>
                  <a:schemeClr val="bg2"/>
                </a:solidFill>
              </a:rPr>
              <a:t>Secrets manager for App keys, webhooks and LLM credentials. Nothing in graph, prompts or logs. Short-lived authorized download URLs.</a:t>
            </a:r>
            <a:endParaRPr lang="en-US" sz="1300" dirty="0"/>
          </a:p>
        </p:txBody>
      </p:sp>
      <p:sp>
        <p:nvSpPr>
          <p:cNvPr id="14" name="card"/>
          <p:cNvSpPr/>
          <p:nvPr/>
        </p:nvSpPr>
        <p:spPr>
          <a:xfrm>
            <a:off x="8046720" y="1572768"/>
            <a:ext cx="3566160" cy="2148840"/>
          </a:xfrm>
          <a:prstGeom prst="roundRect">
            <a:avLst>
              <a:gd name="adj" fmla="val 4255"/>
            </a:avLst>
          </a:prstGeom>
          <a:solidFill>
            <a:schemeClr val="tx2"/>
          </a:solidFill>
          <a:ln w="12700">
            <a:solidFill>
              <a:schemeClr val="accent2">
                <a:alpha val="38000"/>
              </a:schemeClr>
            </a:solidFill>
            <a:prstDash val="solid"/>
          </a:ln>
        </p:spPr>
      </p:sp>
      <p:sp>
        <p:nvSpPr>
          <p:cNvPr id="15" name="icon tile"/>
          <p:cNvSpPr/>
          <p:nvPr/>
        </p:nvSpPr>
        <p:spPr>
          <a:xfrm>
            <a:off x="8302752" y="1828800"/>
            <a:ext cx="548640" cy="548640"/>
          </a:xfrm>
          <a:prstGeom prst="roundRect">
            <a:avLst>
              <a:gd name="adj" fmla="val 22000"/>
            </a:avLst>
          </a:prstGeom>
          <a:solidFill>
            <a:schemeClr val="accent2">
              <a:alpha val="20000"/>
            </a:schemeClr>
          </a:solidFill>
          <a:ln w="9525">
            <a:solidFill>
              <a:schemeClr val="accent2">
                <a:alpha val="55000"/>
              </a:schemeClr>
            </a:solidFill>
            <a:prstDash val="solid"/>
          </a:ln>
        </p:spPr>
      </p:sp>
      <p:pic>
        <p:nvPicPr>
          <p:cNvPr id="16" name="icon" descr="preencoded.png">    </p:cNvPr>
          <p:cNvPicPr>
            <a:picLocks noChangeAspect="1"/>
          </p:cNvPicPr>
          <p:nvPr/>
        </p:nvPicPr>
        <p:blipFill>
          <a:blip r:embed="rId3"/>
          <a:stretch>
            <a:fillRect/>
          </a:stretch>
        </p:blipFill>
        <p:spPr>
          <a:xfrm>
            <a:off x="8434426" y="1960474"/>
            <a:ext cx="285293" cy="285293"/>
          </a:xfrm>
          <a:prstGeom prst="rect">
            <a:avLst/>
          </a:prstGeom>
        </p:spPr>
      </p:pic>
      <p:sp>
        <p:nvSpPr>
          <p:cNvPr id="17" name="Text 12"/>
          <p:cNvSpPr txBox="1"/>
          <p:nvPr/>
        </p:nvSpPr>
        <p:spPr>
          <a:xfrm>
            <a:off x="9006840" y="1920240"/>
            <a:ext cx="2514600" cy="365760"/>
          </a:xfrm>
          <a:prstGeom prst="rect">
            <a:avLst/>
          </a:prstGeom>
          <a:noFill/>
          <a:ln/>
        </p:spPr>
        <p:txBody>
          <a:bodyPr wrap="square" lIns="0" tIns="0" rIns="0" bIns="0" rtlCol="0" anchor="t"/>
          <a:lstStyle/>
          <a:p>
            <a:pPr indent="0" marL="0">
              <a:buNone/>
            </a:pPr>
            <a:r>
              <a:rPr lang="en-US" sz="1600" b="1" dirty="0">
                <a:solidFill>
                  <a:schemeClr val="bg1"/>
                </a:solidFill>
              </a:rPr>
              <a:t>Graph &amp; agent boundary</a:t>
            </a:r>
            <a:endParaRPr lang="en-US" sz="1600" dirty="0"/>
          </a:p>
        </p:txBody>
      </p:sp>
      <p:sp>
        <p:nvSpPr>
          <p:cNvPr id="18" name="Text 13"/>
          <p:cNvSpPr txBox="1"/>
          <p:nvPr/>
        </p:nvSpPr>
        <p:spPr>
          <a:xfrm>
            <a:off x="8302752" y="2487168"/>
            <a:ext cx="3108960" cy="1143000"/>
          </a:xfrm>
          <a:prstGeom prst="rect">
            <a:avLst/>
          </a:prstGeom>
          <a:noFill/>
          <a:ln/>
        </p:spPr>
        <p:txBody>
          <a:bodyPr wrap="square" lIns="0" tIns="0" rIns="0" bIns="0" rtlCol="0" anchor="t"/>
          <a:lstStyle/>
          <a:p>
            <a:pPr indent="0" marL="0">
              <a:buNone/>
            </a:pPr>
            <a:r>
              <a:rPr lang="en-US" sz="1300" dirty="0">
                <a:solidFill>
                  <a:schemeClr val="bg2"/>
                </a:solidFill>
              </a:rPr>
              <a:t>Allowlisted graph tools, parameterized and capped. Tenant filters inside the query service. Repo text and PRs treated as prompt-injection risk.</a:t>
            </a:r>
            <a:endParaRPr lang="en-US" sz="1300" dirty="0"/>
          </a:p>
        </p:txBody>
      </p:sp>
      <p:sp>
        <p:nvSpPr>
          <p:cNvPr id="19" name="card"/>
          <p:cNvSpPr/>
          <p:nvPr/>
        </p:nvSpPr>
        <p:spPr>
          <a:xfrm>
            <a:off x="548640" y="3904488"/>
            <a:ext cx="3566160" cy="2148840"/>
          </a:xfrm>
          <a:prstGeom prst="roundRect">
            <a:avLst>
              <a:gd name="adj" fmla="val 4255"/>
            </a:avLst>
          </a:prstGeom>
          <a:solidFill>
            <a:schemeClr val="tx2"/>
          </a:solidFill>
          <a:ln w="12700">
            <a:solidFill>
              <a:schemeClr val="accent2">
                <a:alpha val="38000"/>
              </a:schemeClr>
            </a:solidFill>
            <a:prstDash val="solid"/>
          </a:ln>
        </p:spPr>
      </p:sp>
      <p:sp>
        <p:nvSpPr>
          <p:cNvPr id="20" name="icon tile"/>
          <p:cNvSpPr/>
          <p:nvPr/>
        </p:nvSpPr>
        <p:spPr>
          <a:xfrm>
            <a:off x="804672" y="4160520"/>
            <a:ext cx="548640" cy="548640"/>
          </a:xfrm>
          <a:prstGeom prst="roundRect">
            <a:avLst>
              <a:gd name="adj" fmla="val 22000"/>
            </a:avLst>
          </a:prstGeom>
          <a:solidFill>
            <a:schemeClr val="accent3">
              <a:alpha val="20000"/>
            </a:schemeClr>
          </a:solidFill>
          <a:ln w="9525">
            <a:solidFill>
              <a:schemeClr val="accent3">
                <a:alpha val="55000"/>
              </a:schemeClr>
            </a:solidFill>
            <a:prstDash val="solid"/>
          </a:ln>
        </p:spPr>
      </p:sp>
      <p:pic>
        <p:nvPicPr>
          <p:cNvPr id="21" name="icon" descr="preencoded.png">    </p:cNvPr>
          <p:cNvPicPr>
            <a:picLocks noChangeAspect="1"/>
          </p:cNvPicPr>
          <p:nvPr/>
        </p:nvPicPr>
        <p:blipFill>
          <a:blip r:embed="rId4"/>
          <a:stretch>
            <a:fillRect/>
          </a:stretch>
        </p:blipFill>
        <p:spPr>
          <a:xfrm>
            <a:off x="936346" y="4292194"/>
            <a:ext cx="285293" cy="285293"/>
          </a:xfrm>
          <a:prstGeom prst="rect">
            <a:avLst/>
          </a:prstGeom>
        </p:spPr>
      </p:pic>
      <p:sp>
        <p:nvSpPr>
          <p:cNvPr id="22" name="Text 16"/>
          <p:cNvSpPr txBox="1"/>
          <p:nvPr/>
        </p:nvSpPr>
        <p:spPr>
          <a:xfrm>
            <a:off x="1508760" y="4251960"/>
            <a:ext cx="2514600" cy="365760"/>
          </a:xfrm>
          <a:prstGeom prst="rect">
            <a:avLst/>
          </a:prstGeom>
          <a:noFill/>
          <a:ln/>
        </p:spPr>
        <p:txBody>
          <a:bodyPr wrap="square" lIns="0" tIns="0" rIns="0" bIns="0" rtlCol="0" anchor="t"/>
          <a:lstStyle/>
          <a:p>
            <a:pPr indent="0" marL="0">
              <a:buNone/>
            </a:pPr>
            <a:r>
              <a:rPr lang="en-US" sz="1600" b="1" dirty="0">
                <a:solidFill>
                  <a:schemeClr val="bg1"/>
                </a:solidFill>
              </a:rPr>
              <a:t>Execution &amp; network</a:t>
            </a:r>
            <a:endParaRPr lang="en-US" sz="1600" dirty="0"/>
          </a:p>
        </p:txBody>
      </p:sp>
      <p:sp>
        <p:nvSpPr>
          <p:cNvPr id="23" name="Text 17"/>
          <p:cNvSpPr txBox="1"/>
          <p:nvPr/>
        </p:nvSpPr>
        <p:spPr>
          <a:xfrm>
            <a:off x="804672" y="4818888"/>
            <a:ext cx="3108960" cy="1143000"/>
          </a:xfrm>
          <a:prstGeom prst="rect">
            <a:avLst/>
          </a:prstGeom>
          <a:noFill/>
          <a:ln/>
        </p:spPr>
        <p:txBody>
          <a:bodyPr wrap="square" lIns="0" tIns="0" rIns="0" bIns="0" rtlCol="0" anchor="t"/>
          <a:lstStyle/>
          <a:p>
            <a:pPr indent="0" marL="0">
              <a:buNone/>
            </a:pPr>
            <a:r>
              <a:rPr lang="en-US" sz="1300" dirty="0">
                <a:solidFill>
                  <a:schemeClr val="bg2"/>
                </a:solidFill>
              </a:rPr>
              <a:t>No untrusted code during ingestion. Tests in isolated ephemeral environments. Block private-network SSRF; validate URLs, archives, payloads.</a:t>
            </a:r>
            <a:endParaRPr lang="en-US" sz="1300" dirty="0"/>
          </a:p>
        </p:txBody>
      </p:sp>
      <p:sp>
        <p:nvSpPr>
          <p:cNvPr id="24" name="card"/>
          <p:cNvSpPr/>
          <p:nvPr/>
        </p:nvSpPr>
        <p:spPr>
          <a:xfrm>
            <a:off x="4297680" y="3904488"/>
            <a:ext cx="3566160" cy="2148840"/>
          </a:xfrm>
          <a:prstGeom prst="roundRect">
            <a:avLst>
              <a:gd name="adj" fmla="val 4255"/>
            </a:avLst>
          </a:prstGeom>
          <a:solidFill>
            <a:schemeClr val="tx2"/>
          </a:solidFill>
          <a:ln w="12700">
            <a:solidFill>
              <a:schemeClr val="accent2">
                <a:alpha val="38000"/>
              </a:schemeClr>
            </a:solidFill>
            <a:prstDash val="solid"/>
          </a:ln>
        </p:spPr>
      </p:sp>
      <p:sp>
        <p:nvSpPr>
          <p:cNvPr id="25" name="icon tile"/>
          <p:cNvSpPr/>
          <p:nvPr/>
        </p:nvSpPr>
        <p:spPr>
          <a:xfrm>
            <a:off x="4553712" y="4160520"/>
            <a:ext cx="548640" cy="548640"/>
          </a:xfrm>
          <a:prstGeom prst="roundRect">
            <a:avLst>
              <a:gd name="adj" fmla="val 22000"/>
            </a:avLst>
          </a:prstGeom>
          <a:solidFill>
            <a:schemeClr val="accent5">
              <a:alpha val="20000"/>
            </a:schemeClr>
          </a:solidFill>
          <a:ln w="9525">
            <a:solidFill>
              <a:schemeClr val="accent5">
                <a:alpha val="55000"/>
              </a:schemeClr>
            </a:solidFill>
            <a:prstDash val="solid"/>
          </a:ln>
        </p:spPr>
      </p:sp>
      <p:pic>
        <p:nvPicPr>
          <p:cNvPr id="26" name="icon" descr="preencoded.png">    </p:cNvPr>
          <p:cNvPicPr>
            <a:picLocks noChangeAspect="1"/>
          </p:cNvPicPr>
          <p:nvPr/>
        </p:nvPicPr>
        <p:blipFill>
          <a:blip r:embed="rId5"/>
          <a:stretch>
            <a:fillRect/>
          </a:stretch>
        </p:blipFill>
        <p:spPr>
          <a:xfrm>
            <a:off x="4685386" y="4292194"/>
            <a:ext cx="285293" cy="285293"/>
          </a:xfrm>
          <a:prstGeom prst="rect">
            <a:avLst/>
          </a:prstGeom>
        </p:spPr>
      </p:pic>
      <p:sp>
        <p:nvSpPr>
          <p:cNvPr id="27" name="Text 20"/>
          <p:cNvSpPr txBox="1"/>
          <p:nvPr/>
        </p:nvSpPr>
        <p:spPr>
          <a:xfrm>
            <a:off x="5257800" y="4251960"/>
            <a:ext cx="2514600" cy="365760"/>
          </a:xfrm>
          <a:prstGeom prst="rect">
            <a:avLst/>
          </a:prstGeom>
          <a:noFill/>
          <a:ln/>
        </p:spPr>
        <p:txBody>
          <a:bodyPr wrap="square" lIns="0" tIns="0" rIns="0" bIns="0" rtlCol="0" anchor="t"/>
          <a:lstStyle/>
          <a:p>
            <a:pPr indent="0" marL="0">
              <a:buNone/>
            </a:pPr>
            <a:r>
              <a:rPr lang="en-US" sz="1600" b="1" dirty="0">
                <a:solidFill>
                  <a:schemeClr val="bg1"/>
                </a:solidFill>
              </a:rPr>
              <a:t>Remediation integrity</a:t>
            </a:r>
            <a:endParaRPr lang="en-US" sz="1600" dirty="0"/>
          </a:p>
        </p:txBody>
      </p:sp>
      <p:sp>
        <p:nvSpPr>
          <p:cNvPr id="28" name="Text 21"/>
          <p:cNvSpPr txBox="1"/>
          <p:nvPr/>
        </p:nvSpPr>
        <p:spPr>
          <a:xfrm>
            <a:off x="4553712" y="4818888"/>
            <a:ext cx="3108960" cy="1143000"/>
          </a:xfrm>
          <a:prstGeom prst="rect">
            <a:avLst/>
          </a:prstGeom>
          <a:noFill/>
          <a:ln/>
        </p:spPr>
        <p:txBody>
          <a:bodyPr wrap="square" lIns="0" tIns="0" rIns="0" bIns="0" rtlCol="0" anchor="t"/>
          <a:lstStyle/>
          <a:p>
            <a:pPr indent="0" marL="0">
              <a:buNone/>
            </a:pPr>
            <a:r>
              <a:rPr lang="en-US" sz="1300" dirty="0">
                <a:solidFill>
                  <a:schemeClr val="bg2"/>
                </a:solidFill>
              </a:rPr>
              <a:t>Approval binds to proposal hash, repo, branch and scope. Separate propose / approve / execute / verify. Idempotent, audited external actions.</a:t>
            </a:r>
            <a:endParaRPr lang="en-US" sz="1300" dirty="0"/>
          </a:p>
        </p:txBody>
      </p:sp>
      <p:sp>
        <p:nvSpPr>
          <p:cNvPr id="29" name="card"/>
          <p:cNvSpPr/>
          <p:nvPr/>
        </p:nvSpPr>
        <p:spPr>
          <a:xfrm>
            <a:off x="8046720" y="3904488"/>
            <a:ext cx="3566160" cy="2148840"/>
          </a:xfrm>
          <a:prstGeom prst="roundRect">
            <a:avLst>
              <a:gd name="adj" fmla="val 4255"/>
            </a:avLst>
          </a:prstGeom>
          <a:solidFill>
            <a:schemeClr val="tx2"/>
          </a:solidFill>
          <a:ln w="12700">
            <a:solidFill>
              <a:schemeClr val="accent2">
                <a:alpha val="38000"/>
              </a:schemeClr>
            </a:solidFill>
            <a:prstDash val="solid"/>
          </a:ln>
        </p:spPr>
      </p:sp>
      <p:sp>
        <p:nvSpPr>
          <p:cNvPr id="30" name="icon tile"/>
          <p:cNvSpPr/>
          <p:nvPr/>
        </p:nvSpPr>
        <p:spPr>
          <a:xfrm>
            <a:off x="8302752" y="4160520"/>
            <a:ext cx="548640" cy="548640"/>
          </a:xfrm>
          <a:prstGeom prst="roundRect">
            <a:avLst>
              <a:gd name="adj" fmla="val 22000"/>
            </a:avLst>
          </a:prstGeom>
          <a:solidFill>
            <a:schemeClr val="accent1">
              <a:alpha val="20000"/>
            </a:schemeClr>
          </a:solidFill>
          <a:ln w="9525">
            <a:solidFill>
              <a:schemeClr val="accent1">
                <a:alpha val="55000"/>
              </a:schemeClr>
            </a:solidFill>
            <a:prstDash val="solid"/>
          </a:ln>
        </p:spPr>
      </p:sp>
      <p:pic>
        <p:nvPicPr>
          <p:cNvPr id="31" name="icon" descr="preencoded.png">    </p:cNvPr>
          <p:cNvPicPr>
            <a:picLocks noChangeAspect="1"/>
          </p:cNvPicPr>
          <p:nvPr/>
        </p:nvPicPr>
        <p:blipFill>
          <a:blip r:embed="rId6"/>
          <a:stretch>
            <a:fillRect/>
          </a:stretch>
        </p:blipFill>
        <p:spPr>
          <a:xfrm>
            <a:off x="8434426" y="4292194"/>
            <a:ext cx="285293" cy="285293"/>
          </a:xfrm>
          <a:prstGeom prst="rect">
            <a:avLst/>
          </a:prstGeom>
        </p:spPr>
      </p:pic>
      <p:sp>
        <p:nvSpPr>
          <p:cNvPr id="32" name="Text 24"/>
          <p:cNvSpPr txBox="1"/>
          <p:nvPr/>
        </p:nvSpPr>
        <p:spPr>
          <a:xfrm>
            <a:off x="9006840" y="4251960"/>
            <a:ext cx="2514600" cy="365760"/>
          </a:xfrm>
          <a:prstGeom prst="rect">
            <a:avLst/>
          </a:prstGeom>
          <a:noFill/>
          <a:ln/>
        </p:spPr>
        <p:txBody>
          <a:bodyPr wrap="square" lIns="0" tIns="0" rIns="0" bIns="0" rtlCol="0" anchor="t"/>
          <a:lstStyle/>
          <a:p>
            <a:pPr indent="0" marL="0">
              <a:buNone/>
            </a:pPr>
            <a:r>
              <a:rPr lang="en-US" sz="1600" b="1" dirty="0">
                <a:solidFill>
                  <a:schemeClr val="bg1"/>
                </a:solidFill>
              </a:rPr>
              <a:t>Reliability &amp; privacy</a:t>
            </a:r>
            <a:endParaRPr lang="en-US" sz="1600" dirty="0"/>
          </a:p>
        </p:txBody>
      </p:sp>
      <p:sp>
        <p:nvSpPr>
          <p:cNvPr id="33" name="Text 25"/>
          <p:cNvSpPr txBox="1"/>
          <p:nvPr/>
        </p:nvSpPr>
        <p:spPr>
          <a:xfrm>
            <a:off x="8302752" y="4818888"/>
            <a:ext cx="3108960" cy="1143000"/>
          </a:xfrm>
          <a:prstGeom prst="rect">
            <a:avLst/>
          </a:prstGeom>
          <a:noFill/>
          <a:ln/>
        </p:spPr>
        <p:txBody>
          <a:bodyPr wrap="square" lIns="0" tIns="0" rIns="0" bIns="0" rtlCol="0" anchor="t"/>
          <a:lstStyle/>
          <a:p>
            <a:pPr indent="0" marL="0">
              <a:buNone/>
            </a:pPr>
            <a:r>
              <a:rPr lang="en-US" sz="1300" dirty="0">
                <a:solidFill>
                  <a:schemeClr val="bg2"/>
                </a:solidFill>
              </a:rPr>
              <a:t>Encrypt in transit and at rest. Retention and deletion rules. Bound tokens, iterations and runtime. No private code to external models without consent.</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THREAT MODEL TO TEST</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Seven threats, each with a control and a test</a:t>
            </a:r>
            <a:endParaRPr lang="en-US" sz="3200" dirty="0"/>
          </a:p>
        </p:txBody>
      </p:sp>
      <p:sp>
        <p:nvSpPr>
          <p:cNvPr id="4" name="card"/>
          <p:cNvSpPr/>
          <p:nvPr/>
        </p:nvSpPr>
        <p:spPr>
          <a:xfrm>
            <a:off x="548640" y="1572768"/>
            <a:ext cx="11064240" cy="566928"/>
          </a:xfrm>
          <a:prstGeom prst="roundRect">
            <a:avLst>
              <a:gd name="adj" fmla="val 16129"/>
            </a:avLst>
          </a:prstGeom>
          <a:solidFill>
            <a:schemeClr val="tx2"/>
          </a:solidFill>
          <a:ln w="12700">
            <a:solidFill>
              <a:schemeClr val="accent2">
                <a:alpha val="38000"/>
              </a:schemeClr>
            </a:solidFill>
            <a:prstDash val="solid"/>
          </a:ln>
        </p:spPr>
      </p:sp>
      <p:pic>
        <p:nvPicPr>
          <p:cNvPr id="5" name="threat icon" descr="preencoded.png">    </p:cNvPr>
          <p:cNvPicPr>
            <a:picLocks noChangeAspect="1"/>
          </p:cNvPicPr>
          <p:nvPr/>
        </p:nvPicPr>
        <p:blipFill>
          <a:blip r:embed="rId1"/>
          <a:stretch>
            <a:fillRect/>
          </a:stretch>
        </p:blipFill>
        <p:spPr>
          <a:xfrm>
            <a:off x="731520" y="1709928"/>
            <a:ext cx="292608" cy="292608"/>
          </a:xfrm>
          <a:prstGeom prst="rect">
            <a:avLst/>
          </a:prstGeom>
        </p:spPr>
      </p:pic>
      <p:sp>
        <p:nvSpPr>
          <p:cNvPr id="6" name="Text 3"/>
          <p:cNvSpPr txBox="1"/>
          <p:nvPr/>
        </p:nvSpPr>
        <p:spPr>
          <a:xfrm>
            <a:off x="1188720" y="1572768"/>
            <a:ext cx="3566160" cy="566928"/>
          </a:xfrm>
          <a:prstGeom prst="rect">
            <a:avLst/>
          </a:prstGeom>
          <a:noFill/>
          <a:ln/>
        </p:spPr>
        <p:txBody>
          <a:bodyPr wrap="square" lIns="0" tIns="0" rIns="0" bIns="0" rtlCol="0" anchor="ctr"/>
          <a:lstStyle/>
          <a:p>
            <a:pPr indent="0" marL="0">
              <a:buNone/>
            </a:pPr>
            <a:r>
              <a:rPr lang="en-US" sz="1400" b="1" dirty="0">
                <a:solidFill>
                  <a:schemeClr val="bg1"/>
                </a:solidFill>
              </a:rPr>
              <a:t>Prompt injection in repo content</a:t>
            </a:r>
            <a:endParaRPr lang="en-US" sz="1400" dirty="0"/>
          </a:p>
        </p:txBody>
      </p:sp>
      <p:pic>
        <p:nvPicPr>
          <p:cNvPr id="7" name="control icon" descr="preencoded.png">    </p:cNvPr>
          <p:cNvPicPr>
            <a:picLocks noChangeAspect="1"/>
          </p:cNvPicPr>
          <p:nvPr/>
        </p:nvPicPr>
        <p:blipFill>
          <a:blip r:embed="rId2"/>
          <a:stretch>
            <a:fillRect/>
          </a:stretch>
        </p:blipFill>
        <p:spPr>
          <a:xfrm>
            <a:off x="4846320" y="1709928"/>
            <a:ext cx="292608" cy="292608"/>
          </a:xfrm>
          <a:prstGeom prst="rect">
            <a:avLst/>
          </a:prstGeom>
        </p:spPr>
      </p:pic>
      <p:sp>
        <p:nvSpPr>
          <p:cNvPr id="8" name="Text 4"/>
          <p:cNvSpPr txBox="1"/>
          <p:nvPr/>
        </p:nvSpPr>
        <p:spPr>
          <a:xfrm>
            <a:off x="5303520" y="1572768"/>
            <a:ext cx="6172200" cy="566928"/>
          </a:xfrm>
          <a:prstGeom prst="rect">
            <a:avLst/>
          </a:prstGeom>
          <a:noFill/>
          <a:ln/>
        </p:spPr>
        <p:txBody>
          <a:bodyPr wrap="square" lIns="0" tIns="0" rIns="0" bIns="0" rtlCol="0" anchor="ctr"/>
          <a:lstStyle/>
          <a:p>
            <a:pPr indent="0" marL="0">
              <a:buNone/>
            </a:pPr>
            <a:r>
              <a:rPr lang="en-US" sz="1300" dirty="0">
                <a:solidFill>
                  <a:schemeClr val="bg2"/>
                </a:solidFill>
              </a:rPr>
              <a:t>Untrusted content is data, never policy; test override and secret-request attempts</a:t>
            </a:r>
            <a:endParaRPr lang="en-US" sz="1300" dirty="0"/>
          </a:p>
        </p:txBody>
      </p:sp>
      <p:sp>
        <p:nvSpPr>
          <p:cNvPr id="9" name="card"/>
          <p:cNvSpPr/>
          <p:nvPr/>
        </p:nvSpPr>
        <p:spPr>
          <a:xfrm>
            <a:off x="548640" y="2231136"/>
            <a:ext cx="11064240" cy="566928"/>
          </a:xfrm>
          <a:prstGeom prst="roundRect">
            <a:avLst>
              <a:gd name="adj" fmla="val 16129"/>
            </a:avLst>
          </a:prstGeom>
          <a:solidFill>
            <a:schemeClr val="tx2"/>
          </a:solidFill>
          <a:ln w="12700">
            <a:solidFill>
              <a:schemeClr val="accent2">
                <a:alpha val="38000"/>
              </a:schemeClr>
            </a:solidFill>
            <a:prstDash val="solid"/>
          </a:ln>
        </p:spPr>
      </p:sp>
      <p:pic>
        <p:nvPicPr>
          <p:cNvPr id="10" name="threat icon" descr="preencoded.png">    </p:cNvPr>
          <p:cNvPicPr>
            <a:picLocks noChangeAspect="1"/>
          </p:cNvPicPr>
          <p:nvPr/>
        </p:nvPicPr>
        <p:blipFill>
          <a:blip r:embed="rId3"/>
          <a:stretch>
            <a:fillRect/>
          </a:stretch>
        </p:blipFill>
        <p:spPr>
          <a:xfrm>
            <a:off x="731520" y="2368296"/>
            <a:ext cx="292608" cy="292608"/>
          </a:xfrm>
          <a:prstGeom prst="rect">
            <a:avLst/>
          </a:prstGeom>
        </p:spPr>
      </p:pic>
      <p:sp>
        <p:nvSpPr>
          <p:cNvPr id="11" name="Text 6"/>
          <p:cNvSpPr txBox="1"/>
          <p:nvPr/>
        </p:nvSpPr>
        <p:spPr>
          <a:xfrm>
            <a:off x="1188720" y="2231136"/>
            <a:ext cx="3566160" cy="566928"/>
          </a:xfrm>
          <a:prstGeom prst="rect">
            <a:avLst/>
          </a:prstGeom>
          <a:noFill/>
          <a:ln/>
        </p:spPr>
        <p:txBody>
          <a:bodyPr wrap="square" lIns="0" tIns="0" rIns="0" bIns="0" rtlCol="0" anchor="ctr"/>
          <a:lstStyle/>
          <a:p>
            <a:pPr indent="0" marL="0">
              <a:buNone/>
            </a:pPr>
            <a:r>
              <a:rPr lang="en-US" sz="1400" b="1" dirty="0">
                <a:solidFill>
                  <a:schemeClr val="bg1"/>
                </a:solidFill>
              </a:rPr>
              <a:t>Cross-tenant graph disclosure</a:t>
            </a:r>
            <a:endParaRPr lang="en-US" sz="1400" dirty="0"/>
          </a:p>
        </p:txBody>
      </p:sp>
      <p:pic>
        <p:nvPicPr>
          <p:cNvPr id="12" name="control icon" descr="preencoded.png">    </p:cNvPr>
          <p:cNvPicPr>
            <a:picLocks noChangeAspect="1"/>
          </p:cNvPicPr>
          <p:nvPr/>
        </p:nvPicPr>
        <p:blipFill>
          <a:blip r:embed="rId4"/>
          <a:stretch>
            <a:fillRect/>
          </a:stretch>
        </p:blipFill>
        <p:spPr>
          <a:xfrm>
            <a:off x="4846320" y="2368296"/>
            <a:ext cx="292608" cy="292608"/>
          </a:xfrm>
          <a:prstGeom prst="rect">
            <a:avLst/>
          </a:prstGeom>
        </p:spPr>
      </p:pic>
      <p:sp>
        <p:nvSpPr>
          <p:cNvPr id="13" name="Text 7"/>
          <p:cNvSpPr txBox="1"/>
          <p:nvPr/>
        </p:nvSpPr>
        <p:spPr>
          <a:xfrm>
            <a:off x="5303520" y="2231136"/>
            <a:ext cx="6172200" cy="566928"/>
          </a:xfrm>
          <a:prstGeom prst="rect">
            <a:avLst/>
          </a:prstGeom>
          <a:noFill/>
          <a:ln/>
        </p:spPr>
        <p:txBody>
          <a:bodyPr wrap="square" lIns="0" tIns="0" rIns="0" bIns="0" rtlCol="0" anchor="ctr"/>
          <a:lstStyle/>
          <a:p>
            <a:pPr indent="0" marL="0">
              <a:buNone/>
            </a:pPr>
            <a:r>
              <a:rPr lang="en-US" sz="1300" dirty="0">
                <a:solidFill>
                  <a:schemeClr val="bg2"/>
                </a:solidFill>
              </a:rPr>
              <a:t>Seed two tenants; assert every API and graph path returns only authorized records</a:t>
            </a:r>
            <a:endParaRPr lang="en-US" sz="1300" dirty="0"/>
          </a:p>
        </p:txBody>
      </p:sp>
      <p:sp>
        <p:nvSpPr>
          <p:cNvPr id="14" name="card"/>
          <p:cNvSpPr/>
          <p:nvPr/>
        </p:nvSpPr>
        <p:spPr>
          <a:xfrm>
            <a:off x="548640" y="2889504"/>
            <a:ext cx="11064240" cy="566928"/>
          </a:xfrm>
          <a:prstGeom prst="roundRect">
            <a:avLst>
              <a:gd name="adj" fmla="val 16129"/>
            </a:avLst>
          </a:prstGeom>
          <a:solidFill>
            <a:schemeClr val="tx2"/>
          </a:solidFill>
          <a:ln w="12700">
            <a:solidFill>
              <a:schemeClr val="accent2">
                <a:alpha val="38000"/>
              </a:schemeClr>
            </a:solidFill>
            <a:prstDash val="solid"/>
          </a:ln>
        </p:spPr>
      </p:sp>
      <p:pic>
        <p:nvPicPr>
          <p:cNvPr id="15" name="threat icon" descr="preencoded.png">    </p:cNvPr>
          <p:cNvPicPr>
            <a:picLocks noChangeAspect="1"/>
          </p:cNvPicPr>
          <p:nvPr/>
        </p:nvPicPr>
        <p:blipFill>
          <a:blip r:embed="rId5"/>
          <a:stretch>
            <a:fillRect/>
          </a:stretch>
        </p:blipFill>
        <p:spPr>
          <a:xfrm>
            <a:off x="731520" y="3026664"/>
            <a:ext cx="292608" cy="292608"/>
          </a:xfrm>
          <a:prstGeom prst="rect">
            <a:avLst/>
          </a:prstGeom>
        </p:spPr>
      </p:pic>
      <p:sp>
        <p:nvSpPr>
          <p:cNvPr id="16" name="Text 9"/>
          <p:cNvSpPr txBox="1"/>
          <p:nvPr/>
        </p:nvSpPr>
        <p:spPr>
          <a:xfrm>
            <a:off x="1188720" y="2889504"/>
            <a:ext cx="3566160" cy="566928"/>
          </a:xfrm>
          <a:prstGeom prst="rect">
            <a:avLst/>
          </a:prstGeom>
          <a:noFill/>
          <a:ln/>
        </p:spPr>
        <p:txBody>
          <a:bodyPr wrap="square" lIns="0" tIns="0" rIns="0" bIns="0" rtlCol="0" anchor="ctr"/>
          <a:lstStyle/>
          <a:p>
            <a:pPr indent="0" marL="0">
              <a:buNone/>
            </a:pPr>
            <a:r>
              <a:rPr lang="en-US" sz="1400" b="1" dirty="0">
                <a:solidFill>
                  <a:schemeClr val="bg1"/>
                </a:solidFill>
              </a:rPr>
              <a:t>Overpowered GitHub integration</a:t>
            </a:r>
            <a:endParaRPr lang="en-US" sz="1400" dirty="0"/>
          </a:p>
        </p:txBody>
      </p:sp>
      <p:pic>
        <p:nvPicPr>
          <p:cNvPr id="17" name="control icon" descr="preencoded.png">    </p:cNvPr>
          <p:cNvPicPr>
            <a:picLocks noChangeAspect="1"/>
          </p:cNvPicPr>
          <p:nvPr/>
        </p:nvPicPr>
        <p:blipFill>
          <a:blip r:embed="rId6"/>
          <a:stretch>
            <a:fillRect/>
          </a:stretch>
        </p:blipFill>
        <p:spPr>
          <a:xfrm>
            <a:off x="4846320" y="3026664"/>
            <a:ext cx="292608" cy="292608"/>
          </a:xfrm>
          <a:prstGeom prst="rect">
            <a:avLst/>
          </a:prstGeom>
        </p:spPr>
      </p:pic>
      <p:sp>
        <p:nvSpPr>
          <p:cNvPr id="18" name="Text 10"/>
          <p:cNvSpPr txBox="1"/>
          <p:nvPr/>
        </p:nvSpPr>
        <p:spPr>
          <a:xfrm>
            <a:off x="5303520" y="2889504"/>
            <a:ext cx="6172200" cy="566928"/>
          </a:xfrm>
          <a:prstGeom prst="rect">
            <a:avLst/>
          </a:prstGeom>
          <a:noFill/>
          <a:ln/>
        </p:spPr>
        <p:txBody>
          <a:bodyPr wrap="square" lIns="0" tIns="0" rIns="0" bIns="0" rtlCol="0" anchor="ctr"/>
          <a:lstStyle/>
          <a:p>
            <a:pPr indent="0" marL="0">
              <a:buNone/>
            </a:pPr>
            <a:r>
              <a:rPr lang="en-US" sz="1300" dirty="0">
                <a:solidFill>
                  <a:schemeClr val="bg2"/>
                </a:solidFill>
              </a:rPr>
              <a:t>Audit installed scopes; prove read-only mode cannot write or merge</a:t>
            </a:r>
            <a:endParaRPr lang="en-US" sz="1300" dirty="0"/>
          </a:p>
        </p:txBody>
      </p:sp>
      <p:sp>
        <p:nvSpPr>
          <p:cNvPr id="19" name="card"/>
          <p:cNvSpPr/>
          <p:nvPr/>
        </p:nvSpPr>
        <p:spPr>
          <a:xfrm>
            <a:off x="548640" y="3547872"/>
            <a:ext cx="11064240" cy="566928"/>
          </a:xfrm>
          <a:prstGeom prst="roundRect">
            <a:avLst>
              <a:gd name="adj" fmla="val 16129"/>
            </a:avLst>
          </a:prstGeom>
          <a:solidFill>
            <a:schemeClr val="tx2"/>
          </a:solidFill>
          <a:ln w="12700">
            <a:solidFill>
              <a:schemeClr val="accent2">
                <a:alpha val="38000"/>
              </a:schemeClr>
            </a:solidFill>
            <a:prstDash val="solid"/>
          </a:ln>
        </p:spPr>
      </p:sp>
      <p:pic>
        <p:nvPicPr>
          <p:cNvPr id="20" name="threat icon" descr="preencoded.png">    </p:cNvPr>
          <p:cNvPicPr>
            <a:picLocks noChangeAspect="1"/>
          </p:cNvPicPr>
          <p:nvPr/>
        </p:nvPicPr>
        <p:blipFill>
          <a:blip r:embed="rId7"/>
          <a:stretch>
            <a:fillRect/>
          </a:stretch>
        </p:blipFill>
        <p:spPr>
          <a:xfrm>
            <a:off x="731520" y="3685032"/>
            <a:ext cx="292608" cy="292608"/>
          </a:xfrm>
          <a:prstGeom prst="rect">
            <a:avLst/>
          </a:prstGeom>
        </p:spPr>
      </p:pic>
      <p:sp>
        <p:nvSpPr>
          <p:cNvPr id="21" name="Text 12"/>
          <p:cNvSpPr txBox="1"/>
          <p:nvPr/>
        </p:nvSpPr>
        <p:spPr>
          <a:xfrm>
            <a:off x="1188720" y="3547872"/>
            <a:ext cx="3566160" cy="566928"/>
          </a:xfrm>
          <a:prstGeom prst="rect">
            <a:avLst/>
          </a:prstGeom>
          <a:noFill/>
          <a:ln/>
        </p:spPr>
        <p:txBody>
          <a:bodyPr wrap="square" lIns="0" tIns="0" rIns="0" bIns="0" rtlCol="0" anchor="ctr"/>
          <a:lstStyle/>
          <a:p>
            <a:pPr indent="0" marL="0">
              <a:buNone/>
            </a:pPr>
            <a:r>
              <a:rPr lang="en-US" sz="1400" b="1" dirty="0">
                <a:solidFill>
                  <a:schemeClr val="bg1"/>
                </a:solidFill>
              </a:rPr>
              <a:t>Malicious remediation diff</a:t>
            </a:r>
            <a:endParaRPr lang="en-US" sz="1400" dirty="0"/>
          </a:p>
        </p:txBody>
      </p:sp>
      <p:pic>
        <p:nvPicPr>
          <p:cNvPr id="22" name="control icon" descr="preencoded.png">    </p:cNvPr>
          <p:cNvPicPr>
            <a:picLocks noChangeAspect="1"/>
          </p:cNvPicPr>
          <p:nvPr/>
        </p:nvPicPr>
        <p:blipFill>
          <a:blip r:embed="rId8"/>
          <a:stretch>
            <a:fillRect/>
          </a:stretch>
        </p:blipFill>
        <p:spPr>
          <a:xfrm>
            <a:off x="4846320" y="3685032"/>
            <a:ext cx="292608" cy="292608"/>
          </a:xfrm>
          <a:prstGeom prst="rect">
            <a:avLst/>
          </a:prstGeom>
        </p:spPr>
      </p:pic>
      <p:sp>
        <p:nvSpPr>
          <p:cNvPr id="23" name="Text 13"/>
          <p:cNvSpPr txBox="1"/>
          <p:nvPr/>
        </p:nvSpPr>
        <p:spPr>
          <a:xfrm>
            <a:off x="5303520" y="3547872"/>
            <a:ext cx="6172200" cy="566928"/>
          </a:xfrm>
          <a:prstGeom prst="rect">
            <a:avLst/>
          </a:prstGeom>
          <a:noFill/>
          <a:ln/>
        </p:spPr>
        <p:txBody>
          <a:bodyPr wrap="square" lIns="0" tIns="0" rIns="0" bIns="0" rtlCol="0" anchor="ctr"/>
          <a:lstStyle/>
          <a:p>
            <a:pPr indent="0" marL="0">
              <a:buNone/>
            </a:pPr>
            <a:r>
              <a:rPr lang="en-US" sz="1300" dirty="0">
                <a:solidFill>
                  <a:schemeClr val="bg2"/>
                </a:solidFill>
              </a:rPr>
              <a:t>Schema / diff validation, human approval, isolated CI, proposal-hash binding</a:t>
            </a:r>
            <a:endParaRPr lang="en-US" sz="1300" dirty="0"/>
          </a:p>
        </p:txBody>
      </p:sp>
      <p:sp>
        <p:nvSpPr>
          <p:cNvPr id="24" name="card"/>
          <p:cNvSpPr/>
          <p:nvPr/>
        </p:nvSpPr>
        <p:spPr>
          <a:xfrm>
            <a:off x="548640" y="4206240"/>
            <a:ext cx="11064240" cy="566928"/>
          </a:xfrm>
          <a:prstGeom prst="roundRect">
            <a:avLst>
              <a:gd name="adj" fmla="val 16129"/>
            </a:avLst>
          </a:prstGeom>
          <a:solidFill>
            <a:schemeClr val="tx2"/>
          </a:solidFill>
          <a:ln w="12700">
            <a:solidFill>
              <a:schemeClr val="accent2">
                <a:alpha val="38000"/>
              </a:schemeClr>
            </a:solidFill>
            <a:prstDash val="solid"/>
          </a:ln>
        </p:spPr>
      </p:sp>
      <p:pic>
        <p:nvPicPr>
          <p:cNvPr id="25" name="threat icon" descr="preencoded.png">    </p:cNvPr>
          <p:cNvPicPr>
            <a:picLocks noChangeAspect="1"/>
          </p:cNvPicPr>
          <p:nvPr/>
        </p:nvPicPr>
        <p:blipFill>
          <a:blip r:embed="rId9"/>
          <a:stretch>
            <a:fillRect/>
          </a:stretch>
        </p:blipFill>
        <p:spPr>
          <a:xfrm>
            <a:off x="731520" y="4343400"/>
            <a:ext cx="292608" cy="292608"/>
          </a:xfrm>
          <a:prstGeom prst="rect">
            <a:avLst/>
          </a:prstGeom>
        </p:spPr>
      </p:pic>
      <p:sp>
        <p:nvSpPr>
          <p:cNvPr id="26" name="Text 15"/>
          <p:cNvSpPr txBox="1"/>
          <p:nvPr/>
        </p:nvSpPr>
        <p:spPr>
          <a:xfrm>
            <a:off x="1188720" y="4206240"/>
            <a:ext cx="3566160" cy="566928"/>
          </a:xfrm>
          <a:prstGeom prst="rect">
            <a:avLst/>
          </a:prstGeom>
          <a:noFill/>
          <a:ln/>
        </p:spPr>
        <p:txBody>
          <a:bodyPr wrap="square" lIns="0" tIns="0" rIns="0" bIns="0" rtlCol="0" anchor="ctr"/>
          <a:lstStyle/>
          <a:p>
            <a:pPr indent="0" marL="0">
              <a:buNone/>
            </a:pPr>
            <a:r>
              <a:rPr lang="en-US" sz="1400" b="1" dirty="0">
                <a:solidFill>
                  <a:schemeClr val="bg1"/>
                </a:solidFill>
              </a:rPr>
              <a:t>Graph query abuse</a:t>
            </a:r>
            <a:endParaRPr lang="en-US" sz="1400" dirty="0"/>
          </a:p>
        </p:txBody>
      </p:sp>
      <p:pic>
        <p:nvPicPr>
          <p:cNvPr id="27" name="control icon" descr="preencoded.png">    </p:cNvPr>
          <p:cNvPicPr>
            <a:picLocks noChangeAspect="1"/>
          </p:cNvPicPr>
          <p:nvPr/>
        </p:nvPicPr>
        <p:blipFill>
          <a:blip r:embed="rId10"/>
          <a:stretch>
            <a:fillRect/>
          </a:stretch>
        </p:blipFill>
        <p:spPr>
          <a:xfrm>
            <a:off x="4846320" y="4343400"/>
            <a:ext cx="292608" cy="292608"/>
          </a:xfrm>
          <a:prstGeom prst="rect">
            <a:avLst/>
          </a:prstGeom>
        </p:spPr>
      </p:pic>
      <p:sp>
        <p:nvSpPr>
          <p:cNvPr id="28" name="Text 16"/>
          <p:cNvSpPr txBox="1"/>
          <p:nvPr/>
        </p:nvSpPr>
        <p:spPr>
          <a:xfrm>
            <a:off x="5303520" y="4206240"/>
            <a:ext cx="6172200" cy="566928"/>
          </a:xfrm>
          <a:prstGeom prst="rect">
            <a:avLst/>
          </a:prstGeom>
          <a:noFill/>
          <a:ln/>
        </p:spPr>
        <p:txBody>
          <a:bodyPr wrap="square" lIns="0" tIns="0" rIns="0" bIns="0" rtlCol="0" anchor="ctr"/>
          <a:lstStyle/>
          <a:p>
            <a:pPr indent="0" marL="0">
              <a:buNone/>
            </a:pPr>
            <a:r>
              <a:rPr lang="en-US" sz="1300" dirty="0">
                <a:solidFill>
                  <a:schemeClr val="bg2"/>
                </a:solidFill>
              </a:rPr>
              <a:t>Reject unsupported templates; enforce depth, timeout, row count and tenant filters</a:t>
            </a:r>
            <a:endParaRPr lang="en-US" sz="1300" dirty="0"/>
          </a:p>
        </p:txBody>
      </p:sp>
      <p:sp>
        <p:nvSpPr>
          <p:cNvPr id="29" name="card"/>
          <p:cNvSpPr/>
          <p:nvPr/>
        </p:nvSpPr>
        <p:spPr>
          <a:xfrm>
            <a:off x="548640" y="4864608"/>
            <a:ext cx="11064240" cy="566928"/>
          </a:xfrm>
          <a:prstGeom prst="roundRect">
            <a:avLst>
              <a:gd name="adj" fmla="val 16129"/>
            </a:avLst>
          </a:prstGeom>
          <a:solidFill>
            <a:schemeClr val="tx2"/>
          </a:solidFill>
          <a:ln w="12700">
            <a:solidFill>
              <a:schemeClr val="accent2">
                <a:alpha val="38000"/>
              </a:schemeClr>
            </a:solidFill>
            <a:prstDash val="solid"/>
          </a:ln>
        </p:spPr>
      </p:sp>
      <p:pic>
        <p:nvPicPr>
          <p:cNvPr id="30" name="threat icon" descr="preencoded.png">    </p:cNvPr>
          <p:cNvPicPr>
            <a:picLocks noChangeAspect="1"/>
          </p:cNvPicPr>
          <p:nvPr/>
        </p:nvPicPr>
        <p:blipFill>
          <a:blip r:embed="rId11"/>
          <a:stretch>
            <a:fillRect/>
          </a:stretch>
        </p:blipFill>
        <p:spPr>
          <a:xfrm>
            <a:off x="731520" y="5001768"/>
            <a:ext cx="292608" cy="292608"/>
          </a:xfrm>
          <a:prstGeom prst="rect">
            <a:avLst/>
          </a:prstGeom>
        </p:spPr>
      </p:pic>
      <p:sp>
        <p:nvSpPr>
          <p:cNvPr id="31" name="Text 18"/>
          <p:cNvSpPr txBox="1"/>
          <p:nvPr/>
        </p:nvSpPr>
        <p:spPr>
          <a:xfrm>
            <a:off x="1188720" y="4864608"/>
            <a:ext cx="3566160" cy="566928"/>
          </a:xfrm>
          <a:prstGeom prst="rect">
            <a:avLst/>
          </a:prstGeom>
          <a:noFill/>
          <a:ln/>
        </p:spPr>
        <p:txBody>
          <a:bodyPr wrap="square" lIns="0" tIns="0" rIns="0" bIns="0" rtlCol="0" anchor="ctr"/>
          <a:lstStyle/>
          <a:p>
            <a:pPr indent="0" marL="0">
              <a:buNone/>
            </a:pPr>
            <a:r>
              <a:rPr lang="en-US" sz="1400" b="1" dirty="0">
                <a:solidFill>
                  <a:schemeClr val="bg1"/>
                </a:solidFill>
              </a:rPr>
              <a:t>SSRF through external URLs</a:t>
            </a:r>
            <a:endParaRPr lang="en-US" sz="1400" dirty="0"/>
          </a:p>
        </p:txBody>
      </p:sp>
      <p:pic>
        <p:nvPicPr>
          <p:cNvPr id="32" name="control icon" descr="preencoded.png">    </p:cNvPr>
          <p:cNvPicPr>
            <a:picLocks noChangeAspect="1"/>
          </p:cNvPicPr>
          <p:nvPr/>
        </p:nvPicPr>
        <p:blipFill>
          <a:blip r:embed="rId12"/>
          <a:stretch>
            <a:fillRect/>
          </a:stretch>
        </p:blipFill>
        <p:spPr>
          <a:xfrm>
            <a:off x="4846320" y="5001768"/>
            <a:ext cx="292608" cy="292608"/>
          </a:xfrm>
          <a:prstGeom prst="rect">
            <a:avLst/>
          </a:prstGeom>
        </p:spPr>
      </p:pic>
      <p:sp>
        <p:nvSpPr>
          <p:cNvPr id="33" name="Text 19"/>
          <p:cNvSpPr txBox="1"/>
          <p:nvPr/>
        </p:nvSpPr>
        <p:spPr>
          <a:xfrm>
            <a:off x="5303520" y="4864608"/>
            <a:ext cx="6172200" cy="566928"/>
          </a:xfrm>
          <a:prstGeom prst="rect">
            <a:avLst/>
          </a:prstGeom>
          <a:noFill/>
          <a:ln/>
        </p:spPr>
        <p:txBody>
          <a:bodyPr wrap="square" lIns="0" tIns="0" rIns="0" bIns="0" rtlCol="0" anchor="ctr"/>
          <a:lstStyle/>
          <a:p>
            <a:pPr indent="0" marL="0">
              <a:buNone/>
            </a:pPr>
            <a:r>
              <a:rPr lang="en-US" sz="1300" dirty="0">
                <a:solidFill>
                  <a:schemeClr val="bg2"/>
                </a:solidFill>
              </a:rPr>
              <a:t>Block loopback, link-local, private ranges, bad redirects and metadata endpoints</a:t>
            </a:r>
            <a:endParaRPr lang="en-US" sz="1300" dirty="0"/>
          </a:p>
        </p:txBody>
      </p:sp>
      <p:sp>
        <p:nvSpPr>
          <p:cNvPr id="34" name="card"/>
          <p:cNvSpPr/>
          <p:nvPr/>
        </p:nvSpPr>
        <p:spPr>
          <a:xfrm>
            <a:off x="548640" y="5522976"/>
            <a:ext cx="11064240" cy="566928"/>
          </a:xfrm>
          <a:prstGeom prst="roundRect">
            <a:avLst>
              <a:gd name="adj" fmla="val 16129"/>
            </a:avLst>
          </a:prstGeom>
          <a:solidFill>
            <a:schemeClr val="tx2"/>
          </a:solidFill>
          <a:ln w="12700">
            <a:solidFill>
              <a:schemeClr val="accent2">
                <a:alpha val="38000"/>
              </a:schemeClr>
            </a:solidFill>
            <a:prstDash val="solid"/>
          </a:ln>
        </p:spPr>
      </p:sp>
      <p:pic>
        <p:nvPicPr>
          <p:cNvPr id="35" name="threat icon" descr="preencoded.png">    </p:cNvPr>
          <p:cNvPicPr>
            <a:picLocks noChangeAspect="1"/>
          </p:cNvPicPr>
          <p:nvPr/>
        </p:nvPicPr>
        <p:blipFill>
          <a:blip r:embed="rId13"/>
          <a:stretch>
            <a:fillRect/>
          </a:stretch>
        </p:blipFill>
        <p:spPr>
          <a:xfrm>
            <a:off x="731520" y="5660136"/>
            <a:ext cx="292608" cy="292608"/>
          </a:xfrm>
          <a:prstGeom prst="rect">
            <a:avLst/>
          </a:prstGeom>
        </p:spPr>
      </p:pic>
      <p:sp>
        <p:nvSpPr>
          <p:cNvPr id="36" name="Text 21"/>
          <p:cNvSpPr txBox="1"/>
          <p:nvPr/>
        </p:nvSpPr>
        <p:spPr>
          <a:xfrm>
            <a:off x="1188720" y="5522976"/>
            <a:ext cx="3566160" cy="566928"/>
          </a:xfrm>
          <a:prstGeom prst="rect">
            <a:avLst/>
          </a:prstGeom>
          <a:noFill/>
          <a:ln/>
        </p:spPr>
        <p:txBody>
          <a:bodyPr wrap="square" lIns="0" tIns="0" rIns="0" bIns="0" rtlCol="0" anchor="ctr"/>
          <a:lstStyle/>
          <a:p>
            <a:pPr indent="0" marL="0">
              <a:buNone/>
            </a:pPr>
            <a:r>
              <a:rPr lang="en-US" sz="1400" b="1" dirty="0">
                <a:solidFill>
                  <a:schemeClr val="bg1"/>
                </a:solidFill>
              </a:rPr>
              <a:t>False “fixed” status</a:t>
            </a:r>
            <a:endParaRPr lang="en-US" sz="1400" dirty="0"/>
          </a:p>
        </p:txBody>
      </p:sp>
      <p:pic>
        <p:nvPicPr>
          <p:cNvPr id="37" name="control icon" descr="preencoded.png">    </p:cNvPr>
          <p:cNvPicPr>
            <a:picLocks noChangeAspect="1"/>
          </p:cNvPicPr>
          <p:nvPr/>
        </p:nvPicPr>
        <p:blipFill>
          <a:blip r:embed="rId14"/>
          <a:stretch>
            <a:fillRect/>
          </a:stretch>
        </p:blipFill>
        <p:spPr>
          <a:xfrm>
            <a:off x="4846320" y="5660136"/>
            <a:ext cx="292608" cy="292608"/>
          </a:xfrm>
          <a:prstGeom prst="rect">
            <a:avLst/>
          </a:prstGeom>
        </p:spPr>
      </p:pic>
      <p:sp>
        <p:nvSpPr>
          <p:cNvPr id="38" name="Text 22"/>
          <p:cNvSpPr txBox="1"/>
          <p:nvPr/>
        </p:nvSpPr>
        <p:spPr>
          <a:xfrm>
            <a:off x="5303520" y="5522976"/>
            <a:ext cx="6172200" cy="566928"/>
          </a:xfrm>
          <a:prstGeom prst="rect">
            <a:avLst/>
          </a:prstGeom>
          <a:noFill/>
          <a:ln/>
        </p:spPr>
        <p:txBody>
          <a:bodyPr wrap="square" lIns="0" tIns="0" rIns="0" bIns="0" rtlCol="0" anchor="ctr"/>
          <a:lstStyle/>
          <a:p>
            <a:pPr indent="0" marL="0">
              <a:buNone/>
            </a:pPr>
            <a:r>
              <a:rPr lang="en-US" sz="1300" dirty="0">
                <a:solidFill>
                  <a:schemeClr val="bg2"/>
                </a:solidFill>
              </a:rPr>
              <a:t>Attempt closure with failed / missing verification and assert rejection</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14 · OPTIONAL EXTERNAL THREAT INTELLIGENCE</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Search corroborates evidence — it is never the engine</a:t>
            </a:r>
            <a:endParaRPr lang="en-US" sz="3200" dirty="0"/>
          </a:p>
        </p:txBody>
      </p:sp>
      <p:sp>
        <p:nvSpPr>
          <p:cNvPr id="4" name="card"/>
          <p:cNvSpPr/>
          <p:nvPr/>
        </p:nvSpPr>
        <p:spPr>
          <a:xfrm>
            <a:off x="594360" y="1645920"/>
            <a:ext cx="1984248" cy="2880360"/>
          </a:xfrm>
          <a:prstGeom prst="roundRect">
            <a:avLst>
              <a:gd name="adj" fmla="val 4608"/>
            </a:avLst>
          </a:prstGeom>
          <a:solidFill>
            <a:schemeClr val="tx2"/>
          </a:solidFill>
          <a:ln w="12700">
            <a:solidFill>
              <a:schemeClr val="accent2">
                <a:alpha val="38000"/>
              </a:schemeClr>
            </a:solidFill>
            <a:prstDash val="solid"/>
          </a:ln>
        </p:spPr>
      </p:sp>
      <p:sp>
        <p:nvSpPr>
          <p:cNvPr id="5" name="Text 3"/>
          <p:cNvSpPr txBox="1"/>
          <p:nvPr/>
        </p:nvSpPr>
        <p:spPr>
          <a:xfrm>
            <a:off x="822960" y="1828800"/>
            <a:ext cx="914400" cy="457200"/>
          </a:xfrm>
          <a:prstGeom prst="rect">
            <a:avLst/>
          </a:prstGeom>
          <a:noFill/>
          <a:ln/>
        </p:spPr>
        <p:txBody>
          <a:bodyPr wrap="square" lIns="0" tIns="0" rIns="0" bIns="0" rtlCol="0" anchor="t"/>
          <a:lstStyle/>
          <a:p>
            <a:pPr indent="0" marL="0">
              <a:buNone/>
            </a:pPr>
            <a:r>
              <a:rPr lang="en-US" sz="2400" b="1" dirty="0">
                <a:solidFill>
                  <a:schemeClr val="accent2"/>
                </a:solidFill>
                <a:latin typeface="Arial" pitchFamily="34" charset="0"/>
                <a:ea typeface="Arial" pitchFamily="34" charset="-122"/>
                <a:cs typeface="Arial" pitchFamily="34" charset="-120"/>
              </a:rPr>
              <a:t>01</a:t>
            </a:r>
            <a:endParaRPr lang="en-US" sz="2400" dirty="0"/>
          </a:p>
        </p:txBody>
      </p:sp>
      <p:sp>
        <p:nvSpPr>
          <p:cNvPr id="6" name="Text 4"/>
          <p:cNvSpPr txBox="1"/>
          <p:nvPr/>
        </p:nvSpPr>
        <p:spPr>
          <a:xfrm>
            <a:off x="822960" y="2377440"/>
            <a:ext cx="1572768" cy="365760"/>
          </a:xfrm>
          <a:prstGeom prst="rect">
            <a:avLst/>
          </a:prstGeom>
          <a:noFill/>
          <a:ln/>
        </p:spPr>
        <p:txBody>
          <a:bodyPr wrap="square" lIns="0" tIns="0" rIns="0" bIns="0" rtlCol="0" anchor="t"/>
          <a:lstStyle/>
          <a:p>
            <a:pPr indent="0" marL="0">
              <a:buNone/>
            </a:pPr>
            <a:r>
              <a:rPr lang="en-US" sz="1600" b="1" dirty="0">
                <a:solidFill>
                  <a:schemeClr val="bg1"/>
                </a:solidFill>
              </a:rPr>
              <a:t>Extract</a:t>
            </a:r>
            <a:endParaRPr lang="en-US" sz="1600" dirty="0"/>
          </a:p>
        </p:txBody>
      </p:sp>
      <p:sp>
        <p:nvSpPr>
          <p:cNvPr id="7" name="Text 5"/>
          <p:cNvSpPr txBox="1"/>
          <p:nvPr/>
        </p:nvSpPr>
        <p:spPr>
          <a:xfrm>
            <a:off x="822960" y="2788920"/>
            <a:ext cx="1527048" cy="1600200"/>
          </a:xfrm>
          <a:prstGeom prst="rect">
            <a:avLst/>
          </a:prstGeom>
          <a:noFill/>
          <a:ln/>
        </p:spPr>
        <p:txBody>
          <a:bodyPr wrap="square" lIns="0" tIns="0" rIns="0" bIns="0" rtlCol="0" anchor="t"/>
          <a:lstStyle/>
          <a:p>
            <a:pPr indent="0" marL="0">
              <a:buNone/>
            </a:pPr>
            <a:r>
              <a:rPr lang="en-US" sz="1300" dirty="0">
                <a:solidFill>
                  <a:schemeClr val="bg2"/>
                </a:solidFill>
              </a:rPr>
              <a:t>Normalized package, version, advisory ID, domain or server name from a finding</a:t>
            </a:r>
            <a:endParaRPr lang="en-US" sz="1300" dirty="0"/>
          </a:p>
        </p:txBody>
      </p:sp>
      <p:sp>
        <p:nvSpPr>
          <p:cNvPr id="8" name="connector"/>
          <p:cNvSpPr/>
          <p:nvPr/>
        </p:nvSpPr>
        <p:spPr>
          <a:xfrm>
            <a:off x="2596896" y="3063240"/>
            <a:ext cx="192024" cy="914"/>
          </a:xfrm>
          <a:prstGeom prst="line">
            <a:avLst/>
          </a:prstGeom>
          <a:noFill/>
          <a:ln w="19050">
            <a:solidFill>
              <a:srgbClr val="8B5CF6"/>
            </a:solidFill>
            <a:prstDash val="solid"/>
            <a:tailEnd type="triangle"/>
          </a:ln>
        </p:spPr>
      </p:sp>
      <p:sp>
        <p:nvSpPr>
          <p:cNvPr id="9" name="card"/>
          <p:cNvSpPr/>
          <p:nvPr/>
        </p:nvSpPr>
        <p:spPr>
          <a:xfrm>
            <a:off x="2807208" y="1645920"/>
            <a:ext cx="1984248" cy="2880360"/>
          </a:xfrm>
          <a:prstGeom prst="roundRect">
            <a:avLst>
              <a:gd name="adj" fmla="val 4608"/>
            </a:avLst>
          </a:prstGeom>
          <a:solidFill>
            <a:schemeClr val="tx2"/>
          </a:solidFill>
          <a:ln w="12700">
            <a:solidFill>
              <a:schemeClr val="accent2">
                <a:alpha val="38000"/>
              </a:schemeClr>
            </a:solidFill>
            <a:prstDash val="solid"/>
          </a:ln>
        </p:spPr>
      </p:sp>
      <p:sp>
        <p:nvSpPr>
          <p:cNvPr id="10" name="Text 8"/>
          <p:cNvSpPr txBox="1"/>
          <p:nvPr/>
        </p:nvSpPr>
        <p:spPr>
          <a:xfrm>
            <a:off x="3035808" y="1828800"/>
            <a:ext cx="914400" cy="457200"/>
          </a:xfrm>
          <a:prstGeom prst="rect">
            <a:avLst/>
          </a:prstGeom>
          <a:noFill/>
          <a:ln/>
        </p:spPr>
        <p:txBody>
          <a:bodyPr wrap="square" lIns="0" tIns="0" rIns="0" bIns="0" rtlCol="0" anchor="t"/>
          <a:lstStyle/>
          <a:p>
            <a:pPr indent="0" marL="0">
              <a:buNone/>
            </a:pPr>
            <a:r>
              <a:rPr lang="en-US" sz="2400" b="1" dirty="0">
                <a:solidFill>
                  <a:schemeClr val="accent2"/>
                </a:solidFill>
                <a:latin typeface="Arial" pitchFamily="34" charset="0"/>
                <a:ea typeface="Arial" pitchFamily="34" charset="-122"/>
                <a:cs typeface="Arial" pitchFamily="34" charset="-120"/>
              </a:rPr>
              <a:t>02</a:t>
            </a:r>
            <a:endParaRPr lang="en-US" sz="2400" dirty="0"/>
          </a:p>
        </p:txBody>
      </p:sp>
      <p:sp>
        <p:nvSpPr>
          <p:cNvPr id="11" name="Text 9"/>
          <p:cNvSpPr txBox="1"/>
          <p:nvPr/>
        </p:nvSpPr>
        <p:spPr>
          <a:xfrm>
            <a:off x="3035808" y="2377440"/>
            <a:ext cx="1572768" cy="365760"/>
          </a:xfrm>
          <a:prstGeom prst="rect">
            <a:avLst/>
          </a:prstGeom>
          <a:noFill/>
          <a:ln/>
        </p:spPr>
        <p:txBody>
          <a:bodyPr wrap="square" lIns="0" tIns="0" rIns="0" bIns="0" rtlCol="0" anchor="t"/>
          <a:lstStyle/>
          <a:p>
            <a:pPr indent="0" marL="0">
              <a:buNone/>
            </a:pPr>
            <a:r>
              <a:rPr lang="en-US" sz="1600" b="1" dirty="0">
                <a:solidFill>
                  <a:schemeClr val="bg1"/>
                </a:solidFill>
              </a:rPr>
              <a:t>Query narrowly</a:t>
            </a:r>
            <a:endParaRPr lang="en-US" sz="1600" dirty="0"/>
          </a:p>
        </p:txBody>
      </p:sp>
      <p:sp>
        <p:nvSpPr>
          <p:cNvPr id="12" name="Text 10"/>
          <p:cNvSpPr txBox="1"/>
          <p:nvPr/>
        </p:nvSpPr>
        <p:spPr>
          <a:xfrm>
            <a:off x="3035808" y="2788920"/>
            <a:ext cx="1527048" cy="1600200"/>
          </a:xfrm>
          <a:prstGeom prst="rect">
            <a:avLst/>
          </a:prstGeom>
          <a:noFill/>
          <a:ln/>
        </p:spPr>
        <p:txBody>
          <a:bodyPr wrap="square" lIns="0" tIns="0" rIns="0" bIns="0" rtlCol="0" anchor="t"/>
          <a:lstStyle/>
          <a:p>
            <a:pPr indent="0" marL="0">
              <a:buNone/>
            </a:pPr>
            <a:r>
              <a:rPr lang="en-US" sz="1300" dirty="0">
                <a:solidFill>
                  <a:schemeClr val="bg2"/>
                </a:solidFill>
              </a:rPr>
              <a:t>Prefer official vendor advisories and primary sources</a:t>
            </a:r>
            <a:endParaRPr lang="en-US" sz="1300" dirty="0"/>
          </a:p>
        </p:txBody>
      </p:sp>
      <p:sp>
        <p:nvSpPr>
          <p:cNvPr id="13" name="connector"/>
          <p:cNvSpPr/>
          <p:nvPr/>
        </p:nvSpPr>
        <p:spPr>
          <a:xfrm>
            <a:off x="4809744" y="3063240"/>
            <a:ext cx="192024" cy="914"/>
          </a:xfrm>
          <a:prstGeom prst="line">
            <a:avLst/>
          </a:prstGeom>
          <a:noFill/>
          <a:ln w="19050">
            <a:solidFill>
              <a:srgbClr val="8B5CF6"/>
            </a:solidFill>
            <a:prstDash val="solid"/>
            <a:tailEnd type="triangle"/>
          </a:ln>
        </p:spPr>
      </p:sp>
      <p:sp>
        <p:nvSpPr>
          <p:cNvPr id="14" name="card"/>
          <p:cNvSpPr/>
          <p:nvPr/>
        </p:nvSpPr>
        <p:spPr>
          <a:xfrm>
            <a:off x="5020056" y="1645920"/>
            <a:ext cx="1984248" cy="2880360"/>
          </a:xfrm>
          <a:prstGeom prst="roundRect">
            <a:avLst>
              <a:gd name="adj" fmla="val 4608"/>
            </a:avLst>
          </a:prstGeom>
          <a:solidFill>
            <a:schemeClr val="tx2"/>
          </a:solidFill>
          <a:ln w="12700">
            <a:solidFill>
              <a:schemeClr val="accent2">
                <a:alpha val="38000"/>
              </a:schemeClr>
            </a:solidFill>
            <a:prstDash val="solid"/>
          </a:ln>
        </p:spPr>
      </p:sp>
      <p:sp>
        <p:nvSpPr>
          <p:cNvPr id="15" name="Text 13"/>
          <p:cNvSpPr txBox="1"/>
          <p:nvPr/>
        </p:nvSpPr>
        <p:spPr>
          <a:xfrm>
            <a:off x="5248656" y="1828800"/>
            <a:ext cx="914400" cy="457200"/>
          </a:xfrm>
          <a:prstGeom prst="rect">
            <a:avLst/>
          </a:prstGeom>
          <a:noFill/>
          <a:ln/>
        </p:spPr>
        <p:txBody>
          <a:bodyPr wrap="square" lIns="0" tIns="0" rIns="0" bIns="0" rtlCol="0" anchor="t"/>
          <a:lstStyle/>
          <a:p>
            <a:pPr indent="0" marL="0">
              <a:buNone/>
            </a:pPr>
            <a:r>
              <a:rPr lang="en-US" sz="2400" b="1" dirty="0">
                <a:solidFill>
                  <a:schemeClr val="accent2"/>
                </a:solidFill>
                <a:latin typeface="Arial" pitchFamily="34" charset="0"/>
                <a:ea typeface="Arial" pitchFamily="34" charset="-122"/>
                <a:cs typeface="Arial" pitchFamily="34" charset="-120"/>
              </a:rPr>
              <a:t>03</a:t>
            </a:r>
            <a:endParaRPr lang="en-US" sz="2400" dirty="0"/>
          </a:p>
        </p:txBody>
      </p:sp>
      <p:sp>
        <p:nvSpPr>
          <p:cNvPr id="16" name="Text 14"/>
          <p:cNvSpPr txBox="1"/>
          <p:nvPr/>
        </p:nvSpPr>
        <p:spPr>
          <a:xfrm>
            <a:off x="5248656" y="2377440"/>
            <a:ext cx="1572768" cy="365760"/>
          </a:xfrm>
          <a:prstGeom prst="rect">
            <a:avLst/>
          </a:prstGeom>
          <a:noFill/>
          <a:ln/>
        </p:spPr>
        <p:txBody>
          <a:bodyPr wrap="square" lIns="0" tIns="0" rIns="0" bIns="0" rtlCol="0" anchor="t"/>
          <a:lstStyle/>
          <a:p>
            <a:pPr indent="0" marL="0">
              <a:buNone/>
            </a:pPr>
            <a:r>
              <a:rPr lang="en-US" sz="1600" b="1" dirty="0">
                <a:solidFill>
                  <a:schemeClr val="bg1"/>
                </a:solidFill>
              </a:rPr>
              <a:t>Store provenance</a:t>
            </a:r>
            <a:endParaRPr lang="en-US" sz="1600" dirty="0"/>
          </a:p>
        </p:txBody>
      </p:sp>
      <p:sp>
        <p:nvSpPr>
          <p:cNvPr id="17" name="Text 15"/>
          <p:cNvSpPr txBox="1"/>
          <p:nvPr/>
        </p:nvSpPr>
        <p:spPr>
          <a:xfrm>
            <a:off x="5248656" y="2788920"/>
            <a:ext cx="1527048" cy="1600200"/>
          </a:xfrm>
          <a:prstGeom prst="rect">
            <a:avLst/>
          </a:prstGeom>
          <a:noFill/>
          <a:ln/>
        </p:spPr>
        <p:txBody>
          <a:bodyPr wrap="square" lIns="0" tIns="0" rIns="0" bIns="0" rtlCol="0" anchor="t"/>
          <a:lstStyle/>
          <a:p>
            <a:pPr indent="0" marL="0">
              <a:buNone/>
            </a:pPr>
            <a:r>
              <a:rPr lang="en-US" sz="1300" dirty="0">
                <a:solidFill>
                  <a:schemeClr val="bg2"/>
                </a:solidFill>
              </a:rPr>
              <a:t>Query metadata, title / URL, retrieval time, hash or safe excerpt</a:t>
            </a:r>
            <a:endParaRPr lang="en-US" sz="1300" dirty="0"/>
          </a:p>
        </p:txBody>
      </p:sp>
      <p:sp>
        <p:nvSpPr>
          <p:cNvPr id="18" name="connector"/>
          <p:cNvSpPr/>
          <p:nvPr/>
        </p:nvSpPr>
        <p:spPr>
          <a:xfrm>
            <a:off x="7022592" y="3063240"/>
            <a:ext cx="192024" cy="914"/>
          </a:xfrm>
          <a:prstGeom prst="line">
            <a:avLst/>
          </a:prstGeom>
          <a:noFill/>
          <a:ln w="19050">
            <a:solidFill>
              <a:srgbClr val="8B5CF6"/>
            </a:solidFill>
            <a:prstDash val="solid"/>
            <a:tailEnd type="triangle"/>
          </a:ln>
        </p:spPr>
      </p:sp>
      <p:sp>
        <p:nvSpPr>
          <p:cNvPr id="19" name="card"/>
          <p:cNvSpPr/>
          <p:nvPr/>
        </p:nvSpPr>
        <p:spPr>
          <a:xfrm>
            <a:off x="7232904" y="1645920"/>
            <a:ext cx="1984248" cy="2880360"/>
          </a:xfrm>
          <a:prstGeom prst="roundRect">
            <a:avLst>
              <a:gd name="adj" fmla="val 4608"/>
            </a:avLst>
          </a:prstGeom>
          <a:solidFill>
            <a:schemeClr val="tx2"/>
          </a:solidFill>
          <a:ln w="12700">
            <a:solidFill>
              <a:schemeClr val="accent2">
                <a:alpha val="38000"/>
              </a:schemeClr>
            </a:solidFill>
            <a:prstDash val="solid"/>
          </a:ln>
        </p:spPr>
      </p:sp>
      <p:sp>
        <p:nvSpPr>
          <p:cNvPr id="20" name="Text 18"/>
          <p:cNvSpPr txBox="1"/>
          <p:nvPr/>
        </p:nvSpPr>
        <p:spPr>
          <a:xfrm>
            <a:off x="7461504" y="1828800"/>
            <a:ext cx="914400" cy="457200"/>
          </a:xfrm>
          <a:prstGeom prst="rect">
            <a:avLst/>
          </a:prstGeom>
          <a:noFill/>
          <a:ln/>
        </p:spPr>
        <p:txBody>
          <a:bodyPr wrap="square" lIns="0" tIns="0" rIns="0" bIns="0" rtlCol="0" anchor="t"/>
          <a:lstStyle/>
          <a:p>
            <a:pPr indent="0" marL="0">
              <a:buNone/>
            </a:pPr>
            <a:r>
              <a:rPr lang="en-US" sz="2400" b="1" dirty="0">
                <a:solidFill>
                  <a:schemeClr val="accent2"/>
                </a:solidFill>
                <a:latin typeface="Arial" pitchFamily="34" charset="0"/>
                <a:ea typeface="Arial" pitchFamily="34" charset="-122"/>
                <a:cs typeface="Arial" pitchFamily="34" charset="-120"/>
              </a:rPr>
              <a:t>04</a:t>
            </a:r>
            <a:endParaRPr lang="en-US" sz="2400" dirty="0"/>
          </a:p>
        </p:txBody>
      </p:sp>
      <p:sp>
        <p:nvSpPr>
          <p:cNvPr id="21" name="Text 19"/>
          <p:cNvSpPr txBox="1"/>
          <p:nvPr/>
        </p:nvSpPr>
        <p:spPr>
          <a:xfrm>
            <a:off x="7461504" y="2377440"/>
            <a:ext cx="1572768" cy="365760"/>
          </a:xfrm>
          <a:prstGeom prst="rect">
            <a:avLst/>
          </a:prstGeom>
          <a:noFill/>
          <a:ln/>
        </p:spPr>
        <p:txBody>
          <a:bodyPr wrap="square" lIns="0" tIns="0" rIns="0" bIns="0" rtlCol="0" anchor="t"/>
          <a:lstStyle/>
          <a:p>
            <a:pPr indent="0" marL="0">
              <a:buNone/>
            </a:pPr>
            <a:r>
              <a:rPr lang="en-US" sz="1600" b="1" dirty="0">
                <a:solidFill>
                  <a:schemeClr val="bg1"/>
                </a:solidFill>
              </a:rPr>
              <a:t>Map to the graph</a:t>
            </a:r>
            <a:endParaRPr lang="en-US" sz="1600" dirty="0"/>
          </a:p>
        </p:txBody>
      </p:sp>
      <p:sp>
        <p:nvSpPr>
          <p:cNvPr id="22" name="Text 20"/>
          <p:cNvSpPr txBox="1"/>
          <p:nvPr/>
        </p:nvSpPr>
        <p:spPr>
          <a:xfrm>
            <a:off x="7461504" y="2788920"/>
            <a:ext cx="1527048" cy="1600200"/>
          </a:xfrm>
          <a:prstGeom prst="rect">
            <a:avLst/>
          </a:prstGeom>
          <a:noFill/>
          <a:ln/>
        </p:spPr>
        <p:txBody>
          <a:bodyPr wrap="square" lIns="0" tIns="0" rIns="0" bIns="0" rtlCol="0" anchor="t"/>
          <a:lstStyle/>
          <a:p>
            <a:pPr indent="0" marL="0">
              <a:buNone/>
            </a:pPr>
            <a:r>
              <a:rPr lang="en-US" sz="1300" dirty="0">
                <a:solidFill>
                  <a:schemeClr val="bg2"/>
                </a:solidFill>
              </a:rPr>
              <a:t>Link source to a specific entity and claim; corroboration ≠ observation</a:t>
            </a:r>
            <a:endParaRPr lang="en-US" sz="1300" dirty="0"/>
          </a:p>
        </p:txBody>
      </p:sp>
      <p:sp>
        <p:nvSpPr>
          <p:cNvPr id="23" name="connector"/>
          <p:cNvSpPr/>
          <p:nvPr/>
        </p:nvSpPr>
        <p:spPr>
          <a:xfrm>
            <a:off x="9235440" y="3063240"/>
            <a:ext cx="192024" cy="914"/>
          </a:xfrm>
          <a:prstGeom prst="line">
            <a:avLst/>
          </a:prstGeom>
          <a:noFill/>
          <a:ln w="19050">
            <a:solidFill>
              <a:srgbClr val="8B5CF6"/>
            </a:solidFill>
            <a:prstDash val="solid"/>
            <a:tailEnd type="triangle"/>
          </a:ln>
        </p:spPr>
      </p:sp>
      <p:sp>
        <p:nvSpPr>
          <p:cNvPr id="24" name="card"/>
          <p:cNvSpPr/>
          <p:nvPr/>
        </p:nvSpPr>
        <p:spPr>
          <a:xfrm>
            <a:off x="9445752" y="1645920"/>
            <a:ext cx="1984248" cy="2880360"/>
          </a:xfrm>
          <a:prstGeom prst="roundRect">
            <a:avLst>
              <a:gd name="adj" fmla="val 4608"/>
            </a:avLst>
          </a:prstGeom>
          <a:solidFill>
            <a:schemeClr val="tx2"/>
          </a:solidFill>
          <a:ln w="12700">
            <a:solidFill>
              <a:schemeClr val="accent2">
                <a:alpha val="38000"/>
              </a:schemeClr>
            </a:solidFill>
            <a:prstDash val="solid"/>
          </a:ln>
        </p:spPr>
      </p:sp>
      <p:sp>
        <p:nvSpPr>
          <p:cNvPr id="25" name="Text 23"/>
          <p:cNvSpPr txBox="1"/>
          <p:nvPr/>
        </p:nvSpPr>
        <p:spPr>
          <a:xfrm>
            <a:off x="9674352" y="1828800"/>
            <a:ext cx="914400" cy="457200"/>
          </a:xfrm>
          <a:prstGeom prst="rect">
            <a:avLst/>
          </a:prstGeom>
          <a:noFill/>
          <a:ln/>
        </p:spPr>
        <p:txBody>
          <a:bodyPr wrap="square" lIns="0" tIns="0" rIns="0" bIns="0" rtlCol="0" anchor="t"/>
          <a:lstStyle/>
          <a:p>
            <a:pPr indent="0" marL="0">
              <a:buNone/>
            </a:pPr>
            <a:r>
              <a:rPr lang="en-US" sz="2400" b="1" dirty="0">
                <a:solidFill>
                  <a:schemeClr val="accent2"/>
                </a:solidFill>
                <a:latin typeface="Arial" pitchFamily="34" charset="0"/>
                <a:ea typeface="Arial" pitchFamily="34" charset="-122"/>
                <a:cs typeface="Arial" pitchFamily="34" charset="-120"/>
              </a:rPr>
              <a:t>05</a:t>
            </a:r>
            <a:endParaRPr lang="en-US" sz="2400" dirty="0"/>
          </a:p>
        </p:txBody>
      </p:sp>
      <p:sp>
        <p:nvSpPr>
          <p:cNvPr id="26" name="Text 24"/>
          <p:cNvSpPr txBox="1"/>
          <p:nvPr/>
        </p:nvSpPr>
        <p:spPr>
          <a:xfrm>
            <a:off x="9674352" y="2377440"/>
            <a:ext cx="1572768" cy="365760"/>
          </a:xfrm>
          <a:prstGeom prst="rect">
            <a:avLst/>
          </a:prstGeom>
          <a:noFill/>
          <a:ln/>
        </p:spPr>
        <p:txBody>
          <a:bodyPr wrap="square" lIns="0" tIns="0" rIns="0" bIns="0" rtlCol="0" anchor="t"/>
          <a:lstStyle/>
          <a:p>
            <a:pPr indent="0" marL="0">
              <a:buNone/>
            </a:pPr>
            <a:r>
              <a:rPr lang="en-US" sz="1600" b="1" dirty="0">
                <a:solidFill>
                  <a:schemeClr val="bg1"/>
                </a:solidFill>
              </a:rPr>
              <a:t>Recalculate</a:t>
            </a:r>
            <a:endParaRPr lang="en-US" sz="1600" dirty="0"/>
          </a:p>
        </p:txBody>
      </p:sp>
      <p:sp>
        <p:nvSpPr>
          <p:cNvPr id="27" name="Text 25"/>
          <p:cNvSpPr txBox="1"/>
          <p:nvPr/>
        </p:nvSpPr>
        <p:spPr>
          <a:xfrm>
            <a:off x="9674352" y="2788920"/>
            <a:ext cx="1527048" cy="1600200"/>
          </a:xfrm>
          <a:prstGeom prst="rect">
            <a:avLst/>
          </a:prstGeom>
          <a:noFill/>
          <a:ln/>
        </p:spPr>
        <p:txBody>
          <a:bodyPr wrap="square" lIns="0" tIns="0" rIns="0" bIns="0" rtlCol="0" anchor="t"/>
          <a:lstStyle/>
          <a:p>
            <a:pPr indent="0" marL="0">
              <a:buNone/>
            </a:pPr>
            <a:r>
              <a:rPr lang="en-US" sz="1300" dirty="0">
                <a:solidFill>
                  <a:schemeClr val="bg2"/>
                </a:solidFill>
              </a:rPr>
              <a:t>Only when evidence changes a defined risk factor</a:t>
            </a:r>
            <a:endParaRPr lang="en-US" sz="1300" dirty="0"/>
          </a:p>
        </p:txBody>
      </p:sp>
      <p:sp>
        <p:nvSpPr>
          <p:cNvPr id="28" name="icon tile"/>
          <p:cNvSpPr/>
          <p:nvPr/>
        </p:nvSpPr>
        <p:spPr>
          <a:xfrm>
            <a:off x="548640" y="4892040"/>
            <a:ext cx="685800" cy="685800"/>
          </a:xfrm>
          <a:prstGeom prst="roundRect">
            <a:avLst>
              <a:gd name="adj" fmla="val 22000"/>
            </a:avLst>
          </a:prstGeom>
          <a:solidFill>
            <a:schemeClr val="accent2">
              <a:alpha val="20000"/>
            </a:schemeClr>
          </a:solidFill>
          <a:ln w="9525">
            <a:solidFill>
              <a:schemeClr val="accent2">
                <a:alpha val="55000"/>
              </a:schemeClr>
            </a:solidFill>
            <a:prstDash val="solid"/>
          </a:ln>
        </p:spPr>
      </p:sp>
      <p:pic>
        <p:nvPicPr>
          <p:cNvPr id="29" name="icon" descr="preencoded.png">    </p:cNvPr>
          <p:cNvPicPr>
            <a:picLocks noChangeAspect="1"/>
          </p:cNvPicPr>
          <p:nvPr/>
        </p:nvPicPr>
        <p:blipFill>
          <a:blip r:embed="rId1"/>
          <a:stretch>
            <a:fillRect/>
          </a:stretch>
        </p:blipFill>
        <p:spPr>
          <a:xfrm>
            <a:off x="713232" y="5056632"/>
            <a:ext cx="356616" cy="356616"/>
          </a:xfrm>
          <a:prstGeom prst="rect">
            <a:avLst/>
          </a:prstGeom>
        </p:spPr>
      </p:pic>
      <p:sp>
        <p:nvSpPr>
          <p:cNvPr id="30" name="Text 27"/>
          <p:cNvSpPr txBox="1"/>
          <p:nvPr/>
        </p:nvSpPr>
        <p:spPr>
          <a:xfrm>
            <a:off x="1463040" y="4846320"/>
            <a:ext cx="10058400" cy="914400"/>
          </a:xfrm>
          <a:prstGeom prst="rect">
            <a:avLst/>
          </a:prstGeom>
          <a:noFill/>
          <a:ln/>
        </p:spPr>
        <p:txBody>
          <a:bodyPr wrap="square" lIns="0" tIns="0" rIns="0" bIns="0" rtlCol="0" anchor="ctr"/>
          <a:lstStyle/>
          <a:p>
            <a:pPr indent="0" marL="0">
              <a:buNone/>
            </a:pPr>
            <a:r>
              <a:rPr lang="en-US" sz="1400" dirty="0">
                <a:solidFill>
                  <a:schemeClr val="bg2"/>
                </a:solidFill>
              </a:rPr>
              <a:t>SerpApi can gather public advisories and reports about a package, action, MCP server or domain. Show how a source changes or corroborates a specific investigation — and never call something malicious just because search results mention it.</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15 · TEST PLAN</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Ten acceptance tests that define “working”</a:t>
            </a:r>
            <a:endParaRPr lang="en-US" sz="3200" dirty="0"/>
          </a:p>
        </p:txBody>
      </p:sp>
      <p:sp>
        <p:nvSpPr>
          <p:cNvPr id="4" name="card"/>
          <p:cNvSpPr/>
          <p:nvPr/>
        </p:nvSpPr>
        <p:spPr>
          <a:xfrm>
            <a:off x="548640" y="1572768"/>
            <a:ext cx="5440680" cy="777240"/>
          </a:xfrm>
          <a:prstGeom prst="roundRect">
            <a:avLst>
              <a:gd name="adj" fmla="val 11765"/>
            </a:avLst>
          </a:prstGeom>
          <a:solidFill>
            <a:schemeClr val="tx2"/>
          </a:solidFill>
          <a:ln w="12700">
            <a:solidFill>
              <a:schemeClr val="accent2">
                <a:alpha val="38000"/>
              </a:schemeClr>
            </a:solidFill>
            <a:prstDash val="solid"/>
          </a:ln>
        </p:spPr>
      </p:sp>
      <p:sp>
        <p:nvSpPr>
          <p:cNvPr id="5" name="checkbox"/>
          <p:cNvSpPr/>
          <p:nvPr/>
        </p:nvSpPr>
        <p:spPr>
          <a:xfrm>
            <a:off x="749808" y="1801368"/>
            <a:ext cx="320040" cy="320040"/>
          </a:xfrm>
          <a:prstGeom prst="roundRect">
            <a:avLst>
              <a:gd name="adj" fmla="val 17143"/>
            </a:avLst>
          </a:prstGeom>
          <a:solidFill>
            <a:schemeClr val="tx1"/>
          </a:solidFill>
          <a:ln w="19050">
            <a:solidFill>
              <a:schemeClr val="accent5"/>
            </a:solidFill>
            <a:prstDash val="solid"/>
          </a:ln>
        </p:spPr>
      </p:sp>
      <p:sp>
        <p:nvSpPr>
          <p:cNvPr id="6" name="Text 4"/>
          <p:cNvSpPr txBox="1"/>
          <p:nvPr/>
        </p:nvSpPr>
        <p:spPr>
          <a:xfrm>
            <a:off x="1234440" y="1572768"/>
            <a:ext cx="4617720" cy="777240"/>
          </a:xfrm>
          <a:prstGeom prst="rect">
            <a:avLst/>
          </a:prstGeom>
          <a:noFill/>
          <a:ln/>
        </p:spPr>
        <p:txBody>
          <a:bodyPr wrap="square" lIns="0" tIns="0" rIns="0" bIns="0" rtlCol="0" anchor="ctr"/>
          <a:lstStyle/>
          <a:p>
            <a:pPr indent="0" marL="0">
              <a:buNone/>
            </a:pPr>
            <a:r>
              <a:rPr lang="en-US" sz="1300" dirty="0">
                <a:solidFill>
                  <a:schemeClr val="bg2"/>
                </a:solidFill>
              </a:rPr>
              <a:t>Ingesting the same GitHub event twice creates no duplicate entities or findings</a:t>
            </a:r>
            <a:endParaRPr lang="en-US" sz="1300" dirty="0"/>
          </a:p>
        </p:txBody>
      </p:sp>
      <p:sp>
        <p:nvSpPr>
          <p:cNvPr id="7" name="card"/>
          <p:cNvSpPr/>
          <p:nvPr/>
        </p:nvSpPr>
        <p:spPr>
          <a:xfrm>
            <a:off x="548640" y="2487168"/>
            <a:ext cx="5440680" cy="777240"/>
          </a:xfrm>
          <a:prstGeom prst="roundRect">
            <a:avLst>
              <a:gd name="adj" fmla="val 11765"/>
            </a:avLst>
          </a:prstGeom>
          <a:solidFill>
            <a:schemeClr val="tx2"/>
          </a:solidFill>
          <a:ln w="12700">
            <a:solidFill>
              <a:schemeClr val="accent2">
                <a:alpha val="38000"/>
              </a:schemeClr>
            </a:solidFill>
            <a:prstDash val="solid"/>
          </a:ln>
        </p:spPr>
      </p:sp>
      <p:sp>
        <p:nvSpPr>
          <p:cNvPr id="8" name="checkbox"/>
          <p:cNvSpPr/>
          <p:nvPr/>
        </p:nvSpPr>
        <p:spPr>
          <a:xfrm>
            <a:off x="749808" y="2715768"/>
            <a:ext cx="320040" cy="320040"/>
          </a:xfrm>
          <a:prstGeom prst="roundRect">
            <a:avLst>
              <a:gd name="adj" fmla="val 17143"/>
            </a:avLst>
          </a:prstGeom>
          <a:solidFill>
            <a:schemeClr val="tx1"/>
          </a:solidFill>
          <a:ln w="19050">
            <a:solidFill>
              <a:schemeClr val="accent5"/>
            </a:solidFill>
            <a:prstDash val="solid"/>
          </a:ln>
        </p:spPr>
      </p:sp>
      <p:sp>
        <p:nvSpPr>
          <p:cNvPr id="9" name="Text 7"/>
          <p:cNvSpPr txBox="1"/>
          <p:nvPr/>
        </p:nvSpPr>
        <p:spPr>
          <a:xfrm>
            <a:off x="1234440" y="2487168"/>
            <a:ext cx="4617720" cy="777240"/>
          </a:xfrm>
          <a:prstGeom prst="rect">
            <a:avLst/>
          </a:prstGeom>
          <a:noFill/>
          <a:ln/>
        </p:spPr>
        <p:txBody>
          <a:bodyPr wrap="square" lIns="0" tIns="0" rIns="0" bIns="0" rtlCol="0" anchor="ctr"/>
          <a:lstStyle/>
          <a:p>
            <a:pPr indent="0" marL="0">
              <a:buNone/>
            </a:pPr>
            <a:r>
              <a:rPr lang="en-US" sz="1300" dirty="0">
                <a:solidFill>
                  <a:schemeClr val="bg2"/>
                </a:solidFill>
              </a:rPr>
              <a:t>A known multi-hop test graph returns the expected path and ordered relationships</a:t>
            </a:r>
            <a:endParaRPr lang="en-US" sz="1300" dirty="0"/>
          </a:p>
        </p:txBody>
      </p:sp>
      <p:sp>
        <p:nvSpPr>
          <p:cNvPr id="10" name="card"/>
          <p:cNvSpPr/>
          <p:nvPr/>
        </p:nvSpPr>
        <p:spPr>
          <a:xfrm>
            <a:off x="548640" y="3401568"/>
            <a:ext cx="5440680" cy="777240"/>
          </a:xfrm>
          <a:prstGeom prst="roundRect">
            <a:avLst>
              <a:gd name="adj" fmla="val 11765"/>
            </a:avLst>
          </a:prstGeom>
          <a:solidFill>
            <a:schemeClr val="tx2"/>
          </a:solidFill>
          <a:ln w="12700">
            <a:solidFill>
              <a:schemeClr val="accent2">
                <a:alpha val="38000"/>
              </a:schemeClr>
            </a:solidFill>
            <a:prstDash val="solid"/>
          </a:ln>
        </p:spPr>
      </p:sp>
      <p:sp>
        <p:nvSpPr>
          <p:cNvPr id="11" name="checkbox"/>
          <p:cNvSpPr/>
          <p:nvPr/>
        </p:nvSpPr>
        <p:spPr>
          <a:xfrm>
            <a:off x="749808" y="3630168"/>
            <a:ext cx="320040" cy="320040"/>
          </a:xfrm>
          <a:prstGeom prst="roundRect">
            <a:avLst>
              <a:gd name="adj" fmla="val 17143"/>
            </a:avLst>
          </a:prstGeom>
          <a:solidFill>
            <a:schemeClr val="tx1"/>
          </a:solidFill>
          <a:ln w="19050">
            <a:solidFill>
              <a:schemeClr val="accent5"/>
            </a:solidFill>
            <a:prstDash val="solid"/>
          </a:ln>
        </p:spPr>
      </p:sp>
      <p:sp>
        <p:nvSpPr>
          <p:cNvPr id="12" name="Text 10"/>
          <p:cNvSpPr txBox="1"/>
          <p:nvPr/>
        </p:nvSpPr>
        <p:spPr>
          <a:xfrm>
            <a:off x="1234440" y="3401568"/>
            <a:ext cx="4617720" cy="777240"/>
          </a:xfrm>
          <a:prstGeom prst="rect">
            <a:avLst/>
          </a:prstGeom>
          <a:noFill/>
          <a:ln/>
        </p:spPr>
        <p:txBody>
          <a:bodyPr wrap="square" lIns="0" tIns="0" rIns="0" bIns="0" rtlCol="0" anchor="ctr"/>
          <a:lstStyle/>
          <a:p>
            <a:pPr indent="0" marL="0">
              <a:buNone/>
            </a:pPr>
            <a:r>
              <a:rPr lang="en-US" sz="1300" dirty="0">
                <a:solidFill>
                  <a:schemeClr val="bg2"/>
                </a:solidFill>
              </a:rPr>
              <a:t>Removing an access relationship eliminates the path after recomputation</a:t>
            </a:r>
            <a:endParaRPr lang="en-US" sz="1300" dirty="0"/>
          </a:p>
        </p:txBody>
      </p:sp>
      <p:sp>
        <p:nvSpPr>
          <p:cNvPr id="13" name="card"/>
          <p:cNvSpPr/>
          <p:nvPr/>
        </p:nvSpPr>
        <p:spPr>
          <a:xfrm>
            <a:off x="548640" y="4315968"/>
            <a:ext cx="5440680" cy="777240"/>
          </a:xfrm>
          <a:prstGeom prst="roundRect">
            <a:avLst>
              <a:gd name="adj" fmla="val 11765"/>
            </a:avLst>
          </a:prstGeom>
          <a:solidFill>
            <a:schemeClr val="tx2"/>
          </a:solidFill>
          <a:ln w="12700">
            <a:solidFill>
              <a:schemeClr val="accent2">
                <a:alpha val="38000"/>
              </a:schemeClr>
            </a:solidFill>
            <a:prstDash val="solid"/>
          </a:ln>
        </p:spPr>
      </p:sp>
      <p:sp>
        <p:nvSpPr>
          <p:cNvPr id="14" name="checkbox"/>
          <p:cNvSpPr/>
          <p:nvPr/>
        </p:nvSpPr>
        <p:spPr>
          <a:xfrm>
            <a:off x="749808" y="4544568"/>
            <a:ext cx="320040" cy="320040"/>
          </a:xfrm>
          <a:prstGeom prst="roundRect">
            <a:avLst>
              <a:gd name="adj" fmla="val 17143"/>
            </a:avLst>
          </a:prstGeom>
          <a:solidFill>
            <a:schemeClr val="tx1"/>
          </a:solidFill>
          <a:ln w="19050">
            <a:solidFill>
              <a:schemeClr val="accent5"/>
            </a:solidFill>
            <a:prstDash val="solid"/>
          </a:ln>
        </p:spPr>
      </p:sp>
      <p:sp>
        <p:nvSpPr>
          <p:cNvPr id="15" name="Text 13"/>
          <p:cNvSpPr txBox="1"/>
          <p:nvPr/>
        </p:nvSpPr>
        <p:spPr>
          <a:xfrm>
            <a:off x="1234440" y="4315968"/>
            <a:ext cx="4617720" cy="777240"/>
          </a:xfrm>
          <a:prstGeom prst="rect">
            <a:avLst/>
          </a:prstGeom>
          <a:noFill/>
          <a:ln/>
        </p:spPr>
        <p:txBody>
          <a:bodyPr wrap="square" lIns="0" tIns="0" rIns="0" bIns="0" rtlCol="0" anchor="ctr"/>
          <a:lstStyle/>
          <a:p>
            <a:pPr indent="0" marL="0">
              <a:buNone/>
            </a:pPr>
            <a:r>
              <a:rPr lang="en-US" sz="1300" dirty="0">
                <a:solidFill>
                  <a:schemeClr val="bg2"/>
                </a:solidFill>
              </a:rPr>
              <a:t>Every attack-path step links to evidence or is labeled unverified inference</a:t>
            </a:r>
            <a:endParaRPr lang="en-US" sz="1300" dirty="0"/>
          </a:p>
        </p:txBody>
      </p:sp>
      <p:sp>
        <p:nvSpPr>
          <p:cNvPr id="16" name="card"/>
          <p:cNvSpPr/>
          <p:nvPr/>
        </p:nvSpPr>
        <p:spPr>
          <a:xfrm>
            <a:off x="548640" y="5230368"/>
            <a:ext cx="5440680" cy="777240"/>
          </a:xfrm>
          <a:prstGeom prst="roundRect">
            <a:avLst>
              <a:gd name="adj" fmla="val 11765"/>
            </a:avLst>
          </a:prstGeom>
          <a:solidFill>
            <a:schemeClr val="tx2"/>
          </a:solidFill>
          <a:ln w="12700">
            <a:solidFill>
              <a:schemeClr val="accent2">
                <a:alpha val="38000"/>
              </a:schemeClr>
            </a:solidFill>
            <a:prstDash val="solid"/>
          </a:ln>
        </p:spPr>
      </p:sp>
      <p:sp>
        <p:nvSpPr>
          <p:cNvPr id="17" name="checkbox"/>
          <p:cNvSpPr/>
          <p:nvPr/>
        </p:nvSpPr>
        <p:spPr>
          <a:xfrm>
            <a:off x="749808" y="5458968"/>
            <a:ext cx="320040" cy="320040"/>
          </a:xfrm>
          <a:prstGeom prst="roundRect">
            <a:avLst>
              <a:gd name="adj" fmla="val 17143"/>
            </a:avLst>
          </a:prstGeom>
          <a:solidFill>
            <a:schemeClr val="tx1"/>
          </a:solidFill>
          <a:ln w="19050">
            <a:solidFill>
              <a:schemeClr val="accent5"/>
            </a:solidFill>
            <a:prstDash val="solid"/>
          </a:ln>
        </p:spPr>
      </p:sp>
      <p:sp>
        <p:nvSpPr>
          <p:cNvPr id="18" name="Text 16"/>
          <p:cNvSpPr txBox="1"/>
          <p:nvPr/>
        </p:nvSpPr>
        <p:spPr>
          <a:xfrm>
            <a:off x="1234440" y="5230368"/>
            <a:ext cx="4617720" cy="777240"/>
          </a:xfrm>
          <a:prstGeom prst="rect">
            <a:avLst/>
          </a:prstGeom>
          <a:noFill/>
          <a:ln/>
        </p:spPr>
        <p:txBody>
          <a:bodyPr wrap="square" lIns="0" tIns="0" rIns="0" bIns="0" rtlCol="0" anchor="ctr"/>
          <a:lstStyle/>
          <a:p>
            <a:pPr indent="0" marL="0">
              <a:buNone/>
            </a:pPr>
            <a:r>
              <a:rPr lang="en-US" sz="1300" dirty="0">
                <a:solidFill>
                  <a:schemeClr val="bg2"/>
                </a:solidFill>
              </a:rPr>
              <a:t>Severity and risk factors reproduce from stored deterministic inputs</a:t>
            </a:r>
            <a:endParaRPr lang="en-US" sz="1300" dirty="0"/>
          </a:p>
        </p:txBody>
      </p:sp>
      <p:sp>
        <p:nvSpPr>
          <p:cNvPr id="19" name="card"/>
          <p:cNvSpPr/>
          <p:nvPr/>
        </p:nvSpPr>
        <p:spPr>
          <a:xfrm>
            <a:off x="6172200" y="1572768"/>
            <a:ext cx="5440680" cy="777240"/>
          </a:xfrm>
          <a:prstGeom prst="roundRect">
            <a:avLst>
              <a:gd name="adj" fmla="val 11765"/>
            </a:avLst>
          </a:prstGeom>
          <a:solidFill>
            <a:schemeClr val="tx2"/>
          </a:solidFill>
          <a:ln w="12700">
            <a:solidFill>
              <a:schemeClr val="accent2">
                <a:alpha val="38000"/>
              </a:schemeClr>
            </a:solidFill>
            <a:prstDash val="solid"/>
          </a:ln>
        </p:spPr>
      </p:sp>
      <p:sp>
        <p:nvSpPr>
          <p:cNvPr id="20" name="checkbox"/>
          <p:cNvSpPr/>
          <p:nvPr/>
        </p:nvSpPr>
        <p:spPr>
          <a:xfrm>
            <a:off x="6373368" y="1801368"/>
            <a:ext cx="320040" cy="320040"/>
          </a:xfrm>
          <a:prstGeom prst="roundRect">
            <a:avLst>
              <a:gd name="adj" fmla="val 17143"/>
            </a:avLst>
          </a:prstGeom>
          <a:solidFill>
            <a:schemeClr val="tx1"/>
          </a:solidFill>
          <a:ln w="19050">
            <a:solidFill>
              <a:schemeClr val="accent5"/>
            </a:solidFill>
            <a:prstDash val="solid"/>
          </a:ln>
        </p:spPr>
      </p:sp>
      <p:sp>
        <p:nvSpPr>
          <p:cNvPr id="21" name="Text 19"/>
          <p:cNvSpPr txBox="1"/>
          <p:nvPr/>
        </p:nvSpPr>
        <p:spPr>
          <a:xfrm>
            <a:off x="6858000" y="1572768"/>
            <a:ext cx="4617720" cy="777240"/>
          </a:xfrm>
          <a:prstGeom prst="rect">
            <a:avLst/>
          </a:prstGeom>
          <a:noFill/>
          <a:ln/>
        </p:spPr>
        <p:txBody>
          <a:bodyPr wrap="square" lIns="0" tIns="0" rIns="0" bIns="0" rtlCol="0" anchor="ctr"/>
          <a:lstStyle/>
          <a:p>
            <a:pPr indent="0" marL="0">
              <a:buNone/>
            </a:pPr>
            <a:r>
              <a:rPr lang="en-US" sz="1300" dirty="0">
                <a:solidFill>
                  <a:schemeClr val="bg2"/>
                </a:solidFill>
              </a:rPr>
              <a:t>No remediation applies without approval and a matching proposal hash</a:t>
            </a:r>
            <a:endParaRPr lang="en-US" sz="1300" dirty="0"/>
          </a:p>
        </p:txBody>
      </p:sp>
      <p:sp>
        <p:nvSpPr>
          <p:cNvPr id="22" name="card"/>
          <p:cNvSpPr/>
          <p:nvPr/>
        </p:nvSpPr>
        <p:spPr>
          <a:xfrm>
            <a:off x="6172200" y="2487168"/>
            <a:ext cx="5440680" cy="777240"/>
          </a:xfrm>
          <a:prstGeom prst="roundRect">
            <a:avLst>
              <a:gd name="adj" fmla="val 11765"/>
            </a:avLst>
          </a:prstGeom>
          <a:solidFill>
            <a:schemeClr val="tx2"/>
          </a:solidFill>
          <a:ln w="12700">
            <a:solidFill>
              <a:schemeClr val="accent2">
                <a:alpha val="38000"/>
              </a:schemeClr>
            </a:solidFill>
            <a:prstDash val="solid"/>
          </a:ln>
        </p:spPr>
      </p:sp>
      <p:sp>
        <p:nvSpPr>
          <p:cNvPr id="23" name="checkbox"/>
          <p:cNvSpPr/>
          <p:nvPr/>
        </p:nvSpPr>
        <p:spPr>
          <a:xfrm>
            <a:off x="6373368" y="2715768"/>
            <a:ext cx="320040" cy="320040"/>
          </a:xfrm>
          <a:prstGeom prst="roundRect">
            <a:avLst>
              <a:gd name="adj" fmla="val 17143"/>
            </a:avLst>
          </a:prstGeom>
          <a:solidFill>
            <a:schemeClr val="tx1"/>
          </a:solidFill>
          <a:ln w="19050">
            <a:solidFill>
              <a:schemeClr val="accent5"/>
            </a:solidFill>
            <a:prstDash val="solid"/>
          </a:ln>
        </p:spPr>
      </p:sp>
      <p:sp>
        <p:nvSpPr>
          <p:cNvPr id="24" name="Text 22"/>
          <p:cNvSpPr txBox="1"/>
          <p:nvPr/>
        </p:nvSpPr>
        <p:spPr>
          <a:xfrm>
            <a:off x="6858000" y="2487168"/>
            <a:ext cx="4617720" cy="777240"/>
          </a:xfrm>
          <a:prstGeom prst="rect">
            <a:avLst/>
          </a:prstGeom>
          <a:noFill/>
          <a:ln/>
        </p:spPr>
        <p:txBody>
          <a:bodyPr wrap="square" lIns="0" tIns="0" rIns="0" bIns="0" rtlCol="0" anchor="ctr"/>
          <a:lstStyle/>
          <a:p>
            <a:pPr indent="0" marL="0">
              <a:buNone/>
            </a:pPr>
            <a:r>
              <a:rPr lang="en-US" sz="1300" dirty="0">
                <a:solidFill>
                  <a:schemeClr val="bg2"/>
                </a:solidFill>
              </a:rPr>
              <a:t>A finding cannot reach verified_fixed when tests fail or are missing</a:t>
            </a:r>
            <a:endParaRPr lang="en-US" sz="1300" dirty="0"/>
          </a:p>
        </p:txBody>
      </p:sp>
      <p:sp>
        <p:nvSpPr>
          <p:cNvPr id="25" name="card"/>
          <p:cNvSpPr/>
          <p:nvPr/>
        </p:nvSpPr>
        <p:spPr>
          <a:xfrm>
            <a:off x="6172200" y="3401568"/>
            <a:ext cx="5440680" cy="777240"/>
          </a:xfrm>
          <a:prstGeom prst="roundRect">
            <a:avLst>
              <a:gd name="adj" fmla="val 11765"/>
            </a:avLst>
          </a:prstGeom>
          <a:solidFill>
            <a:schemeClr val="tx2"/>
          </a:solidFill>
          <a:ln w="12700">
            <a:solidFill>
              <a:schemeClr val="accent2">
                <a:alpha val="38000"/>
              </a:schemeClr>
            </a:solidFill>
            <a:prstDash val="solid"/>
          </a:ln>
        </p:spPr>
      </p:sp>
      <p:sp>
        <p:nvSpPr>
          <p:cNvPr id="26" name="checkbox"/>
          <p:cNvSpPr/>
          <p:nvPr/>
        </p:nvSpPr>
        <p:spPr>
          <a:xfrm>
            <a:off x="6373368" y="3630168"/>
            <a:ext cx="320040" cy="320040"/>
          </a:xfrm>
          <a:prstGeom prst="roundRect">
            <a:avLst>
              <a:gd name="adj" fmla="val 17143"/>
            </a:avLst>
          </a:prstGeom>
          <a:solidFill>
            <a:schemeClr val="tx1"/>
          </a:solidFill>
          <a:ln w="19050">
            <a:solidFill>
              <a:schemeClr val="accent5"/>
            </a:solidFill>
            <a:prstDash val="solid"/>
          </a:ln>
        </p:spPr>
      </p:sp>
      <p:sp>
        <p:nvSpPr>
          <p:cNvPr id="27" name="Text 25"/>
          <p:cNvSpPr txBox="1"/>
          <p:nvPr/>
        </p:nvSpPr>
        <p:spPr>
          <a:xfrm>
            <a:off x="6858000" y="3401568"/>
            <a:ext cx="4617720" cy="777240"/>
          </a:xfrm>
          <a:prstGeom prst="rect">
            <a:avLst/>
          </a:prstGeom>
          <a:noFill/>
          <a:ln/>
        </p:spPr>
        <p:txBody>
          <a:bodyPr wrap="square" lIns="0" tIns="0" rIns="0" bIns="0" rtlCol="0" anchor="ctr"/>
          <a:lstStyle/>
          <a:p>
            <a:pPr indent="0" marL="0">
              <a:buNone/>
            </a:pPr>
            <a:r>
              <a:rPr lang="en-US" sz="1300" dirty="0">
                <a:solidFill>
                  <a:schemeClr val="bg2"/>
                </a:solidFill>
              </a:rPr>
              <a:t>Cross-tenant API, graph, job and artifact access is denied</a:t>
            </a:r>
            <a:endParaRPr lang="en-US" sz="1300" dirty="0"/>
          </a:p>
        </p:txBody>
      </p:sp>
      <p:sp>
        <p:nvSpPr>
          <p:cNvPr id="28" name="card"/>
          <p:cNvSpPr/>
          <p:nvPr/>
        </p:nvSpPr>
        <p:spPr>
          <a:xfrm>
            <a:off x="6172200" y="4315968"/>
            <a:ext cx="5440680" cy="777240"/>
          </a:xfrm>
          <a:prstGeom prst="roundRect">
            <a:avLst>
              <a:gd name="adj" fmla="val 11765"/>
            </a:avLst>
          </a:prstGeom>
          <a:solidFill>
            <a:schemeClr val="tx2"/>
          </a:solidFill>
          <a:ln w="12700">
            <a:solidFill>
              <a:schemeClr val="accent2">
                <a:alpha val="38000"/>
              </a:schemeClr>
            </a:solidFill>
            <a:prstDash val="solid"/>
          </a:ln>
        </p:spPr>
      </p:sp>
      <p:sp>
        <p:nvSpPr>
          <p:cNvPr id="29" name="checkbox"/>
          <p:cNvSpPr/>
          <p:nvPr/>
        </p:nvSpPr>
        <p:spPr>
          <a:xfrm>
            <a:off x="6373368" y="4544568"/>
            <a:ext cx="320040" cy="320040"/>
          </a:xfrm>
          <a:prstGeom prst="roundRect">
            <a:avLst>
              <a:gd name="adj" fmla="val 17143"/>
            </a:avLst>
          </a:prstGeom>
          <a:solidFill>
            <a:schemeClr val="tx1"/>
          </a:solidFill>
          <a:ln w="19050">
            <a:solidFill>
              <a:schemeClr val="accent5"/>
            </a:solidFill>
            <a:prstDash val="solid"/>
          </a:ln>
        </p:spPr>
      </p:sp>
      <p:sp>
        <p:nvSpPr>
          <p:cNvPr id="30" name="Text 28"/>
          <p:cNvSpPr txBox="1"/>
          <p:nvPr/>
        </p:nvSpPr>
        <p:spPr>
          <a:xfrm>
            <a:off x="6858000" y="4315968"/>
            <a:ext cx="4617720" cy="777240"/>
          </a:xfrm>
          <a:prstGeom prst="rect">
            <a:avLst/>
          </a:prstGeom>
          <a:noFill/>
          <a:ln/>
        </p:spPr>
        <p:txBody>
          <a:bodyPr wrap="square" lIns="0" tIns="0" rIns="0" bIns="0" rtlCol="0" anchor="ctr"/>
          <a:lstStyle/>
          <a:p>
            <a:pPr indent="0" marL="0">
              <a:buNone/>
            </a:pPr>
            <a:r>
              <a:rPr lang="en-US" sz="1300" dirty="0">
                <a:solidFill>
                  <a:schemeClr val="bg2"/>
                </a:solidFill>
              </a:rPr>
              <a:t>CI reports stale or failed ingestion instead of an unqualified pass</a:t>
            </a:r>
            <a:endParaRPr lang="en-US" sz="1300" dirty="0"/>
          </a:p>
        </p:txBody>
      </p:sp>
      <p:sp>
        <p:nvSpPr>
          <p:cNvPr id="31" name="card"/>
          <p:cNvSpPr/>
          <p:nvPr/>
        </p:nvSpPr>
        <p:spPr>
          <a:xfrm>
            <a:off x="6172200" y="5230368"/>
            <a:ext cx="5440680" cy="777240"/>
          </a:xfrm>
          <a:prstGeom prst="roundRect">
            <a:avLst>
              <a:gd name="adj" fmla="val 11765"/>
            </a:avLst>
          </a:prstGeom>
          <a:solidFill>
            <a:schemeClr val="tx2"/>
          </a:solidFill>
          <a:ln w="12700">
            <a:solidFill>
              <a:schemeClr val="accent2">
                <a:alpha val="38000"/>
              </a:schemeClr>
            </a:solidFill>
            <a:prstDash val="solid"/>
          </a:ln>
        </p:spPr>
      </p:sp>
      <p:sp>
        <p:nvSpPr>
          <p:cNvPr id="32" name="checkbox"/>
          <p:cNvSpPr/>
          <p:nvPr/>
        </p:nvSpPr>
        <p:spPr>
          <a:xfrm>
            <a:off x="6373368" y="5458968"/>
            <a:ext cx="320040" cy="320040"/>
          </a:xfrm>
          <a:prstGeom prst="roundRect">
            <a:avLst>
              <a:gd name="adj" fmla="val 17143"/>
            </a:avLst>
          </a:prstGeom>
          <a:solidFill>
            <a:schemeClr val="tx1"/>
          </a:solidFill>
          <a:ln w="19050">
            <a:solidFill>
              <a:schemeClr val="accent5"/>
            </a:solidFill>
            <a:prstDash val="solid"/>
          </a:ln>
        </p:spPr>
      </p:sp>
      <p:sp>
        <p:nvSpPr>
          <p:cNvPr id="33" name="Text 31"/>
          <p:cNvSpPr txBox="1"/>
          <p:nvPr/>
        </p:nvSpPr>
        <p:spPr>
          <a:xfrm>
            <a:off x="6858000" y="5230368"/>
            <a:ext cx="4617720" cy="777240"/>
          </a:xfrm>
          <a:prstGeom prst="rect">
            <a:avLst/>
          </a:prstGeom>
          <a:noFill/>
          <a:ln/>
        </p:spPr>
        <p:txBody>
          <a:bodyPr wrap="square" lIns="0" tIns="0" rIns="0" bIns="0" rtlCol="0" anchor="ctr"/>
          <a:lstStyle/>
          <a:p>
            <a:pPr indent="0" marL="0">
              <a:buNone/>
            </a:pPr>
            <a:r>
              <a:rPr lang="en-US" sz="1300" dirty="0">
                <a:solidFill>
                  <a:schemeClr val="bg2"/>
                </a:solidFill>
              </a:rPr>
              <a:t>The app sets up from the README in a clean environment</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HACKATHON EVALUATION EVIDENCE</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Measure it and publish the method</a:t>
            </a:r>
            <a:endParaRPr lang="en-US" sz="3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651760"/>
                <a:gridCol w="4389120"/>
                <a:gridCol w="4023360"/>
              </a:tblGrid>
              <a:tr h="731520">
                <a:tc>
                  <a:txBody>
                    <a:bodyPr/>
                    <a:lstStyle/>
                    <a:p>
                      <a:pPr indent="0" marL="0">
                        <a:buNone/>
                      </a:pPr>
                      <a:r>
                        <a:rPr lang="en-US" sz="1300" b="1" dirty="0">
                          <a:solidFill>
                            <a:schemeClr val="accent1"/>
                          </a:solidFill>
                        </a:rPr>
                        <a:t>Metric</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300" b="1" dirty="0">
                          <a:solidFill>
                            <a:schemeClr val="accent1"/>
                          </a:solidFill>
                        </a:rPr>
                        <a:t>How to measure</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300" b="1" dirty="0">
                          <a:solidFill>
                            <a:schemeClr val="accent1"/>
                          </a:solidFill>
                        </a:rPr>
                        <a:t>What to report</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731520">
                <a:tc>
                  <a:txBody>
                    <a:bodyPr/>
                    <a:lstStyle/>
                    <a:p>
                      <a:pPr indent="0" marL="0">
                        <a:buNone/>
                      </a:pPr>
                      <a:r>
                        <a:rPr lang="en-US" sz="1300" b="1" dirty="0">
                          <a:solidFill>
                            <a:schemeClr val="bg1"/>
                          </a:solidFill>
                        </a:rPr>
                        <a:t>Graph usefulness</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Isolated triage vs graph investigation on the same labeled scenarios</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Discovered and missed paths, with test-set definition</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731520">
                <a:tc>
                  <a:txBody>
                    <a:bodyPr/>
                    <a:lstStyle/>
                    <a:p>
                      <a:pPr indent="0" marL="0">
                        <a:buNone/>
                      </a:pPr>
                      <a:r>
                        <a:rPr lang="en-US" sz="1300" b="1" dirty="0">
                          <a:solidFill>
                            <a:schemeClr val="bg1"/>
                          </a:solidFill>
                        </a:rPr>
                        <a:t>Evidence quality</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Audit whether each material claim is supported by cited evidence</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Supported / unsupported claims and sampling method</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731520">
                <a:tc>
                  <a:txBody>
                    <a:bodyPr/>
                    <a:lstStyle/>
                    <a:p>
                      <a:pPr indent="0" marL="0">
                        <a:buNone/>
                      </a:pPr>
                      <a:r>
                        <a:rPr lang="en-US" sz="1300" b="1" dirty="0">
                          <a:solidFill>
                            <a:schemeClr val="bg1"/>
                          </a:solidFill>
                        </a:rPr>
                        <a:t>Remediation correctness</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Targeted negative and positive tests before and after the change</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Risky paths blocked, legitimate operations preserved</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731520">
                <a:tc>
                  <a:txBody>
                    <a:bodyPr/>
                    <a:lstStyle/>
                    <a:p>
                      <a:pPr indent="0" marL="0">
                        <a:buNone/>
                      </a:pPr>
                      <a:r>
                        <a:rPr lang="en-US" sz="1300" b="1" dirty="0">
                          <a:solidFill>
                            <a:schemeClr val="bg1"/>
                          </a:solidFill>
                        </a:rPr>
                        <a:t>Performance</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End-to-end investigation time and query duration on a fixed dataset</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Dataset size, hardware, run count, median / p95</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731520">
                <a:tc>
                  <a:txBody>
                    <a:bodyPr/>
                    <a:lstStyle/>
                    <a:p>
                      <a:pPr indent="0" marL="0">
                        <a:buNone/>
                      </a:pPr>
                      <a:r>
                        <a:rPr lang="en-US" sz="1300" b="1" dirty="0">
                          <a:solidFill>
                            <a:schemeClr val="bg1"/>
                          </a:solidFill>
                        </a:rPr>
                        <a:t>Operational reliability</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Repeat ingestion and investigation; simulate timeouts and retries</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Failure handling, idempotency, reproducibility</a:t>
                      </a:r>
                      <a:endParaRPr lang="en-US" sz="1300" dirty="0"/>
                    </a:p>
                  </a:txBody>
                  <a:tcPr marL="128016" marR="128016"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16 · IMPLEMENTATION PLAN</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Smallest complete graph-native investigation first</a:t>
            </a:r>
            <a:endParaRPr lang="en-US" sz="3200" dirty="0"/>
          </a:p>
        </p:txBody>
      </p:sp>
      <p:sp>
        <p:nvSpPr>
          <p:cNvPr id="4" name="connector"/>
          <p:cNvSpPr/>
          <p:nvPr/>
        </p:nvSpPr>
        <p:spPr>
          <a:xfrm>
            <a:off x="1338943" y="1874520"/>
            <a:ext cx="9483634" cy="914"/>
          </a:xfrm>
          <a:prstGeom prst="line">
            <a:avLst/>
          </a:prstGeom>
          <a:noFill/>
          <a:ln w="19050">
            <a:solidFill>
              <a:srgbClr val="8B5CF6">
                <a:alpha val="70000"/>
              </a:srgbClr>
            </a:solidFill>
            <a:prstDash val="solid"/>
          </a:ln>
        </p:spPr>
      </p:sp>
      <p:sp>
        <p:nvSpPr>
          <p:cNvPr id="5" name="phase dot"/>
          <p:cNvSpPr/>
          <p:nvPr/>
        </p:nvSpPr>
        <p:spPr>
          <a:xfrm>
            <a:off x="1201783" y="1737360"/>
            <a:ext cx="274320" cy="274320"/>
          </a:xfrm>
          <a:prstGeom prst="ellipse">
            <a:avLst/>
          </a:prstGeom>
          <a:solidFill>
            <a:schemeClr val="accent1"/>
          </a:solidFill>
          <a:ln w="12700">
            <a:solidFill>
              <a:schemeClr val="bg1"/>
            </a:solidFill>
            <a:prstDash val="solid"/>
          </a:ln>
        </p:spPr>
      </p:sp>
      <p:sp>
        <p:nvSpPr>
          <p:cNvPr id="6" name="card"/>
          <p:cNvSpPr/>
          <p:nvPr/>
        </p:nvSpPr>
        <p:spPr>
          <a:xfrm>
            <a:off x="603504" y="2240280"/>
            <a:ext cx="1470878" cy="3931920"/>
          </a:xfrm>
          <a:prstGeom prst="roundRect">
            <a:avLst>
              <a:gd name="adj" fmla="val 6217"/>
            </a:avLst>
          </a:prstGeom>
          <a:solidFill>
            <a:schemeClr val="tx2"/>
          </a:solidFill>
          <a:ln w="12700">
            <a:solidFill>
              <a:schemeClr val="accent2">
                <a:alpha val="38000"/>
              </a:schemeClr>
            </a:solidFill>
            <a:prstDash val="solid"/>
          </a:ln>
        </p:spPr>
      </p:sp>
      <p:sp>
        <p:nvSpPr>
          <p:cNvPr id="7" name="Text 5"/>
          <p:cNvSpPr txBox="1"/>
          <p:nvPr/>
        </p:nvSpPr>
        <p:spPr>
          <a:xfrm>
            <a:off x="731520" y="2395728"/>
            <a:ext cx="1214846"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PHASE 0</a:t>
            </a:r>
            <a:endParaRPr lang="en-US" sz="1000" dirty="0"/>
          </a:p>
        </p:txBody>
      </p:sp>
      <p:sp>
        <p:nvSpPr>
          <p:cNvPr id="8" name="Text 6"/>
          <p:cNvSpPr txBox="1"/>
          <p:nvPr/>
        </p:nvSpPr>
        <p:spPr>
          <a:xfrm>
            <a:off x="731520" y="2651760"/>
            <a:ext cx="1214846" cy="594360"/>
          </a:xfrm>
          <a:prstGeom prst="rect">
            <a:avLst/>
          </a:prstGeom>
          <a:noFill/>
          <a:ln/>
        </p:spPr>
        <p:txBody>
          <a:bodyPr wrap="square" lIns="0" tIns="0" rIns="0" bIns="0" rtlCol="0" anchor="t"/>
          <a:lstStyle/>
          <a:p>
            <a:pPr indent="0" marL="0">
              <a:buNone/>
            </a:pPr>
            <a:r>
              <a:rPr lang="en-US" sz="1400" b="1" dirty="0">
                <a:solidFill>
                  <a:schemeClr val="bg1"/>
                </a:solidFill>
              </a:rPr>
              <a:t>Scope &amp; fixtures</a:t>
            </a:r>
            <a:endParaRPr lang="en-US" sz="1400" dirty="0"/>
          </a:p>
        </p:txBody>
      </p:sp>
      <p:sp>
        <p:nvSpPr>
          <p:cNvPr id="9" name="Text 7"/>
          <p:cNvSpPr txBox="1"/>
          <p:nvPr/>
        </p:nvSpPr>
        <p:spPr>
          <a:xfrm>
            <a:off x="731520" y="3291840"/>
            <a:ext cx="1233134" cy="1828800"/>
          </a:xfrm>
          <a:prstGeom prst="rect">
            <a:avLst/>
          </a:prstGeom>
          <a:noFill/>
          <a:ln/>
        </p:spPr>
        <p:txBody>
          <a:bodyPr wrap="square" lIns="0" tIns="0" rIns="0" bIns="0" rtlCol="0" anchor="t"/>
          <a:lstStyle/>
          <a:p>
            <a:pPr indent="0" marL="0">
              <a:buNone/>
            </a:pPr>
            <a:r>
              <a:rPr lang="en-US" sz="1150" dirty="0">
                <a:solidFill>
                  <a:schemeClr val="bg2"/>
                </a:solidFill>
              </a:rPr>
              <a:t>Freeze one scenario: agent, repo, workflow permissions, sensitive resource, one fix.</a:t>
            </a:r>
            <a:endParaRPr lang="en-US" sz="1150" dirty="0"/>
          </a:p>
        </p:txBody>
      </p:sp>
      <p:sp>
        <p:nvSpPr>
          <p:cNvPr id="10" name="Text 8"/>
          <p:cNvSpPr txBox="1"/>
          <p:nvPr/>
        </p:nvSpPr>
        <p:spPr>
          <a:xfrm>
            <a:off x="731520" y="5166360"/>
            <a:ext cx="1233134" cy="914400"/>
          </a:xfrm>
          <a:prstGeom prst="rect">
            <a:avLst/>
          </a:prstGeom>
          <a:noFill/>
          <a:ln/>
        </p:spPr>
        <p:txBody>
          <a:bodyPr wrap="square" lIns="0" tIns="0" rIns="0" bIns="0" rtlCol="0" anchor="t"/>
          <a:lstStyle/>
          <a:p>
            <a:pPr indent="0" marL="0">
              <a:buNone/>
            </a:pPr>
            <a:r>
              <a:rPr lang="en-US" sz="900" b="1" dirty="0">
                <a:solidFill>
                  <a:schemeClr val="accent5"/>
                </a:solidFill>
              </a:rPr>
              <a:t>EXIT  </a:t>
            </a:r>
            <a:pPr indent="0" marL="0">
              <a:buNone/>
            </a:pPr>
            <a:r>
              <a:rPr lang="en-US" sz="1100" dirty="0">
                <a:solidFill>
                  <a:schemeClr val="accent5"/>
                </a:solidFill>
              </a:rPr>
              <a:t>Reproducible dataset and expected results</a:t>
            </a:r>
            <a:endParaRPr lang="en-US" sz="1400" dirty="0"/>
          </a:p>
        </p:txBody>
      </p:sp>
      <p:sp>
        <p:nvSpPr>
          <p:cNvPr id="11" name="phase dot"/>
          <p:cNvSpPr/>
          <p:nvPr/>
        </p:nvSpPr>
        <p:spPr>
          <a:xfrm>
            <a:off x="2782389" y="1737360"/>
            <a:ext cx="274320" cy="274320"/>
          </a:xfrm>
          <a:prstGeom prst="ellipse">
            <a:avLst/>
          </a:prstGeom>
          <a:solidFill>
            <a:schemeClr val="accent1"/>
          </a:solidFill>
          <a:ln w="12700">
            <a:solidFill>
              <a:schemeClr val="bg1"/>
            </a:solidFill>
            <a:prstDash val="solid"/>
          </a:ln>
        </p:spPr>
      </p:sp>
      <p:sp>
        <p:nvSpPr>
          <p:cNvPr id="12" name="card"/>
          <p:cNvSpPr/>
          <p:nvPr/>
        </p:nvSpPr>
        <p:spPr>
          <a:xfrm>
            <a:off x="2184110" y="2240280"/>
            <a:ext cx="1470878" cy="3931920"/>
          </a:xfrm>
          <a:prstGeom prst="roundRect">
            <a:avLst>
              <a:gd name="adj" fmla="val 6217"/>
            </a:avLst>
          </a:prstGeom>
          <a:solidFill>
            <a:schemeClr val="tx2"/>
          </a:solidFill>
          <a:ln w="12700">
            <a:solidFill>
              <a:schemeClr val="accent2">
                <a:alpha val="38000"/>
              </a:schemeClr>
            </a:solidFill>
            <a:prstDash val="solid"/>
          </a:ln>
        </p:spPr>
      </p:sp>
      <p:sp>
        <p:nvSpPr>
          <p:cNvPr id="13" name="Text 11"/>
          <p:cNvSpPr txBox="1"/>
          <p:nvPr/>
        </p:nvSpPr>
        <p:spPr>
          <a:xfrm>
            <a:off x="2312126" y="2395728"/>
            <a:ext cx="1214846"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PHASE 1</a:t>
            </a:r>
            <a:endParaRPr lang="en-US" sz="1000" dirty="0"/>
          </a:p>
        </p:txBody>
      </p:sp>
      <p:sp>
        <p:nvSpPr>
          <p:cNvPr id="14" name="Text 12"/>
          <p:cNvSpPr txBox="1"/>
          <p:nvPr/>
        </p:nvSpPr>
        <p:spPr>
          <a:xfrm>
            <a:off x="2312126" y="2651760"/>
            <a:ext cx="1214846" cy="594360"/>
          </a:xfrm>
          <a:prstGeom prst="rect">
            <a:avLst/>
          </a:prstGeom>
          <a:noFill/>
          <a:ln/>
        </p:spPr>
        <p:txBody>
          <a:bodyPr wrap="square" lIns="0" tIns="0" rIns="0" bIns="0" rtlCol="0" anchor="t"/>
          <a:lstStyle/>
          <a:p>
            <a:pPr indent="0" marL="0">
              <a:buNone/>
            </a:pPr>
            <a:r>
              <a:rPr lang="en-US" sz="1400" b="1" dirty="0">
                <a:solidFill>
                  <a:schemeClr val="bg1"/>
                </a:solidFill>
              </a:rPr>
              <a:t>FalkorDB foundation</a:t>
            </a:r>
            <a:endParaRPr lang="en-US" sz="1400" dirty="0"/>
          </a:p>
        </p:txBody>
      </p:sp>
      <p:sp>
        <p:nvSpPr>
          <p:cNvPr id="15" name="Text 13"/>
          <p:cNvSpPr txBox="1"/>
          <p:nvPr/>
        </p:nvSpPr>
        <p:spPr>
          <a:xfrm>
            <a:off x="2312126" y="3291840"/>
            <a:ext cx="1233134" cy="1828800"/>
          </a:xfrm>
          <a:prstGeom prst="rect">
            <a:avLst/>
          </a:prstGeom>
          <a:noFill/>
          <a:ln/>
        </p:spPr>
        <p:txBody>
          <a:bodyPr wrap="square" lIns="0" tIns="0" rIns="0" bIns="0" rtlCol="0" anchor="t"/>
          <a:lstStyle/>
          <a:p>
            <a:pPr indent="0" marL="0">
              <a:buNone/>
            </a:pPr>
            <a:r>
              <a:rPr lang="en-US" sz="1150" dirty="0">
                <a:solidFill>
                  <a:schemeClr val="bg2"/>
                </a:solidFill>
              </a:rPr>
              <a:t>Labels, relationships, idempotent ingestion, indexes, scoped query templates, fixtures.</a:t>
            </a:r>
            <a:endParaRPr lang="en-US" sz="1150" dirty="0"/>
          </a:p>
        </p:txBody>
      </p:sp>
      <p:sp>
        <p:nvSpPr>
          <p:cNvPr id="16" name="Text 14"/>
          <p:cNvSpPr txBox="1"/>
          <p:nvPr/>
        </p:nvSpPr>
        <p:spPr>
          <a:xfrm>
            <a:off x="2312126" y="5166360"/>
            <a:ext cx="1233134" cy="914400"/>
          </a:xfrm>
          <a:prstGeom prst="rect">
            <a:avLst/>
          </a:prstGeom>
          <a:noFill/>
          <a:ln/>
        </p:spPr>
        <p:txBody>
          <a:bodyPr wrap="square" lIns="0" tIns="0" rIns="0" bIns="0" rtlCol="0" anchor="t"/>
          <a:lstStyle/>
          <a:p>
            <a:pPr indent="0" marL="0">
              <a:buNone/>
            </a:pPr>
            <a:r>
              <a:rPr lang="en-US" sz="900" b="1" dirty="0">
                <a:solidFill>
                  <a:schemeClr val="accent5"/>
                </a:solidFill>
              </a:rPr>
              <a:t>EXIT  </a:t>
            </a:r>
            <a:pPr indent="0" marL="0">
              <a:buNone/>
            </a:pPr>
            <a:r>
              <a:rPr lang="en-US" sz="1100" dirty="0">
                <a:solidFill>
                  <a:schemeClr val="accent5"/>
                </a:solidFill>
              </a:rPr>
              <a:t>Multi-hop paths from live queries</a:t>
            </a:r>
            <a:endParaRPr lang="en-US" sz="1400" dirty="0"/>
          </a:p>
        </p:txBody>
      </p:sp>
      <p:sp>
        <p:nvSpPr>
          <p:cNvPr id="17" name="phase dot"/>
          <p:cNvSpPr/>
          <p:nvPr/>
        </p:nvSpPr>
        <p:spPr>
          <a:xfrm>
            <a:off x="4362994" y="1737360"/>
            <a:ext cx="274320" cy="274320"/>
          </a:xfrm>
          <a:prstGeom prst="ellipse">
            <a:avLst/>
          </a:prstGeom>
          <a:solidFill>
            <a:schemeClr val="accent2"/>
          </a:solidFill>
          <a:ln w="12700">
            <a:solidFill>
              <a:schemeClr val="bg1"/>
            </a:solidFill>
            <a:prstDash val="solid"/>
          </a:ln>
        </p:spPr>
      </p:sp>
      <p:sp>
        <p:nvSpPr>
          <p:cNvPr id="18" name="card"/>
          <p:cNvSpPr/>
          <p:nvPr/>
        </p:nvSpPr>
        <p:spPr>
          <a:xfrm>
            <a:off x="3764715" y="2240280"/>
            <a:ext cx="1470878" cy="3931920"/>
          </a:xfrm>
          <a:prstGeom prst="roundRect">
            <a:avLst>
              <a:gd name="adj" fmla="val 6217"/>
            </a:avLst>
          </a:prstGeom>
          <a:solidFill>
            <a:schemeClr val="tx2"/>
          </a:solidFill>
          <a:ln w="12700">
            <a:solidFill>
              <a:schemeClr val="accent2">
                <a:alpha val="38000"/>
              </a:schemeClr>
            </a:solidFill>
            <a:prstDash val="solid"/>
          </a:ln>
        </p:spPr>
      </p:sp>
      <p:sp>
        <p:nvSpPr>
          <p:cNvPr id="19" name="Text 17"/>
          <p:cNvSpPr txBox="1"/>
          <p:nvPr/>
        </p:nvSpPr>
        <p:spPr>
          <a:xfrm>
            <a:off x="3892731" y="2395728"/>
            <a:ext cx="1214846"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PHASE 2</a:t>
            </a:r>
            <a:endParaRPr lang="en-US" sz="1000" dirty="0"/>
          </a:p>
        </p:txBody>
      </p:sp>
      <p:sp>
        <p:nvSpPr>
          <p:cNvPr id="20" name="Text 18"/>
          <p:cNvSpPr txBox="1"/>
          <p:nvPr/>
        </p:nvSpPr>
        <p:spPr>
          <a:xfrm>
            <a:off x="3892731" y="2651760"/>
            <a:ext cx="1214846" cy="594360"/>
          </a:xfrm>
          <a:prstGeom prst="rect">
            <a:avLst/>
          </a:prstGeom>
          <a:noFill/>
          <a:ln/>
        </p:spPr>
        <p:txBody>
          <a:bodyPr wrap="square" lIns="0" tIns="0" rIns="0" bIns="0" rtlCol="0" anchor="t"/>
          <a:lstStyle/>
          <a:p>
            <a:pPr indent="0" marL="0">
              <a:buNone/>
            </a:pPr>
            <a:r>
              <a:rPr lang="en-US" sz="1400" b="1" dirty="0">
                <a:solidFill>
                  <a:schemeClr val="bg1"/>
                </a:solidFill>
              </a:rPr>
              <a:t>Backend &amp; findings API</a:t>
            </a:r>
            <a:endParaRPr lang="en-US" sz="1400" dirty="0"/>
          </a:p>
        </p:txBody>
      </p:sp>
      <p:sp>
        <p:nvSpPr>
          <p:cNvPr id="21" name="Text 19"/>
          <p:cNvSpPr txBox="1"/>
          <p:nvPr/>
        </p:nvSpPr>
        <p:spPr>
          <a:xfrm>
            <a:off x="3892731" y="3291840"/>
            <a:ext cx="1233134" cy="1828800"/>
          </a:xfrm>
          <a:prstGeom prst="rect">
            <a:avLst/>
          </a:prstGeom>
          <a:noFill/>
          <a:ln/>
        </p:spPr>
        <p:txBody>
          <a:bodyPr wrap="square" lIns="0" tIns="0" rIns="0" bIns="0" rtlCol="0" anchor="t"/>
          <a:lstStyle/>
          <a:p>
            <a:pPr indent="0" marL="0">
              <a:buNone/>
            </a:pPr>
            <a:r>
              <a:rPr lang="en-US" sz="1150" dirty="0">
                <a:solidFill>
                  <a:schemeClr val="bg2"/>
                </a:solidFill>
              </a:rPr>
              <a:t>Projects, sync jobs, findings, evidence, investigations, status, audit, tenant authz.</a:t>
            </a:r>
            <a:endParaRPr lang="en-US" sz="1150" dirty="0"/>
          </a:p>
        </p:txBody>
      </p:sp>
      <p:sp>
        <p:nvSpPr>
          <p:cNvPr id="22" name="Text 20"/>
          <p:cNvSpPr txBox="1"/>
          <p:nvPr/>
        </p:nvSpPr>
        <p:spPr>
          <a:xfrm>
            <a:off x="3892731" y="5166360"/>
            <a:ext cx="1233134" cy="914400"/>
          </a:xfrm>
          <a:prstGeom prst="rect">
            <a:avLst/>
          </a:prstGeom>
          <a:noFill/>
          <a:ln/>
        </p:spPr>
        <p:txBody>
          <a:bodyPr wrap="square" lIns="0" tIns="0" rIns="0" bIns="0" rtlCol="0" anchor="t"/>
          <a:lstStyle/>
          <a:p>
            <a:pPr indent="0" marL="0">
              <a:buNone/>
            </a:pPr>
            <a:r>
              <a:rPr lang="en-US" sz="900" b="1" dirty="0">
                <a:solidFill>
                  <a:schemeClr val="accent5"/>
                </a:solidFill>
              </a:rPr>
              <a:t>EXIT  </a:t>
            </a:r>
            <a:pPr indent="0" marL="0">
              <a:buNone/>
            </a:pPr>
            <a:r>
              <a:rPr lang="en-US" sz="1100" dirty="0">
                <a:solidFill>
                  <a:schemeClr val="accent5"/>
                </a:solidFill>
              </a:rPr>
              <a:t>Findings backed by graph entities</a:t>
            </a:r>
            <a:endParaRPr lang="en-US" sz="1400" dirty="0"/>
          </a:p>
        </p:txBody>
      </p:sp>
      <p:sp>
        <p:nvSpPr>
          <p:cNvPr id="23" name="phase dot"/>
          <p:cNvSpPr/>
          <p:nvPr/>
        </p:nvSpPr>
        <p:spPr>
          <a:xfrm>
            <a:off x="5943600" y="1737360"/>
            <a:ext cx="274320" cy="274320"/>
          </a:xfrm>
          <a:prstGeom prst="ellipse">
            <a:avLst/>
          </a:prstGeom>
          <a:solidFill>
            <a:schemeClr val="accent2"/>
          </a:solidFill>
          <a:ln w="12700">
            <a:solidFill>
              <a:schemeClr val="bg1"/>
            </a:solidFill>
            <a:prstDash val="solid"/>
          </a:ln>
        </p:spPr>
      </p:sp>
      <p:sp>
        <p:nvSpPr>
          <p:cNvPr id="24" name="card"/>
          <p:cNvSpPr/>
          <p:nvPr/>
        </p:nvSpPr>
        <p:spPr>
          <a:xfrm>
            <a:off x="5345321" y="2240280"/>
            <a:ext cx="1470878" cy="3931920"/>
          </a:xfrm>
          <a:prstGeom prst="roundRect">
            <a:avLst>
              <a:gd name="adj" fmla="val 6217"/>
            </a:avLst>
          </a:prstGeom>
          <a:solidFill>
            <a:schemeClr val="tx2"/>
          </a:solidFill>
          <a:ln w="12700">
            <a:solidFill>
              <a:schemeClr val="accent2">
                <a:alpha val="38000"/>
              </a:schemeClr>
            </a:solidFill>
            <a:prstDash val="solid"/>
          </a:ln>
        </p:spPr>
      </p:sp>
      <p:sp>
        <p:nvSpPr>
          <p:cNvPr id="25" name="Text 23"/>
          <p:cNvSpPr txBox="1"/>
          <p:nvPr/>
        </p:nvSpPr>
        <p:spPr>
          <a:xfrm>
            <a:off x="5473337" y="2395728"/>
            <a:ext cx="1214846"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PHASE 3</a:t>
            </a:r>
            <a:endParaRPr lang="en-US" sz="1000" dirty="0"/>
          </a:p>
        </p:txBody>
      </p:sp>
      <p:sp>
        <p:nvSpPr>
          <p:cNvPr id="26" name="Text 24"/>
          <p:cNvSpPr txBox="1"/>
          <p:nvPr/>
        </p:nvSpPr>
        <p:spPr>
          <a:xfrm>
            <a:off x="5473337" y="2651760"/>
            <a:ext cx="1214846" cy="594360"/>
          </a:xfrm>
          <a:prstGeom prst="rect">
            <a:avLst/>
          </a:prstGeom>
          <a:noFill/>
          <a:ln/>
        </p:spPr>
        <p:txBody>
          <a:bodyPr wrap="square" lIns="0" tIns="0" rIns="0" bIns="0" rtlCol="0" anchor="t"/>
          <a:lstStyle/>
          <a:p>
            <a:pPr indent="0" marL="0">
              <a:buNone/>
            </a:pPr>
            <a:r>
              <a:rPr lang="en-US" sz="1400" b="1" dirty="0">
                <a:solidFill>
                  <a:schemeClr val="bg1"/>
                </a:solidFill>
              </a:rPr>
              <a:t>Investigation agent</a:t>
            </a:r>
            <a:endParaRPr lang="en-US" sz="1400" dirty="0"/>
          </a:p>
        </p:txBody>
      </p:sp>
      <p:sp>
        <p:nvSpPr>
          <p:cNvPr id="27" name="Text 25"/>
          <p:cNvSpPr txBox="1"/>
          <p:nvPr/>
        </p:nvSpPr>
        <p:spPr>
          <a:xfrm>
            <a:off x="5473337" y="3291840"/>
            <a:ext cx="1233134" cy="1828800"/>
          </a:xfrm>
          <a:prstGeom prst="rect">
            <a:avLst/>
          </a:prstGeom>
          <a:noFill/>
          <a:ln/>
        </p:spPr>
        <p:txBody>
          <a:bodyPr wrap="square" lIns="0" tIns="0" rIns="0" bIns="0" rtlCol="0" anchor="t"/>
          <a:lstStyle/>
          <a:p>
            <a:pPr indent="0" marL="0">
              <a:buNone/>
            </a:pPr>
            <a:r>
              <a:rPr lang="en-US" sz="1150" dirty="0">
                <a:solidFill>
                  <a:schemeClr val="bg2"/>
                </a:solidFill>
              </a:rPr>
              <a:t>Typed tools: repo context, reachable resources, advisory trace, evidence retrieval.</a:t>
            </a:r>
            <a:endParaRPr lang="en-US" sz="1150" dirty="0"/>
          </a:p>
        </p:txBody>
      </p:sp>
      <p:sp>
        <p:nvSpPr>
          <p:cNvPr id="28" name="Text 26"/>
          <p:cNvSpPr txBox="1"/>
          <p:nvPr/>
        </p:nvSpPr>
        <p:spPr>
          <a:xfrm>
            <a:off x="5473337" y="5166360"/>
            <a:ext cx="1233134" cy="914400"/>
          </a:xfrm>
          <a:prstGeom prst="rect">
            <a:avLst/>
          </a:prstGeom>
          <a:noFill/>
          <a:ln/>
        </p:spPr>
        <p:txBody>
          <a:bodyPr wrap="square" lIns="0" tIns="0" rIns="0" bIns="0" rtlCol="0" anchor="t"/>
          <a:lstStyle/>
          <a:p>
            <a:pPr indent="0" marL="0">
              <a:buNone/>
            </a:pPr>
            <a:r>
              <a:rPr lang="en-US" sz="900" b="1" dirty="0">
                <a:solidFill>
                  <a:schemeClr val="accent5"/>
                </a:solidFill>
              </a:rPr>
              <a:t>EXIT  </a:t>
            </a:r>
            <a:pPr indent="0" marL="0">
              <a:buNone/>
            </a:pPr>
            <a:r>
              <a:rPr lang="en-US" sz="1100" dirty="0">
                <a:solidFill>
                  <a:schemeClr val="accent5"/>
                </a:solidFill>
              </a:rPr>
              <a:t>Conclusions cite path and evidence</a:t>
            </a:r>
            <a:endParaRPr lang="en-US" sz="1400" dirty="0"/>
          </a:p>
        </p:txBody>
      </p:sp>
      <p:sp>
        <p:nvSpPr>
          <p:cNvPr id="29" name="phase dot"/>
          <p:cNvSpPr/>
          <p:nvPr/>
        </p:nvSpPr>
        <p:spPr>
          <a:xfrm>
            <a:off x="7524206" y="1737360"/>
            <a:ext cx="274320" cy="274320"/>
          </a:xfrm>
          <a:prstGeom prst="ellipse">
            <a:avLst/>
          </a:prstGeom>
          <a:solidFill>
            <a:schemeClr val="accent2"/>
          </a:solidFill>
          <a:ln w="12700">
            <a:solidFill>
              <a:schemeClr val="bg1"/>
            </a:solidFill>
            <a:prstDash val="solid"/>
          </a:ln>
        </p:spPr>
      </p:sp>
      <p:sp>
        <p:nvSpPr>
          <p:cNvPr id="30" name="card"/>
          <p:cNvSpPr/>
          <p:nvPr/>
        </p:nvSpPr>
        <p:spPr>
          <a:xfrm>
            <a:off x="6925927" y="2240280"/>
            <a:ext cx="1470878" cy="3931920"/>
          </a:xfrm>
          <a:prstGeom prst="roundRect">
            <a:avLst>
              <a:gd name="adj" fmla="val 6217"/>
            </a:avLst>
          </a:prstGeom>
          <a:solidFill>
            <a:schemeClr val="tx2"/>
          </a:solidFill>
          <a:ln w="12700">
            <a:solidFill>
              <a:schemeClr val="accent2">
                <a:alpha val="38000"/>
              </a:schemeClr>
            </a:solidFill>
            <a:prstDash val="solid"/>
          </a:ln>
        </p:spPr>
      </p:sp>
      <p:sp>
        <p:nvSpPr>
          <p:cNvPr id="31" name="Text 29"/>
          <p:cNvSpPr txBox="1"/>
          <p:nvPr/>
        </p:nvSpPr>
        <p:spPr>
          <a:xfrm>
            <a:off x="7053943" y="2395728"/>
            <a:ext cx="1214846"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PHASE 4</a:t>
            </a:r>
            <a:endParaRPr lang="en-US" sz="1000" dirty="0"/>
          </a:p>
        </p:txBody>
      </p:sp>
      <p:sp>
        <p:nvSpPr>
          <p:cNvPr id="32" name="Text 30"/>
          <p:cNvSpPr txBox="1"/>
          <p:nvPr/>
        </p:nvSpPr>
        <p:spPr>
          <a:xfrm>
            <a:off x="7053943" y="2651760"/>
            <a:ext cx="1214846" cy="594360"/>
          </a:xfrm>
          <a:prstGeom prst="rect">
            <a:avLst/>
          </a:prstGeom>
          <a:noFill/>
          <a:ln/>
        </p:spPr>
        <p:txBody>
          <a:bodyPr wrap="square" lIns="0" tIns="0" rIns="0" bIns="0" rtlCol="0" anchor="t"/>
          <a:lstStyle/>
          <a:p>
            <a:pPr indent="0" marL="0">
              <a:buNone/>
            </a:pPr>
            <a:r>
              <a:rPr lang="en-US" sz="1400" b="1" dirty="0">
                <a:solidFill>
                  <a:schemeClr val="bg1"/>
                </a:solidFill>
              </a:rPr>
              <a:t>Findings UI</a:t>
            </a:r>
            <a:endParaRPr lang="en-US" sz="1400" dirty="0"/>
          </a:p>
        </p:txBody>
      </p:sp>
      <p:sp>
        <p:nvSpPr>
          <p:cNvPr id="33" name="Text 31"/>
          <p:cNvSpPr txBox="1"/>
          <p:nvPr/>
        </p:nvSpPr>
        <p:spPr>
          <a:xfrm>
            <a:off x="7053943" y="3291840"/>
            <a:ext cx="1233134" cy="1828800"/>
          </a:xfrm>
          <a:prstGeom prst="rect">
            <a:avLst/>
          </a:prstGeom>
          <a:noFill/>
          <a:ln/>
        </p:spPr>
        <p:txBody>
          <a:bodyPr wrap="square" lIns="0" tIns="0" rIns="0" bIns="0" rtlCol="0" anchor="t"/>
          <a:lstStyle/>
          <a:p>
            <a:pPr indent="0" marL="0">
              <a:buNone/>
            </a:pPr>
            <a:r>
              <a:rPr lang="en-US" sz="1150" dirty="0">
                <a:solidFill>
                  <a:schemeClr val="bg2"/>
                </a:solidFill>
              </a:rPr>
              <a:t>Filters, detail tabs, path steps, evidence panel, ownership, proposal review.</a:t>
            </a:r>
            <a:endParaRPr lang="en-US" sz="1150" dirty="0"/>
          </a:p>
        </p:txBody>
      </p:sp>
      <p:sp>
        <p:nvSpPr>
          <p:cNvPr id="34" name="Text 32"/>
          <p:cNvSpPr txBox="1"/>
          <p:nvPr/>
        </p:nvSpPr>
        <p:spPr>
          <a:xfrm>
            <a:off x="7053943" y="5166360"/>
            <a:ext cx="1233134" cy="914400"/>
          </a:xfrm>
          <a:prstGeom prst="rect">
            <a:avLst/>
          </a:prstGeom>
          <a:noFill/>
          <a:ln/>
        </p:spPr>
        <p:txBody>
          <a:bodyPr wrap="square" lIns="0" tIns="0" rIns="0" bIns="0" rtlCol="0" anchor="t"/>
          <a:lstStyle/>
          <a:p>
            <a:pPr indent="0" marL="0">
              <a:buNone/>
            </a:pPr>
            <a:r>
              <a:rPr lang="en-US" sz="900" b="1" dirty="0">
                <a:solidFill>
                  <a:schemeClr val="accent5"/>
                </a:solidFill>
              </a:rPr>
              <a:t>EXIT  </a:t>
            </a:r>
            <a:pPr indent="0" marL="0">
              <a:buNone/>
            </a:pPr>
            <a:r>
              <a:rPr lang="en-US" sz="1100" dirty="0">
                <a:solidFill>
                  <a:schemeClr val="accent5"/>
                </a:solidFill>
              </a:rPr>
              <a:t>Claim → evidence → path is followable</a:t>
            </a:r>
            <a:endParaRPr lang="en-US" sz="1400" dirty="0"/>
          </a:p>
        </p:txBody>
      </p:sp>
      <p:sp>
        <p:nvSpPr>
          <p:cNvPr id="35" name="phase dot"/>
          <p:cNvSpPr/>
          <p:nvPr/>
        </p:nvSpPr>
        <p:spPr>
          <a:xfrm>
            <a:off x="9104811" y="1737360"/>
            <a:ext cx="274320" cy="274320"/>
          </a:xfrm>
          <a:prstGeom prst="ellipse">
            <a:avLst/>
          </a:prstGeom>
          <a:solidFill>
            <a:schemeClr val="accent2"/>
          </a:solidFill>
          <a:ln w="12700">
            <a:solidFill>
              <a:schemeClr val="bg1"/>
            </a:solidFill>
            <a:prstDash val="solid"/>
          </a:ln>
        </p:spPr>
      </p:sp>
      <p:sp>
        <p:nvSpPr>
          <p:cNvPr id="36" name="card"/>
          <p:cNvSpPr/>
          <p:nvPr/>
        </p:nvSpPr>
        <p:spPr>
          <a:xfrm>
            <a:off x="8506533" y="2240280"/>
            <a:ext cx="1470878" cy="3931920"/>
          </a:xfrm>
          <a:prstGeom prst="roundRect">
            <a:avLst>
              <a:gd name="adj" fmla="val 6217"/>
            </a:avLst>
          </a:prstGeom>
          <a:solidFill>
            <a:schemeClr val="tx2"/>
          </a:solidFill>
          <a:ln w="12700">
            <a:solidFill>
              <a:schemeClr val="accent2">
                <a:alpha val="38000"/>
              </a:schemeClr>
            </a:solidFill>
            <a:prstDash val="solid"/>
          </a:ln>
        </p:spPr>
      </p:sp>
      <p:sp>
        <p:nvSpPr>
          <p:cNvPr id="37" name="Text 35"/>
          <p:cNvSpPr txBox="1"/>
          <p:nvPr/>
        </p:nvSpPr>
        <p:spPr>
          <a:xfrm>
            <a:off x="8634549" y="2395728"/>
            <a:ext cx="1214846"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PHASE 5</a:t>
            </a:r>
            <a:endParaRPr lang="en-US" sz="1000" dirty="0"/>
          </a:p>
        </p:txBody>
      </p:sp>
      <p:sp>
        <p:nvSpPr>
          <p:cNvPr id="38" name="Text 36"/>
          <p:cNvSpPr txBox="1"/>
          <p:nvPr/>
        </p:nvSpPr>
        <p:spPr>
          <a:xfrm>
            <a:off x="8634549" y="2651760"/>
            <a:ext cx="1214846" cy="594360"/>
          </a:xfrm>
          <a:prstGeom prst="rect">
            <a:avLst/>
          </a:prstGeom>
          <a:noFill/>
          <a:ln/>
        </p:spPr>
        <p:txBody>
          <a:bodyPr wrap="square" lIns="0" tIns="0" rIns="0" bIns="0" rtlCol="0" anchor="t"/>
          <a:lstStyle/>
          <a:p>
            <a:pPr indent="0" marL="0">
              <a:buNone/>
            </a:pPr>
            <a:r>
              <a:rPr lang="en-US" sz="1400" b="1" dirty="0">
                <a:solidFill>
                  <a:schemeClr val="bg1"/>
                </a:solidFill>
              </a:rPr>
              <a:t>Remediation &amp; verify</a:t>
            </a:r>
            <a:endParaRPr lang="en-US" sz="1400" dirty="0"/>
          </a:p>
        </p:txBody>
      </p:sp>
      <p:sp>
        <p:nvSpPr>
          <p:cNvPr id="39" name="Text 37"/>
          <p:cNvSpPr txBox="1"/>
          <p:nvPr/>
        </p:nvSpPr>
        <p:spPr>
          <a:xfrm>
            <a:off x="8634549" y="3291840"/>
            <a:ext cx="1233134" cy="1828800"/>
          </a:xfrm>
          <a:prstGeom prst="rect">
            <a:avLst/>
          </a:prstGeom>
          <a:noFill/>
          <a:ln/>
        </p:spPr>
        <p:txBody>
          <a:bodyPr wrap="square" lIns="0" tIns="0" rIns="0" bIns="0" rtlCol="0" anchor="t"/>
          <a:lstStyle/>
          <a:p>
            <a:pPr indent="0" marL="0">
              <a:buNone/>
            </a:pPr>
            <a:r>
              <a:rPr lang="en-US" sz="1150" dirty="0">
                <a:solidFill>
                  <a:schemeClr val="bg2"/>
                </a:solidFill>
              </a:rPr>
              <a:t>Constrained change, diff validation, approval, isolated tests, graph recompute.</a:t>
            </a:r>
            <a:endParaRPr lang="en-US" sz="1150" dirty="0"/>
          </a:p>
        </p:txBody>
      </p:sp>
      <p:sp>
        <p:nvSpPr>
          <p:cNvPr id="40" name="Text 38"/>
          <p:cNvSpPr txBox="1"/>
          <p:nvPr/>
        </p:nvSpPr>
        <p:spPr>
          <a:xfrm>
            <a:off x="8634549" y="5166360"/>
            <a:ext cx="1233134" cy="914400"/>
          </a:xfrm>
          <a:prstGeom prst="rect">
            <a:avLst/>
          </a:prstGeom>
          <a:noFill/>
          <a:ln/>
        </p:spPr>
        <p:txBody>
          <a:bodyPr wrap="square" lIns="0" tIns="0" rIns="0" bIns="0" rtlCol="0" anchor="t"/>
          <a:lstStyle/>
          <a:p>
            <a:pPr indent="0" marL="0">
              <a:buNone/>
            </a:pPr>
            <a:r>
              <a:rPr lang="en-US" sz="900" b="1" dirty="0">
                <a:solidFill>
                  <a:schemeClr val="accent5"/>
                </a:solidFill>
              </a:rPr>
              <a:t>EXIT  </a:t>
            </a:r>
            <a:pPr indent="0" marL="0">
              <a:buNone/>
            </a:pPr>
            <a:r>
              <a:rPr lang="en-US" sz="1100" dirty="0">
                <a:solidFill>
                  <a:schemeClr val="accent5"/>
                </a:solidFill>
              </a:rPr>
              <a:t>Path removed; legit behavior passes</a:t>
            </a:r>
            <a:endParaRPr lang="en-US" sz="1400" dirty="0"/>
          </a:p>
        </p:txBody>
      </p:sp>
      <p:sp>
        <p:nvSpPr>
          <p:cNvPr id="41" name="phase dot"/>
          <p:cNvSpPr/>
          <p:nvPr/>
        </p:nvSpPr>
        <p:spPr>
          <a:xfrm>
            <a:off x="10685417" y="1737360"/>
            <a:ext cx="274320" cy="274320"/>
          </a:xfrm>
          <a:prstGeom prst="ellipse">
            <a:avLst/>
          </a:prstGeom>
          <a:solidFill>
            <a:schemeClr val="accent2"/>
          </a:solidFill>
          <a:ln w="12700">
            <a:solidFill>
              <a:schemeClr val="bg1"/>
            </a:solidFill>
            <a:prstDash val="solid"/>
          </a:ln>
        </p:spPr>
      </p:sp>
      <p:sp>
        <p:nvSpPr>
          <p:cNvPr id="42" name="card"/>
          <p:cNvSpPr/>
          <p:nvPr/>
        </p:nvSpPr>
        <p:spPr>
          <a:xfrm>
            <a:off x="10087138" y="2240280"/>
            <a:ext cx="1470878" cy="3931920"/>
          </a:xfrm>
          <a:prstGeom prst="roundRect">
            <a:avLst>
              <a:gd name="adj" fmla="val 6217"/>
            </a:avLst>
          </a:prstGeom>
          <a:solidFill>
            <a:schemeClr val="tx2"/>
          </a:solidFill>
          <a:ln w="12700">
            <a:solidFill>
              <a:schemeClr val="accent2">
                <a:alpha val="38000"/>
              </a:schemeClr>
            </a:solidFill>
            <a:prstDash val="solid"/>
          </a:ln>
        </p:spPr>
      </p:sp>
      <p:sp>
        <p:nvSpPr>
          <p:cNvPr id="43" name="Text 41"/>
          <p:cNvSpPr txBox="1"/>
          <p:nvPr/>
        </p:nvSpPr>
        <p:spPr>
          <a:xfrm>
            <a:off x="10215154" y="2395728"/>
            <a:ext cx="1214846"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PHASE 6</a:t>
            </a:r>
            <a:endParaRPr lang="en-US" sz="1000" dirty="0"/>
          </a:p>
        </p:txBody>
      </p:sp>
      <p:sp>
        <p:nvSpPr>
          <p:cNvPr id="44" name="Text 42"/>
          <p:cNvSpPr txBox="1"/>
          <p:nvPr/>
        </p:nvSpPr>
        <p:spPr>
          <a:xfrm>
            <a:off x="10215154" y="2651760"/>
            <a:ext cx="1214846" cy="594360"/>
          </a:xfrm>
          <a:prstGeom prst="rect">
            <a:avLst/>
          </a:prstGeom>
          <a:noFill/>
          <a:ln/>
        </p:spPr>
        <p:txBody>
          <a:bodyPr wrap="square" lIns="0" tIns="0" rIns="0" bIns="0" rtlCol="0" anchor="t"/>
          <a:lstStyle/>
          <a:p>
            <a:pPr indent="0" marL="0">
              <a:buNone/>
            </a:pPr>
            <a:r>
              <a:rPr lang="en-US" sz="1400" b="1" dirty="0">
                <a:solidFill>
                  <a:schemeClr val="bg1"/>
                </a:solidFill>
              </a:rPr>
              <a:t>Polish &amp; submit</a:t>
            </a:r>
            <a:endParaRPr lang="en-US" sz="1400" dirty="0"/>
          </a:p>
        </p:txBody>
      </p:sp>
      <p:sp>
        <p:nvSpPr>
          <p:cNvPr id="45" name="Text 43"/>
          <p:cNvSpPr txBox="1"/>
          <p:nvPr/>
        </p:nvSpPr>
        <p:spPr>
          <a:xfrm>
            <a:off x="10215154" y="3291840"/>
            <a:ext cx="1233134" cy="1828800"/>
          </a:xfrm>
          <a:prstGeom prst="rect">
            <a:avLst/>
          </a:prstGeom>
          <a:noFill/>
          <a:ln/>
        </p:spPr>
        <p:txBody>
          <a:bodyPr wrap="square" lIns="0" tIns="0" rIns="0" bIns="0" rtlCol="0" anchor="t"/>
          <a:lstStyle/>
          <a:p>
            <a:pPr indent="0" marL="0">
              <a:buNone/>
            </a:pPr>
            <a:r>
              <a:rPr lang="en-US" sz="1150" dirty="0">
                <a:solidFill>
                  <a:schemeClr val="bg2"/>
                </a:solidFill>
              </a:rPr>
              <a:t>Harden webhooks, setup scripts, schema docs, demo video, clean-install test.</a:t>
            </a:r>
            <a:endParaRPr lang="en-US" sz="1150" dirty="0"/>
          </a:p>
        </p:txBody>
      </p:sp>
      <p:sp>
        <p:nvSpPr>
          <p:cNvPr id="46" name="Text 44"/>
          <p:cNvSpPr txBox="1"/>
          <p:nvPr/>
        </p:nvSpPr>
        <p:spPr>
          <a:xfrm>
            <a:off x="10215154" y="5166360"/>
            <a:ext cx="1233134" cy="914400"/>
          </a:xfrm>
          <a:prstGeom prst="rect">
            <a:avLst/>
          </a:prstGeom>
          <a:noFill/>
          <a:ln/>
        </p:spPr>
        <p:txBody>
          <a:bodyPr wrap="square" lIns="0" tIns="0" rIns="0" bIns="0" rtlCol="0" anchor="t"/>
          <a:lstStyle/>
          <a:p>
            <a:pPr indent="0" marL="0">
              <a:buNone/>
            </a:pPr>
            <a:r>
              <a:rPr lang="en-US" sz="900" b="1" dirty="0">
                <a:solidFill>
                  <a:schemeClr val="accent5"/>
                </a:solidFill>
              </a:rPr>
              <a:t>EXIT  </a:t>
            </a:r>
            <a:pPr indent="0" marL="0">
              <a:buNone/>
            </a:pPr>
            <a:r>
              <a:rPr lang="en-US" sz="1100" dirty="0">
                <a:solidFill>
                  <a:schemeClr val="accent5"/>
                </a:solidFill>
              </a:rPr>
              <a:t>Reproducible repo, truthful results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PRIORITY TIERS</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Make the core work before adding anything else</a:t>
            </a:r>
            <a:endParaRPr lang="en-US" sz="3200" dirty="0"/>
          </a:p>
        </p:txBody>
      </p:sp>
      <p:sp>
        <p:nvSpPr>
          <p:cNvPr id="4" name="card"/>
          <p:cNvSpPr/>
          <p:nvPr/>
        </p:nvSpPr>
        <p:spPr>
          <a:xfrm>
            <a:off x="548640" y="1600200"/>
            <a:ext cx="3566160" cy="4526280"/>
          </a:xfrm>
          <a:prstGeom prst="roundRect">
            <a:avLst>
              <a:gd name="adj" fmla="val 2564"/>
            </a:avLst>
          </a:prstGeom>
          <a:solidFill>
            <a:schemeClr val="tx2"/>
          </a:solidFill>
          <a:ln w="22225">
            <a:solidFill>
              <a:schemeClr val="accent3">
                <a:alpha val="90000"/>
              </a:schemeClr>
            </a:solidFill>
            <a:prstDash val="solid"/>
          </a:ln>
        </p:spPr>
      </p:sp>
      <p:sp>
        <p:nvSpPr>
          <p:cNvPr id="5" name="Text 3"/>
          <p:cNvSpPr txBox="1"/>
          <p:nvPr/>
        </p:nvSpPr>
        <p:spPr>
          <a:xfrm>
            <a:off x="868680" y="1874520"/>
            <a:ext cx="301752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P0 · MUST WORK</a:t>
            </a:r>
            <a:endParaRPr lang="en-US" sz="1200" dirty="0"/>
          </a:p>
        </p:txBody>
      </p:sp>
      <p:sp>
        <p:nvSpPr>
          <p:cNvPr id="6" name="Text 4"/>
          <p:cNvSpPr txBox="1"/>
          <p:nvPr/>
        </p:nvSpPr>
        <p:spPr>
          <a:xfrm>
            <a:off x="868680" y="2194560"/>
            <a:ext cx="3017520" cy="457200"/>
          </a:xfrm>
          <a:prstGeom prst="rect">
            <a:avLst/>
          </a:prstGeom>
          <a:noFill/>
          <a:ln/>
        </p:spPr>
        <p:txBody>
          <a:bodyPr wrap="square" lIns="0" tIns="0" rIns="0" bIns="0" rtlCol="0" anchor="t"/>
          <a:lstStyle/>
          <a:p>
            <a:pPr indent="0" marL="0">
              <a:buNone/>
            </a:pPr>
            <a:r>
              <a:rPr lang="en-US" sz="2200" b="1" dirty="0">
                <a:solidFill>
                  <a:schemeClr val="bg1"/>
                </a:solidFill>
              </a:rPr>
              <a:t>Graph-native core</a:t>
            </a:r>
            <a:endParaRPr lang="en-US" sz="2200" dirty="0"/>
          </a:p>
        </p:txBody>
      </p:sp>
      <p:pic>
        <p:nvPicPr>
          <p:cNvPr id="7" name="item icon" descr="preencoded.png">    </p:cNvPr>
          <p:cNvPicPr>
            <a:picLocks noChangeAspect="1"/>
          </p:cNvPicPr>
          <p:nvPr/>
        </p:nvPicPr>
        <p:blipFill>
          <a:blip r:embed="rId1"/>
          <a:stretch>
            <a:fillRect/>
          </a:stretch>
        </p:blipFill>
        <p:spPr>
          <a:xfrm>
            <a:off x="868680" y="2971800"/>
            <a:ext cx="256032" cy="256032"/>
          </a:xfrm>
          <a:prstGeom prst="rect">
            <a:avLst/>
          </a:prstGeom>
        </p:spPr>
      </p:pic>
      <p:sp>
        <p:nvSpPr>
          <p:cNvPr id="8" name="Text 5"/>
          <p:cNvSpPr txBox="1"/>
          <p:nvPr/>
        </p:nvSpPr>
        <p:spPr>
          <a:xfrm>
            <a:off x="1280160" y="2926080"/>
            <a:ext cx="2697480" cy="365760"/>
          </a:xfrm>
          <a:prstGeom prst="rect">
            <a:avLst/>
          </a:prstGeom>
          <a:noFill/>
          <a:ln/>
        </p:spPr>
        <p:txBody>
          <a:bodyPr wrap="square" lIns="0" tIns="0" rIns="0" bIns="0" rtlCol="0" anchor="ctr"/>
          <a:lstStyle/>
          <a:p>
            <a:pPr indent="0" marL="0">
              <a:buNone/>
            </a:pPr>
            <a:r>
              <a:rPr lang="en-US" sz="1400" dirty="0">
                <a:solidFill>
                  <a:schemeClr val="bg2"/>
                </a:solidFill>
              </a:rPr>
              <a:t>FalkorDB ingestion and traversal</a:t>
            </a:r>
            <a:endParaRPr lang="en-US" sz="1400" dirty="0"/>
          </a:p>
        </p:txBody>
      </p:sp>
      <p:pic>
        <p:nvPicPr>
          <p:cNvPr id="9" name="item icon" descr="preencoded.png">    </p:cNvPr>
          <p:cNvPicPr>
            <a:picLocks noChangeAspect="1"/>
          </p:cNvPicPr>
          <p:nvPr/>
        </p:nvPicPr>
        <p:blipFill>
          <a:blip r:embed="rId2"/>
          <a:stretch>
            <a:fillRect/>
          </a:stretch>
        </p:blipFill>
        <p:spPr>
          <a:xfrm>
            <a:off x="868680" y="3566160"/>
            <a:ext cx="256032" cy="256032"/>
          </a:xfrm>
          <a:prstGeom prst="rect">
            <a:avLst/>
          </a:prstGeom>
        </p:spPr>
      </p:pic>
      <p:sp>
        <p:nvSpPr>
          <p:cNvPr id="10" name="Text 6"/>
          <p:cNvSpPr txBox="1"/>
          <p:nvPr/>
        </p:nvSpPr>
        <p:spPr>
          <a:xfrm>
            <a:off x="1280160" y="3520440"/>
            <a:ext cx="2697480" cy="365760"/>
          </a:xfrm>
          <a:prstGeom prst="rect">
            <a:avLst/>
          </a:prstGeom>
          <a:noFill/>
          <a:ln/>
        </p:spPr>
        <p:txBody>
          <a:bodyPr wrap="square" lIns="0" tIns="0" rIns="0" bIns="0" rtlCol="0" anchor="ctr"/>
          <a:lstStyle/>
          <a:p>
            <a:pPr indent="0" marL="0">
              <a:buNone/>
            </a:pPr>
            <a:r>
              <a:rPr lang="en-US" sz="1400" dirty="0">
                <a:solidFill>
                  <a:schemeClr val="bg2"/>
                </a:solidFill>
              </a:rPr>
              <a:t>One useful attack-path investigation</a:t>
            </a:r>
            <a:endParaRPr lang="en-US" sz="1400" dirty="0"/>
          </a:p>
        </p:txBody>
      </p:sp>
      <p:pic>
        <p:nvPicPr>
          <p:cNvPr id="11" name="item icon" descr="preencoded.png">    </p:cNvPr>
          <p:cNvPicPr>
            <a:picLocks noChangeAspect="1"/>
          </p:cNvPicPr>
          <p:nvPr/>
        </p:nvPicPr>
        <p:blipFill>
          <a:blip r:embed="rId3"/>
          <a:stretch>
            <a:fillRect/>
          </a:stretch>
        </p:blipFill>
        <p:spPr>
          <a:xfrm>
            <a:off x="868680" y="4160520"/>
            <a:ext cx="256032" cy="256032"/>
          </a:xfrm>
          <a:prstGeom prst="rect">
            <a:avLst/>
          </a:prstGeom>
        </p:spPr>
      </p:pic>
      <p:sp>
        <p:nvSpPr>
          <p:cNvPr id="12" name="Text 7"/>
          <p:cNvSpPr txBox="1"/>
          <p:nvPr/>
        </p:nvSpPr>
        <p:spPr>
          <a:xfrm>
            <a:off x="1280160" y="4114800"/>
            <a:ext cx="2697480" cy="365760"/>
          </a:xfrm>
          <a:prstGeom prst="rect">
            <a:avLst/>
          </a:prstGeom>
          <a:noFill/>
          <a:ln/>
        </p:spPr>
        <p:txBody>
          <a:bodyPr wrap="square" lIns="0" tIns="0" rIns="0" bIns="0" rtlCol="0" anchor="ctr"/>
          <a:lstStyle/>
          <a:p>
            <a:pPr indent="0" marL="0">
              <a:buNone/>
            </a:pPr>
            <a:r>
              <a:rPr lang="en-US" sz="1400" dirty="0">
                <a:solidFill>
                  <a:schemeClr val="bg2"/>
                </a:solidFill>
              </a:rPr>
              <a:t>Evidence-backed finding detail</a:t>
            </a:r>
            <a:endParaRPr lang="en-US" sz="1400" dirty="0"/>
          </a:p>
        </p:txBody>
      </p:sp>
      <p:pic>
        <p:nvPicPr>
          <p:cNvPr id="13" name="item icon" descr="preencoded.png">    </p:cNvPr>
          <p:cNvPicPr>
            <a:picLocks noChangeAspect="1"/>
          </p:cNvPicPr>
          <p:nvPr/>
        </p:nvPicPr>
        <p:blipFill>
          <a:blip r:embed="rId4"/>
          <a:stretch>
            <a:fillRect/>
          </a:stretch>
        </p:blipFill>
        <p:spPr>
          <a:xfrm>
            <a:off x="868680" y="4754880"/>
            <a:ext cx="256032" cy="256032"/>
          </a:xfrm>
          <a:prstGeom prst="rect">
            <a:avLst/>
          </a:prstGeom>
        </p:spPr>
      </p:pic>
      <p:sp>
        <p:nvSpPr>
          <p:cNvPr id="14" name="Text 8"/>
          <p:cNvSpPr txBox="1"/>
          <p:nvPr/>
        </p:nvSpPr>
        <p:spPr>
          <a:xfrm>
            <a:off x="1280160" y="4709160"/>
            <a:ext cx="2697480" cy="365760"/>
          </a:xfrm>
          <a:prstGeom prst="rect">
            <a:avLst/>
          </a:prstGeom>
          <a:noFill/>
          <a:ln/>
        </p:spPr>
        <p:txBody>
          <a:bodyPr wrap="square" lIns="0" tIns="0" rIns="0" bIns="0" rtlCol="0" anchor="ctr"/>
          <a:lstStyle/>
          <a:p>
            <a:pPr indent="0" marL="0">
              <a:buNone/>
            </a:pPr>
            <a:r>
              <a:rPr lang="en-US" sz="1400" dirty="0">
                <a:solidFill>
                  <a:schemeClr val="bg2"/>
                </a:solidFill>
              </a:rPr>
              <a:t>One remediation and retest</a:t>
            </a:r>
            <a:endParaRPr lang="en-US" sz="1400" dirty="0"/>
          </a:p>
        </p:txBody>
      </p:sp>
      <p:pic>
        <p:nvPicPr>
          <p:cNvPr id="15" name="item icon" descr="preencoded.png">    </p:cNvPr>
          <p:cNvPicPr>
            <a:picLocks noChangeAspect="1"/>
          </p:cNvPicPr>
          <p:nvPr/>
        </p:nvPicPr>
        <p:blipFill>
          <a:blip r:embed="rId5"/>
          <a:stretch>
            <a:fillRect/>
          </a:stretch>
        </p:blipFill>
        <p:spPr>
          <a:xfrm>
            <a:off x="868680" y="5349240"/>
            <a:ext cx="256032" cy="256032"/>
          </a:xfrm>
          <a:prstGeom prst="rect">
            <a:avLst/>
          </a:prstGeom>
        </p:spPr>
      </p:pic>
      <p:sp>
        <p:nvSpPr>
          <p:cNvPr id="16" name="Text 9"/>
          <p:cNvSpPr txBox="1"/>
          <p:nvPr/>
        </p:nvSpPr>
        <p:spPr>
          <a:xfrm>
            <a:off x="1280160" y="5303520"/>
            <a:ext cx="2697480" cy="365760"/>
          </a:xfrm>
          <a:prstGeom prst="rect">
            <a:avLst/>
          </a:prstGeom>
          <a:noFill/>
          <a:ln/>
        </p:spPr>
        <p:txBody>
          <a:bodyPr wrap="square" lIns="0" tIns="0" rIns="0" bIns="0" rtlCol="0" anchor="ctr"/>
          <a:lstStyle/>
          <a:p>
            <a:pPr indent="0" marL="0">
              <a:buNone/>
            </a:pPr>
            <a:r>
              <a:rPr lang="en-US" sz="1400" dirty="0">
                <a:solidFill>
                  <a:schemeClr val="bg2"/>
                </a:solidFill>
              </a:rPr>
              <a:t>README and working demo</a:t>
            </a:r>
            <a:endParaRPr lang="en-US" sz="1400" dirty="0"/>
          </a:p>
        </p:txBody>
      </p:sp>
      <p:sp>
        <p:nvSpPr>
          <p:cNvPr id="17" name="card"/>
          <p:cNvSpPr/>
          <p:nvPr/>
        </p:nvSpPr>
        <p:spPr>
          <a:xfrm>
            <a:off x="4297680" y="1600200"/>
            <a:ext cx="3566160" cy="4526280"/>
          </a:xfrm>
          <a:prstGeom prst="roundRect">
            <a:avLst>
              <a:gd name="adj" fmla="val 2564"/>
            </a:avLst>
          </a:prstGeom>
          <a:solidFill>
            <a:schemeClr val="tx2"/>
          </a:solidFill>
          <a:ln w="12700">
            <a:solidFill>
              <a:schemeClr val="accent4">
                <a:alpha val="50000"/>
              </a:schemeClr>
            </a:solidFill>
            <a:prstDash val="solid"/>
          </a:ln>
        </p:spPr>
      </p:sp>
      <p:sp>
        <p:nvSpPr>
          <p:cNvPr id="18" name="Text 11"/>
          <p:cNvSpPr txBox="1"/>
          <p:nvPr/>
        </p:nvSpPr>
        <p:spPr>
          <a:xfrm>
            <a:off x="4617720" y="1874520"/>
            <a:ext cx="301752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P1 · ADD IF STABLE</a:t>
            </a:r>
            <a:endParaRPr lang="en-US" sz="1200" dirty="0"/>
          </a:p>
        </p:txBody>
      </p:sp>
      <p:sp>
        <p:nvSpPr>
          <p:cNvPr id="19" name="Text 12"/>
          <p:cNvSpPr txBox="1"/>
          <p:nvPr/>
        </p:nvSpPr>
        <p:spPr>
          <a:xfrm>
            <a:off x="4617720" y="2194560"/>
            <a:ext cx="3017520" cy="457200"/>
          </a:xfrm>
          <a:prstGeom prst="rect">
            <a:avLst/>
          </a:prstGeom>
          <a:noFill/>
          <a:ln/>
        </p:spPr>
        <p:txBody>
          <a:bodyPr wrap="square" lIns="0" tIns="0" rIns="0" bIns="0" rtlCol="0" anchor="t"/>
          <a:lstStyle/>
          <a:p>
            <a:pPr indent="0" marL="0">
              <a:buNone/>
            </a:pPr>
            <a:r>
              <a:rPr lang="en-US" sz="2200" b="1" dirty="0">
                <a:solidFill>
                  <a:schemeClr val="bg1"/>
                </a:solidFill>
              </a:rPr>
              <a:t>Business workflow</a:t>
            </a:r>
            <a:endParaRPr lang="en-US" sz="2200" dirty="0"/>
          </a:p>
        </p:txBody>
      </p:sp>
      <p:pic>
        <p:nvPicPr>
          <p:cNvPr id="20" name="item icon" descr="preencoded.png">    </p:cNvPr>
          <p:cNvPicPr>
            <a:picLocks noChangeAspect="1"/>
          </p:cNvPicPr>
          <p:nvPr/>
        </p:nvPicPr>
        <p:blipFill>
          <a:blip r:embed="rId6"/>
          <a:stretch>
            <a:fillRect/>
          </a:stretch>
        </p:blipFill>
        <p:spPr>
          <a:xfrm>
            <a:off x="4617720" y="2971800"/>
            <a:ext cx="256032" cy="256032"/>
          </a:xfrm>
          <a:prstGeom prst="rect">
            <a:avLst/>
          </a:prstGeom>
        </p:spPr>
      </p:pic>
      <p:sp>
        <p:nvSpPr>
          <p:cNvPr id="21" name="Text 13"/>
          <p:cNvSpPr txBox="1"/>
          <p:nvPr/>
        </p:nvSpPr>
        <p:spPr>
          <a:xfrm>
            <a:off x="5029200" y="2926080"/>
            <a:ext cx="2697480" cy="365760"/>
          </a:xfrm>
          <a:prstGeom prst="rect">
            <a:avLst/>
          </a:prstGeom>
          <a:noFill/>
          <a:ln/>
        </p:spPr>
        <p:txBody>
          <a:bodyPr wrap="square" lIns="0" tIns="0" rIns="0" bIns="0" rtlCol="0" anchor="ctr"/>
          <a:lstStyle/>
          <a:p>
            <a:pPr indent="0" marL="0">
              <a:buNone/>
            </a:pPr>
            <a:r>
              <a:rPr lang="en-US" sz="1400" dirty="0">
                <a:solidFill>
                  <a:schemeClr val="bg2"/>
                </a:solidFill>
              </a:rPr>
              <a:t>GitHub App onboarding</a:t>
            </a:r>
            <a:endParaRPr lang="en-US" sz="1400" dirty="0"/>
          </a:p>
        </p:txBody>
      </p:sp>
      <p:pic>
        <p:nvPicPr>
          <p:cNvPr id="22" name="item icon" descr="preencoded.png">    </p:cNvPr>
          <p:cNvPicPr>
            <a:picLocks noChangeAspect="1"/>
          </p:cNvPicPr>
          <p:nvPr/>
        </p:nvPicPr>
        <p:blipFill>
          <a:blip r:embed="rId7"/>
          <a:stretch>
            <a:fillRect/>
          </a:stretch>
        </p:blipFill>
        <p:spPr>
          <a:xfrm>
            <a:off x="4617720" y="3566160"/>
            <a:ext cx="256032" cy="256032"/>
          </a:xfrm>
          <a:prstGeom prst="rect">
            <a:avLst/>
          </a:prstGeom>
        </p:spPr>
      </p:pic>
      <p:sp>
        <p:nvSpPr>
          <p:cNvPr id="23" name="Text 14"/>
          <p:cNvSpPr txBox="1"/>
          <p:nvPr/>
        </p:nvSpPr>
        <p:spPr>
          <a:xfrm>
            <a:off x="5029200" y="3520440"/>
            <a:ext cx="2697480" cy="365760"/>
          </a:xfrm>
          <a:prstGeom prst="rect">
            <a:avLst/>
          </a:prstGeom>
          <a:noFill/>
          <a:ln/>
        </p:spPr>
        <p:txBody>
          <a:bodyPr wrap="square" lIns="0" tIns="0" rIns="0" bIns="0" rtlCol="0" anchor="ctr"/>
          <a:lstStyle/>
          <a:p>
            <a:pPr indent="0" marL="0">
              <a:buNone/>
            </a:pPr>
            <a:r>
              <a:rPr lang="en-US" sz="1400" dirty="0">
                <a:solidFill>
                  <a:schemeClr val="bg2"/>
                </a:solidFill>
              </a:rPr>
              <a:t>Webhook-driven updates</a:t>
            </a:r>
            <a:endParaRPr lang="en-US" sz="1400" dirty="0"/>
          </a:p>
        </p:txBody>
      </p:sp>
      <p:pic>
        <p:nvPicPr>
          <p:cNvPr id="24" name="item icon" descr="preencoded.png">    </p:cNvPr>
          <p:cNvPicPr>
            <a:picLocks noChangeAspect="1"/>
          </p:cNvPicPr>
          <p:nvPr/>
        </p:nvPicPr>
        <p:blipFill>
          <a:blip r:embed="rId8"/>
          <a:stretch>
            <a:fillRect/>
          </a:stretch>
        </p:blipFill>
        <p:spPr>
          <a:xfrm>
            <a:off x="4617720" y="4160520"/>
            <a:ext cx="256032" cy="256032"/>
          </a:xfrm>
          <a:prstGeom prst="rect">
            <a:avLst/>
          </a:prstGeom>
        </p:spPr>
      </p:pic>
      <p:sp>
        <p:nvSpPr>
          <p:cNvPr id="25" name="Text 15"/>
          <p:cNvSpPr txBox="1"/>
          <p:nvPr/>
        </p:nvSpPr>
        <p:spPr>
          <a:xfrm>
            <a:off x="5029200" y="4114800"/>
            <a:ext cx="2697480" cy="365760"/>
          </a:xfrm>
          <a:prstGeom prst="rect">
            <a:avLst/>
          </a:prstGeom>
          <a:noFill/>
          <a:ln/>
        </p:spPr>
        <p:txBody>
          <a:bodyPr wrap="square" lIns="0" tIns="0" rIns="0" bIns="0" rtlCol="0" anchor="ctr"/>
          <a:lstStyle/>
          <a:p>
            <a:pPr indent="0" marL="0">
              <a:buNone/>
            </a:pPr>
            <a:r>
              <a:rPr lang="en-US" sz="1400" dirty="0">
                <a:solidFill>
                  <a:schemeClr val="bg2"/>
                </a:solidFill>
              </a:rPr>
              <a:t>PR generation with approval</a:t>
            </a:r>
            <a:endParaRPr lang="en-US" sz="1400" dirty="0"/>
          </a:p>
        </p:txBody>
      </p:sp>
      <p:pic>
        <p:nvPicPr>
          <p:cNvPr id="26" name="item icon" descr="preencoded.png">    </p:cNvPr>
          <p:cNvPicPr>
            <a:picLocks noChangeAspect="1"/>
          </p:cNvPicPr>
          <p:nvPr/>
        </p:nvPicPr>
        <p:blipFill>
          <a:blip r:embed="rId9"/>
          <a:stretch>
            <a:fillRect/>
          </a:stretch>
        </p:blipFill>
        <p:spPr>
          <a:xfrm>
            <a:off x="4617720" y="4754880"/>
            <a:ext cx="256032" cy="256032"/>
          </a:xfrm>
          <a:prstGeom prst="rect">
            <a:avLst/>
          </a:prstGeom>
        </p:spPr>
      </p:pic>
      <p:sp>
        <p:nvSpPr>
          <p:cNvPr id="27" name="Text 16"/>
          <p:cNvSpPr txBox="1"/>
          <p:nvPr/>
        </p:nvSpPr>
        <p:spPr>
          <a:xfrm>
            <a:off x="5029200" y="4709160"/>
            <a:ext cx="2697480" cy="365760"/>
          </a:xfrm>
          <a:prstGeom prst="rect">
            <a:avLst/>
          </a:prstGeom>
          <a:noFill/>
          <a:ln/>
        </p:spPr>
        <p:txBody>
          <a:bodyPr wrap="square" lIns="0" tIns="0" rIns="0" bIns="0" rtlCol="0" anchor="ctr"/>
          <a:lstStyle/>
          <a:p>
            <a:pPr indent="0" marL="0">
              <a:buNone/>
            </a:pPr>
            <a:r>
              <a:rPr lang="en-US" sz="1400" dirty="0">
                <a:solidFill>
                  <a:schemeClr val="bg2"/>
                </a:solidFill>
              </a:rPr>
              <a:t>Team ownership and export</a:t>
            </a:r>
            <a:endParaRPr lang="en-US" sz="1400" dirty="0"/>
          </a:p>
        </p:txBody>
      </p:sp>
      <p:pic>
        <p:nvPicPr>
          <p:cNvPr id="28" name="item icon" descr="preencoded.png">    </p:cNvPr>
          <p:cNvPicPr>
            <a:picLocks noChangeAspect="1"/>
          </p:cNvPicPr>
          <p:nvPr/>
        </p:nvPicPr>
        <p:blipFill>
          <a:blip r:embed="rId10"/>
          <a:stretch>
            <a:fillRect/>
          </a:stretch>
        </p:blipFill>
        <p:spPr>
          <a:xfrm>
            <a:off x="4617720" y="5349240"/>
            <a:ext cx="256032" cy="256032"/>
          </a:xfrm>
          <a:prstGeom prst="rect">
            <a:avLst/>
          </a:prstGeom>
        </p:spPr>
      </p:pic>
      <p:sp>
        <p:nvSpPr>
          <p:cNvPr id="29" name="Text 17"/>
          <p:cNvSpPr txBox="1"/>
          <p:nvPr/>
        </p:nvSpPr>
        <p:spPr>
          <a:xfrm>
            <a:off x="5029200" y="5303520"/>
            <a:ext cx="2697480" cy="365760"/>
          </a:xfrm>
          <a:prstGeom prst="rect">
            <a:avLst/>
          </a:prstGeom>
          <a:noFill/>
          <a:ln/>
        </p:spPr>
        <p:txBody>
          <a:bodyPr wrap="square" lIns="0" tIns="0" rIns="0" bIns="0" rtlCol="0" anchor="ctr"/>
          <a:lstStyle/>
          <a:p>
            <a:pPr indent="0" marL="0">
              <a:buNone/>
            </a:pPr>
            <a:r>
              <a:rPr lang="en-US" sz="1400" dirty="0">
                <a:solidFill>
                  <a:schemeClr val="bg2"/>
                </a:solidFill>
              </a:rPr>
              <a:t>More than one attack scenario</a:t>
            </a:r>
            <a:endParaRPr lang="en-US" sz="1400" dirty="0"/>
          </a:p>
        </p:txBody>
      </p:sp>
      <p:sp>
        <p:nvSpPr>
          <p:cNvPr id="30" name="card"/>
          <p:cNvSpPr/>
          <p:nvPr/>
        </p:nvSpPr>
        <p:spPr>
          <a:xfrm>
            <a:off x="8046720" y="1600200"/>
            <a:ext cx="3566160" cy="4526280"/>
          </a:xfrm>
          <a:prstGeom prst="roundRect">
            <a:avLst>
              <a:gd name="adj" fmla="val 2564"/>
            </a:avLst>
          </a:prstGeom>
          <a:solidFill>
            <a:schemeClr val="tx2"/>
          </a:solidFill>
          <a:ln w="12700">
            <a:solidFill>
              <a:schemeClr val="accent6">
                <a:alpha val="50000"/>
              </a:schemeClr>
            </a:solidFill>
            <a:prstDash val="solid"/>
          </a:ln>
        </p:spPr>
      </p:sp>
      <p:sp>
        <p:nvSpPr>
          <p:cNvPr id="31" name="Text 19"/>
          <p:cNvSpPr txBox="1"/>
          <p:nvPr/>
        </p:nvSpPr>
        <p:spPr>
          <a:xfrm>
            <a:off x="8366760" y="1874520"/>
            <a:ext cx="301752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P2 · DEFER</a:t>
            </a:r>
            <a:endParaRPr lang="en-US" sz="1200" dirty="0"/>
          </a:p>
        </p:txBody>
      </p:sp>
      <p:sp>
        <p:nvSpPr>
          <p:cNvPr id="32" name="Text 20"/>
          <p:cNvSpPr txBox="1"/>
          <p:nvPr/>
        </p:nvSpPr>
        <p:spPr>
          <a:xfrm>
            <a:off x="8366760" y="2194560"/>
            <a:ext cx="3017520" cy="457200"/>
          </a:xfrm>
          <a:prstGeom prst="rect">
            <a:avLst/>
          </a:prstGeom>
          <a:noFill/>
          <a:ln/>
        </p:spPr>
        <p:txBody>
          <a:bodyPr wrap="square" lIns="0" tIns="0" rIns="0" bIns="0" rtlCol="0" anchor="t"/>
          <a:lstStyle/>
          <a:p>
            <a:pPr indent="0" marL="0">
              <a:buNone/>
            </a:pPr>
            <a:r>
              <a:rPr lang="en-US" sz="2200" b="1" dirty="0">
                <a:solidFill>
                  <a:schemeClr val="bg1"/>
                </a:solidFill>
              </a:rPr>
              <a:t>Expansion</a:t>
            </a:r>
            <a:endParaRPr lang="en-US" sz="2200" dirty="0"/>
          </a:p>
        </p:txBody>
      </p:sp>
      <p:pic>
        <p:nvPicPr>
          <p:cNvPr id="33" name="item icon" descr="preencoded.png">    </p:cNvPr>
          <p:cNvPicPr>
            <a:picLocks noChangeAspect="1"/>
          </p:cNvPicPr>
          <p:nvPr/>
        </p:nvPicPr>
        <p:blipFill>
          <a:blip r:embed="rId11"/>
          <a:stretch>
            <a:fillRect/>
          </a:stretch>
        </p:blipFill>
        <p:spPr>
          <a:xfrm>
            <a:off x="8366760" y="2971800"/>
            <a:ext cx="256032" cy="256032"/>
          </a:xfrm>
          <a:prstGeom prst="rect">
            <a:avLst/>
          </a:prstGeom>
        </p:spPr>
      </p:pic>
      <p:sp>
        <p:nvSpPr>
          <p:cNvPr id="34" name="Text 21"/>
          <p:cNvSpPr txBox="1"/>
          <p:nvPr/>
        </p:nvSpPr>
        <p:spPr>
          <a:xfrm>
            <a:off x="8778240" y="2926080"/>
            <a:ext cx="2697480" cy="365760"/>
          </a:xfrm>
          <a:prstGeom prst="rect">
            <a:avLst/>
          </a:prstGeom>
          <a:noFill/>
          <a:ln/>
        </p:spPr>
        <p:txBody>
          <a:bodyPr wrap="square" lIns="0" tIns="0" rIns="0" bIns="0" rtlCol="0" anchor="ctr"/>
          <a:lstStyle/>
          <a:p>
            <a:pPr indent="0" marL="0">
              <a:buNone/>
            </a:pPr>
            <a:r>
              <a:rPr lang="en-US" sz="1400" dirty="0">
                <a:solidFill>
                  <a:schemeClr val="bg2"/>
                </a:solidFill>
              </a:rPr>
              <a:t>Broad runtime gateway support</a:t>
            </a:r>
            <a:endParaRPr lang="en-US" sz="1400" dirty="0"/>
          </a:p>
        </p:txBody>
      </p:sp>
      <p:pic>
        <p:nvPicPr>
          <p:cNvPr id="35" name="item icon" descr="preencoded.png">    </p:cNvPr>
          <p:cNvPicPr>
            <a:picLocks noChangeAspect="1"/>
          </p:cNvPicPr>
          <p:nvPr/>
        </p:nvPicPr>
        <p:blipFill>
          <a:blip r:embed="rId12"/>
          <a:stretch>
            <a:fillRect/>
          </a:stretch>
        </p:blipFill>
        <p:spPr>
          <a:xfrm>
            <a:off x="8366760" y="3566160"/>
            <a:ext cx="256032" cy="256032"/>
          </a:xfrm>
          <a:prstGeom prst="rect">
            <a:avLst/>
          </a:prstGeom>
        </p:spPr>
      </p:pic>
      <p:sp>
        <p:nvSpPr>
          <p:cNvPr id="36" name="Text 22"/>
          <p:cNvSpPr txBox="1"/>
          <p:nvPr/>
        </p:nvSpPr>
        <p:spPr>
          <a:xfrm>
            <a:off x="8778240" y="3520440"/>
            <a:ext cx="2697480" cy="365760"/>
          </a:xfrm>
          <a:prstGeom prst="rect">
            <a:avLst/>
          </a:prstGeom>
          <a:noFill/>
          <a:ln/>
        </p:spPr>
        <p:txBody>
          <a:bodyPr wrap="square" lIns="0" tIns="0" rIns="0" bIns="0" rtlCol="0" anchor="ctr"/>
          <a:lstStyle/>
          <a:p>
            <a:pPr indent="0" marL="0">
              <a:buNone/>
            </a:pPr>
            <a:r>
              <a:rPr lang="en-US" sz="1400" dirty="0">
                <a:solidFill>
                  <a:schemeClr val="bg2"/>
                </a:solidFill>
              </a:rPr>
              <a:t>Multi-agent persistent memory</a:t>
            </a:r>
            <a:endParaRPr lang="en-US" sz="1400" dirty="0"/>
          </a:p>
        </p:txBody>
      </p:sp>
      <p:pic>
        <p:nvPicPr>
          <p:cNvPr id="37" name="item icon" descr="preencoded.png">    </p:cNvPr>
          <p:cNvPicPr>
            <a:picLocks noChangeAspect="1"/>
          </p:cNvPicPr>
          <p:nvPr/>
        </p:nvPicPr>
        <p:blipFill>
          <a:blip r:embed="rId13"/>
          <a:stretch>
            <a:fillRect/>
          </a:stretch>
        </p:blipFill>
        <p:spPr>
          <a:xfrm>
            <a:off x="8366760" y="4160520"/>
            <a:ext cx="256032" cy="256032"/>
          </a:xfrm>
          <a:prstGeom prst="rect">
            <a:avLst/>
          </a:prstGeom>
        </p:spPr>
      </p:pic>
      <p:sp>
        <p:nvSpPr>
          <p:cNvPr id="38" name="Text 23"/>
          <p:cNvSpPr txBox="1"/>
          <p:nvPr/>
        </p:nvSpPr>
        <p:spPr>
          <a:xfrm>
            <a:off x="8778240" y="4114800"/>
            <a:ext cx="2697480" cy="365760"/>
          </a:xfrm>
          <a:prstGeom prst="rect">
            <a:avLst/>
          </a:prstGeom>
          <a:noFill/>
          <a:ln/>
        </p:spPr>
        <p:txBody>
          <a:bodyPr wrap="square" lIns="0" tIns="0" rIns="0" bIns="0" rtlCol="0" anchor="ctr"/>
          <a:lstStyle/>
          <a:p>
            <a:pPr indent="0" marL="0">
              <a:buNone/>
            </a:pPr>
            <a:r>
              <a:rPr lang="en-US" sz="1400" dirty="0">
                <a:solidFill>
                  <a:schemeClr val="bg2"/>
                </a:solidFill>
              </a:rPr>
              <a:t>Enterprise SSO and advanced RBAC</a:t>
            </a:r>
            <a:endParaRPr lang="en-US" sz="1400" dirty="0"/>
          </a:p>
        </p:txBody>
      </p:sp>
      <p:pic>
        <p:nvPicPr>
          <p:cNvPr id="39" name="item icon" descr="preencoded.png">    </p:cNvPr>
          <p:cNvPicPr>
            <a:picLocks noChangeAspect="1"/>
          </p:cNvPicPr>
          <p:nvPr/>
        </p:nvPicPr>
        <p:blipFill>
          <a:blip r:embed="rId14"/>
          <a:stretch>
            <a:fillRect/>
          </a:stretch>
        </p:blipFill>
        <p:spPr>
          <a:xfrm>
            <a:off x="8366760" y="4754880"/>
            <a:ext cx="256032" cy="256032"/>
          </a:xfrm>
          <a:prstGeom prst="rect">
            <a:avLst/>
          </a:prstGeom>
        </p:spPr>
      </p:pic>
      <p:sp>
        <p:nvSpPr>
          <p:cNvPr id="40" name="Text 24"/>
          <p:cNvSpPr txBox="1"/>
          <p:nvPr/>
        </p:nvSpPr>
        <p:spPr>
          <a:xfrm>
            <a:off x="8778240" y="4709160"/>
            <a:ext cx="2697480" cy="365760"/>
          </a:xfrm>
          <a:prstGeom prst="rect">
            <a:avLst/>
          </a:prstGeom>
          <a:noFill/>
          <a:ln/>
        </p:spPr>
        <p:txBody>
          <a:bodyPr wrap="square" lIns="0" tIns="0" rIns="0" bIns="0" rtlCol="0" anchor="ctr"/>
          <a:lstStyle/>
          <a:p>
            <a:pPr indent="0" marL="0">
              <a:buNone/>
            </a:pPr>
            <a:r>
              <a:rPr lang="en-US" sz="1400" dirty="0">
                <a:solidFill>
                  <a:schemeClr val="bg2"/>
                </a:solidFill>
              </a:rPr>
              <a:t>Many CI providers</a:t>
            </a:r>
            <a:endParaRPr lang="en-US" sz="1400" dirty="0"/>
          </a:p>
        </p:txBody>
      </p:sp>
      <p:pic>
        <p:nvPicPr>
          <p:cNvPr id="41" name="item icon" descr="preencoded.png">    </p:cNvPr>
          <p:cNvPicPr>
            <a:picLocks noChangeAspect="1"/>
          </p:cNvPicPr>
          <p:nvPr/>
        </p:nvPicPr>
        <p:blipFill>
          <a:blip r:embed="rId15"/>
          <a:stretch>
            <a:fillRect/>
          </a:stretch>
        </p:blipFill>
        <p:spPr>
          <a:xfrm>
            <a:off x="8366760" y="5349240"/>
            <a:ext cx="256032" cy="256032"/>
          </a:xfrm>
          <a:prstGeom prst="rect">
            <a:avLst/>
          </a:prstGeom>
        </p:spPr>
      </p:pic>
      <p:sp>
        <p:nvSpPr>
          <p:cNvPr id="42" name="Text 25"/>
          <p:cNvSpPr txBox="1"/>
          <p:nvPr/>
        </p:nvSpPr>
        <p:spPr>
          <a:xfrm>
            <a:off x="8778240" y="5303520"/>
            <a:ext cx="2697480" cy="365760"/>
          </a:xfrm>
          <a:prstGeom prst="rect">
            <a:avLst/>
          </a:prstGeom>
          <a:noFill/>
          <a:ln/>
        </p:spPr>
        <p:txBody>
          <a:bodyPr wrap="square" lIns="0" tIns="0" rIns="0" bIns="0" rtlCol="0" anchor="ctr"/>
          <a:lstStyle/>
          <a:p>
            <a:pPr indent="0" marL="0">
              <a:buNone/>
            </a:pPr>
            <a:r>
              <a:rPr lang="en-US" sz="1400" dirty="0">
                <a:solidFill>
                  <a:schemeClr val="bg2"/>
                </a:solidFill>
              </a:rPr>
              <a:t>Complex threat-intel correlation</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17 · FALKORDB HACKATHON STRATEGY</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A three-minute demo that proves the graph matters</a:t>
            </a:r>
            <a:endParaRPr lang="en-US" sz="3200" dirty="0"/>
          </a:p>
        </p:txBody>
      </p:sp>
      <p:sp>
        <p:nvSpPr>
          <p:cNvPr id="4" name="time bar"/>
          <p:cNvSpPr/>
          <p:nvPr/>
        </p:nvSpPr>
        <p:spPr>
          <a:xfrm>
            <a:off x="548640" y="1691640"/>
            <a:ext cx="2167128" cy="146304"/>
          </a:xfrm>
          <a:prstGeom prst="rect">
            <a:avLst/>
          </a:prstGeom>
          <a:solidFill>
            <a:schemeClr val="accent6"/>
          </a:solidFill>
          <a:ln w="12700">
            <a:solidFill>
              <a:schemeClr val="accent6"/>
            </a:solidFill>
            <a:prstDash val="solid"/>
          </a:ln>
        </p:spPr>
      </p:sp>
      <p:sp>
        <p:nvSpPr>
          <p:cNvPr id="5" name="Text 3"/>
          <p:cNvSpPr txBox="1"/>
          <p:nvPr/>
        </p:nvSpPr>
        <p:spPr>
          <a:xfrm>
            <a:off x="548640" y="1965960"/>
            <a:ext cx="2121408" cy="274320"/>
          </a:xfrm>
          <a:prstGeom prst="rect">
            <a:avLst/>
          </a:prstGeom>
          <a:noFill/>
          <a:ln/>
        </p:spPr>
        <p:txBody>
          <a:bodyPr wrap="square" lIns="0" tIns="0" rIns="0" bIns="0" rtlCol="0" anchor="t"/>
          <a:lstStyle/>
          <a:p>
            <a:pPr indent="0" marL="0">
              <a:buNone/>
            </a:pPr>
            <a:r>
              <a:rPr lang="en-US" sz="1200" b="1" dirty="0">
                <a:solidFill>
                  <a:schemeClr val="accent6"/>
                </a:solidFill>
                <a:latin typeface="Courier New" pitchFamily="34" charset="0"/>
                <a:ea typeface="Courier New" pitchFamily="34" charset="-122"/>
                <a:cs typeface="Courier New" pitchFamily="34" charset="-120"/>
              </a:rPr>
              <a:t>0:00–0:30</a:t>
            </a:r>
            <a:endParaRPr lang="en-US" sz="1200" dirty="0"/>
          </a:p>
        </p:txBody>
      </p:sp>
      <p:sp>
        <p:nvSpPr>
          <p:cNvPr id="6" name="Text 4"/>
          <p:cNvSpPr txBox="1"/>
          <p:nvPr/>
        </p:nvSpPr>
        <p:spPr>
          <a:xfrm>
            <a:off x="548640" y="2286000"/>
            <a:ext cx="2075688" cy="594360"/>
          </a:xfrm>
          <a:prstGeom prst="rect">
            <a:avLst/>
          </a:prstGeom>
          <a:noFill/>
          <a:ln/>
        </p:spPr>
        <p:txBody>
          <a:bodyPr wrap="square" lIns="0" tIns="0" rIns="0" bIns="0" rtlCol="0" anchor="t"/>
          <a:lstStyle/>
          <a:p>
            <a:pPr indent="0" marL="0">
              <a:buNone/>
            </a:pPr>
            <a:r>
              <a:rPr lang="en-US" sz="1600" b="1" dirty="0">
                <a:solidFill>
                  <a:schemeClr val="bg1"/>
                </a:solidFill>
              </a:rPr>
              <a:t>The business problem</a:t>
            </a:r>
            <a:endParaRPr lang="en-US" sz="1600" dirty="0"/>
          </a:p>
        </p:txBody>
      </p:sp>
      <p:sp>
        <p:nvSpPr>
          <p:cNvPr id="7" name="Text 5"/>
          <p:cNvSpPr txBox="1"/>
          <p:nvPr/>
        </p:nvSpPr>
        <p:spPr>
          <a:xfrm>
            <a:off x="548640" y="2926080"/>
            <a:ext cx="1984248" cy="1463040"/>
          </a:xfrm>
          <a:prstGeom prst="rect">
            <a:avLst/>
          </a:prstGeom>
          <a:noFill/>
          <a:ln/>
        </p:spPr>
        <p:txBody>
          <a:bodyPr wrap="square" lIns="0" tIns="0" rIns="0" bIns="0" rtlCol="0" anchor="t"/>
          <a:lstStyle/>
          <a:p>
            <a:pPr indent="0" marL="0">
              <a:buNone/>
            </a:pPr>
            <a:r>
              <a:rPr lang="en-US" sz="1300" dirty="0">
                <a:solidFill>
                  <a:schemeClr val="bg2"/>
                </a:solidFill>
              </a:rPr>
              <a:t>An internal AI coding agent and a repo with several individually moderate findings.</a:t>
            </a:r>
            <a:endParaRPr lang="en-US" sz="1300" dirty="0"/>
          </a:p>
        </p:txBody>
      </p:sp>
      <p:sp>
        <p:nvSpPr>
          <p:cNvPr id="8" name="time bar"/>
          <p:cNvSpPr/>
          <p:nvPr/>
        </p:nvSpPr>
        <p:spPr>
          <a:xfrm>
            <a:off x="2761488" y="1691640"/>
            <a:ext cx="2167128" cy="146304"/>
          </a:xfrm>
          <a:prstGeom prst="rect">
            <a:avLst/>
          </a:prstGeom>
          <a:solidFill>
            <a:schemeClr val="accent1"/>
          </a:solidFill>
          <a:ln w="12700">
            <a:solidFill>
              <a:schemeClr val="accent1"/>
            </a:solidFill>
            <a:prstDash val="solid"/>
          </a:ln>
        </p:spPr>
      </p:sp>
      <p:sp>
        <p:nvSpPr>
          <p:cNvPr id="9" name="Text 7"/>
          <p:cNvSpPr txBox="1"/>
          <p:nvPr/>
        </p:nvSpPr>
        <p:spPr>
          <a:xfrm>
            <a:off x="2761488" y="1965960"/>
            <a:ext cx="2121408"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0:30–1:10</a:t>
            </a:r>
            <a:endParaRPr lang="en-US" sz="1200" dirty="0"/>
          </a:p>
        </p:txBody>
      </p:sp>
      <p:sp>
        <p:nvSpPr>
          <p:cNvPr id="10" name="Text 8"/>
          <p:cNvSpPr txBox="1"/>
          <p:nvPr/>
        </p:nvSpPr>
        <p:spPr>
          <a:xfrm>
            <a:off x="2761488" y="2286000"/>
            <a:ext cx="2075688" cy="594360"/>
          </a:xfrm>
          <a:prstGeom prst="rect">
            <a:avLst/>
          </a:prstGeom>
          <a:noFill/>
          <a:ln/>
        </p:spPr>
        <p:txBody>
          <a:bodyPr wrap="square" lIns="0" tIns="0" rIns="0" bIns="0" rtlCol="0" anchor="t"/>
          <a:lstStyle/>
          <a:p>
            <a:pPr indent="0" marL="0">
              <a:buNone/>
            </a:pPr>
            <a:r>
              <a:rPr lang="en-US" sz="1600" b="1" dirty="0">
                <a:solidFill>
                  <a:schemeClr val="bg1"/>
                </a:solidFill>
              </a:rPr>
              <a:t>Graph traversal</a:t>
            </a:r>
            <a:endParaRPr lang="en-US" sz="1600" dirty="0"/>
          </a:p>
        </p:txBody>
      </p:sp>
      <p:sp>
        <p:nvSpPr>
          <p:cNvPr id="11" name="Text 9"/>
          <p:cNvSpPr txBox="1"/>
          <p:nvPr/>
        </p:nvSpPr>
        <p:spPr>
          <a:xfrm>
            <a:off x="2761488" y="2926080"/>
            <a:ext cx="1984248" cy="1463040"/>
          </a:xfrm>
          <a:prstGeom prst="rect">
            <a:avLst/>
          </a:prstGeom>
          <a:noFill/>
          <a:ln/>
        </p:spPr>
        <p:txBody>
          <a:bodyPr wrap="square" lIns="0" tIns="0" rIns="0" bIns="0" rtlCol="0" anchor="t"/>
          <a:lstStyle/>
          <a:p>
            <a:pPr indent="0" marL="0">
              <a:buNone/>
            </a:pPr>
            <a:r>
              <a:rPr lang="en-US" sz="1300" dirty="0">
                <a:solidFill>
                  <a:schemeClr val="bg2"/>
                </a:solidFill>
              </a:rPr>
              <a:t>Ask for paths from agent / workflow capabilities to restricted resources. Show the live query.</a:t>
            </a:r>
            <a:endParaRPr lang="en-US" sz="1300" dirty="0"/>
          </a:p>
        </p:txBody>
      </p:sp>
      <p:sp>
        <p:nvSpPr>
          <p:cNvPr id="12" name="time bar"/>
          <p:cNvSpPr/>
          <p:nvPr/>
        </p:nvSpPr>
        <p:spPr>
          <a:xfrm>
            <a:off x="4974336" y="1691640"/>
            <a:ext cx="2167128" cy="146304"/>
          </a:xfrm>
          <a:prstGeom prst="rect">
            <a:avLst/>
          </a:prstGeom>
          <a:solidFill>
            <a:schemeClr val="accent2"/>
          </a:solidFill>
          <a:ln w="12700">
            <a:solidFill>
              <a:schemeClr val="accent2"/>
            </a:solidFill>
            <a:prstDash val="solid"/>
          </a:ln>
        </p:spPr>
      </p:sp>
      <p:sp>
        <p:nvSpPr>
          <p:cNvPr id="13" name="Text 11"/>
          <p:cNvSpPr txBox="1"/>
          <p:nvPr/>
        </p:nvSpPr>
        <p:spPr>
          <a:xfrm>
            <a:off x="4974336" y="1965960"/>
            <a:ext cx="2121408"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1:10–1:50</a:t>
            </a:r>
            <a:endParaRPr lang="en-US" sz="1200" dirty="0"/>
          </a:p>
        </p:txBody>
      </p:sp>
      <p:sp>
        <p:nvSpPr>
          <p:cNvPr id="14" name="Text 12"/>
          <p:cNvSpPr txBox="1"/>
          <p:nvPr/>
        </p:nvSpPr>
        <p:spPr>
          <a:xfrm>
            <a:off x="4974336" y="2286000"/>
            <a:ext cx="2075688" cy="594360"/>
          </a:xfrm>
          <a:prstGeom prst="rect">
            <a:avLst/>
          </a:prstGeom>
          <a:noFill/>
          <a:ln/>
        </p:spPr>
        <p:txBody>
          <a:bodyPr wrap="square" lIns="0" tIns="0" rIns="0" bIns="0" rtlCol="0" anchor="t"/>
          <a:lstStyle/>
          <a:p>
            <a:pPr indent="0" marL="0">
              <a:buNone/>
            </a:pPr>
            <a:r>
              <a:rPr lang="en-US" sz="1600" b="1" dirty="0">
                <a:solidFill>
                  <a:schemeClr val="bg1"/>
                </a:solidFill>
              </a:rPr>
              <a:t>Evidence</a:t>
            </a:r>
            <a:endParaRPr lang="en-US" sz="1600" dirty="0"/>
          </a:p>
        </p:txBody>
      </p:sp>
      <p:sp>
        <p:nvSpPr>
          <p:cNvPr id="15" name="Text 13"/>
          <p:cNvSpPr txBox="1"/>
          <p:nvPr/>
        </p:nvSpPr>
        <p:spPr>
          <a:xfrm>
            <a:off x="4974336" y="2926080"/>
            <a:ext cx="1984248" cy="1463040"/>
          </a:xfrm>
          <a:prstGeom prst="rect">
            <a:avLst/>
          </a:prstGeom>
          <a:noFill/>
          <a:ln/>
        </p:spPr>
        <p:txBody>
          <a:bodyPr wrap="square" lIns="0" tIns="0" rIns="0" bIns="0" rtlCol="0" anchor="t"/>
          <a:lstStyle/>
          <a:p>
            <a:pPr indent="0" marL="0">
              <a:buNone/>
            </a:pPr>
            <a:r>
              <a:rPr lang="en-US" sz="1300" dirty="0">
                <a:solidFill>
                  <a:schemeClr val="bg2"/>
                </a:solidFill>
              </a:rPr>
              <a:t>Open each critical edge: permission, config, scan result or test. Label uncertain edges.</a:t>
            </a:r>
            <a:endParaRPr lang="en-US" sz="1300" dirty="0"/>
          </a:p>
        </p:txBody>
      </p:sp>
      <p:sp>
        <p:nvSpPr>
          <p:cNvPr id="16" name="time bar"/>
          <p:cNvSpPr/>
          <p:nvPr/>
        </p:nvSpPr>
        <p:spPr>
          <a:xfrm>
            <a:off x="7187184" y="1691640"/>
            <a:ext cx="2167128" cy="146304"/>
          </a:xfrm>
          <a:prstGeom prst="rect">
            <a:avLst/>
          </a:prstGeom>
          <a:solidFill>
            <a:schemeClr val="accent4"/>
          </a:solidFill>
          <a:ln w="12700">
            <a:solidFill>
              <a:schemeClr val="accent4"/>
            </a:solidFill>
            <a:prstDash val="solid"/>
          </a:ln>
        </p:spPr>
      </p:sp>
      <p:sp>
        <p:nvSpPr>
          <p:cNvPr id="17" name="Text 15"/>
          <p:cNvSpPr txBox="1"/>
          <p:nvPr/>
        </p:nvSpPr>
        <p:spPr>
          <a:xfrm>
            <a:off x="7187184" y="1965960"/>
            <a:ext cx="2121408" cy="274320"/>
          </a:xfrm>
          <a:prstGeom prst="rect">
            <a:avLst/>
          </a:prstGeom>
          <a:noFill/>
          <a:ln/>
        </p:spPr>
        <p:txBody>
          <a:bodyPr wrap="square" lIns="0" tIns="0" rIns="0" bIns="0" rtlCol="0" anchor="t"/>
          <a:lstStyle/>
          <a:p>
            <a:pPr indent="0" marL="0">
              <a:buNone/>
            </a:pPr>
            <a:r>
              <a:rPr lang="en-US" sz="1200" b="1" dirty="0">
                <a:solidFill>
                  <a:schemeClr val="accent4"/>
                </a:solidFill>
                <a:latin typeface="Courier New" pitchFamily="34" charset="0"/>
                <a:ea typeface="Courier New" pitchFamily="34" charset="-122"/>
                <a:cs typeface="Courier New" pitchFamily="34" charset="-120"/>
              </a:rPr>
              <a:t>1:50–2:35</a:t>
            </a:r>
            <a:endParaRPr lang="en-US" sz="1200" dirty="0"/>
          </a:p>
        </p:txBody>
      </p:sp>
      <p:sp>
        <p:nvSpPr>
          <p:cNvPr id="18" name="Text 16"/>
          <p:cNvSpPr txBox="1"/>
          <p:nvPr/>
        </p:nvSpPr>
        <p:spPr>
          <a:xfrm>
            <a:off x="7187184" y="2286000"/>
            <a:ext cx="2075688" cy="594360"/>
          </a:xfrm>
          <a:prstGeom prst="rect">
            <a:avLst/>
          </a:prstGeom>
          <a:noFill/>
          <a:ln/>
        </p:spPr>
        <p:txBody>
          <a:bodyPr wrap="square" lIns="0" tIns="0" rIns="0" bIns="0" rtlCol="0" anchor="t"/>
          <a:lstStyle/>
          <a:p>
            <a:pPr indent="0" marL="0">
              <a:buNone/>
            </a:pPr>
            <a:r>
              <a:rPr lang="en-US" sz="1600" b="1" dirty="0">
                <a:solidFill>
                  <a:schemeClr val="bg1"/>
                </a:solidFill>
              </a:rPr>
              <a:t>Action</a:t>
            </a:r>
            <a:endParaRPr lang="en-US" sz="1600" dirty="0"/>
          </a:p>
        </p:txBody>
      </p:sp>
      <p:sp>
        <p:nvSpPr>
          <p:cNvPr id="19" name="Text 17"/>
          <p:cNvSpPr txBox="1"/>
          <p:nvPr/>
        </p:nvSpPr>
        <p:spPr>
          <a:xfrm>
            <a:off x="7187184" y="2926080"/>
            <a:ext cx="1984248" cy="1463040"/>
          </a:xfrm>
          <a:prstGeom prst="rect">
            <a:avLst/>
          </a:prstGeom>
          <a:noFill/>
          <a:ln/>
        </p:spPr>
        <p:txBody>
          <a:bodyPr wrap="square" lIns="0" tIns="0" rIns="0" bIns="0" rtlCol="0" anchor="t"/>
          <a:lstStyle/>
          <a:p>
            <a:pPr indent="0" marL="0">
              <a:buNone/>
            </a:pPr>
            <a:r>
              <a:rPr lang="en-US" sz="1300" dirty="0">
                <a:solidFill>
                  <a:schemeClr val="bg2"/>
                </a:solidFill>
              </a:rPr>
              <a:t>Propose a minimal policy change, approve it, run the test — the path disappears.</a:t>
            </a:r>
            <a:endParaRPr lang="en-US" sz="1300" dirty="0"/>
          </a:p>
        </p:txBody>
      </p:sp>
      <p:sp>
        <p:nvSpPr>
          <p:cNvPr id="20" name="time bar"/>
          <p:cNvSpPr/>
          <p:nvPr/>
        </p:nvSpPr>
        <p:spPr>
          <a:xfrm>
            <a:off x="9400032" y="1691640"/>
            <a:ext cx="2167128" cy="146304"/>
          </a:xfrm>
          <a:prstGeom prst="rect">
            <a:avLst/>
          </a:prstGeom>
          <a:solidFill>
            <a:schemeClr val="accent5"/>
          </a:solidFill>
          <a:ln w="12700">
            <a:solidFill>
              <a:schemeClr val="accent5"/>
            </a:solidFill>
            <a:prstDash val="solid"/>
          </a:ln>
        </p:spPr>
      </p:sp>
      <p:sp>
        <p:nvSpPr>
          <p:cNvPr id="21" name="Text 19"/>
          <p:cNvSpPr txBox="1"/>
          <p:nvPr/>
        </p:nvSpPr>
        <p:spPr>
          <a:xfrm>
            <a:off x="9400032" y="1965960"/>
            <a:ext cx="2121408" cy="27432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2:35–3:00</a:t>
            </a:r>
            <a:endParaRPr lang="en-US" sz="1200" dirty="0"/>
          </a:p>
        </p:txBody>
      </p:sp>
      <p:sp>
        <p:nvSpPr>
          <p:cNvPr id="22" name="Text 20"/>
          <p:cNvSpPr txBox="1"/>
          <p:nvPr/>
        </p:nvSpPr>
        <p:spPr>
          <a:xfrm>
            <a:off x="9400032" y="2286000"/>
            <a:ext cx="2075688" cy="594360"/>
          </a:xfrm>
          <a:prstGeom prst="rect">
            <a:avLst/>
          </a:prstGeom>
          <a:noFill/>
          <a:ln/>
        </p:spPr>
        <p:txBody>
          <a:bodyPr wrap="square" lIns="0" tIns="0" rIns="0" bIns="0" rtlCol="0" anchor="t"/>
          <a:lstStyle/>
          <a:p>
            <a:pPr indent="0" marL="0">
              <a:buNone/>
            </a:pPr>
            <a:r>
              <a:rPr lang="en-US" sz="1600" b="1" dirty="0">
                <a:solidFill>
                  <a:schemeClr val="bg1"/>
                </a:solidFill>
              </a:rPr>
              <a:t>Proof</a:t>
            </a:r>
            <a:endParaRPr lang="en-US" sz="1600" dirty="0"/>
          </a:p>
        </p:txBody>
      </p:sp>
      <p:sp>
        <p:nvSpPr>
          <p:cNvPr id="23" name="Text 21"/>
          <p:cNvSpPr txBox="1"/>
          <p:nvPr/>
        </p:nvSpPr>
        <p:spPr>
          <a:xfrm>
            <a:off x="9400032" y="2926080"/>
            <a:ext cx="1984248" cy="1463040"/>
          </a:xfrm>
          <a:prstGeom prst="rect">
            <a:avLst/>
          </a:prstGeom>
          <a:noFill/>
          <a:ln/>
        </p:spPr>
        <p:txBody>
          <a:bodyPr wrap="square" lIns="0" tIns="0" rIns="0" bIns="0" rtlCol="0" anchor="t"/>
          <a:lstStyle/>
          <a:p>
            <a:pPr indent="0" marL="0">
              <a:buNone/>
            </a:pPr>
            <a:r>
              <a:rPr lang="en-US" sz="1300" dirty="0">
                <a:solidFill>
                  <a:schemeClr val="bg2"/>
                </a:solidFill>
              </a:rPr>
              <a:t>Legit CI and developer behavior still passes; explain why FalkorDB was essential.</a:t>
            </a:r>
            <a:endParaRPr lang="en-US" sz="1300" dirty="0"/>
          </a:p>
        </p:txBody>
      </p:sp>
      <p:sp>
        <p:nvSpPr>
          <p:cNvPr id="24" name="card"/>
          <p:cNvSpPr/>
          <p:nvPr/>
        </p:nvSpPr>
        <p:spPr>
          <a:xfrm>
            <a:off x="548640" y="4572000"/>
            <a:ext cx="11064240" cy="1600200"/>
          </a:xfrm>
          <a:prstGeom prst="roundRect">
            <a:avLst>
              <a:gd name="adj" fmla="val 5714"/>
            </a:avLst>
          </a:prstGeom>
          <a:solidFill>
            <a:schemeClr val="tx2"/>
          </a:solidFill>
          <a:ln w="12700">
            <a:solidFill>
              <a:schemeClr val="accent2">
                <a:alpha val="38000"/>
              </a:schemeClr>
            </a:solidFill>
            <a:prstDash val="solid"/>
          </a:ln>
        </p:spPr>
      </p:sp>
      <p:sp>
        <p:nvSpPr>
          <p:cNvPr id="25" name="Text 23"/>
          <p:cNvSpPr txBox="1"/>
          <p:nvPr/>
        </p:nvSpPr>
        <p:spPr>
          <a:xfrm>
            <a:off x="777240" y="4709160"/>
            <a:ext cx="54864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WHAT TO DEMONSTRATE TECHNICALLY</a:t>
            </a:r>
            <a:endParaRPr lang="en-US" sz="1100" dirty="0"/>
          </a:p>
        </p:txBody>
      </p:sp>
      <p:pic>
        <p:nvPicPr>
          <p:cNvPr id="26" name="check" descr="preencoded.png">    </p:cNvPr>
          <p:cNvPicPr>
            <a:picLocks noChangeAspect="1"/>
          </p:cNvPicPr>
          <p:nvPr/>
        </p:nvPicPr>
        <p:blipFill>
          <a:blip r:embed="rId1"/>
          <a:stretch>
            <a:fillRect/>
          </a:stretch>
        </p:blipFill>
        <p:spPr>
          <a:xfrm>
            <a:off x="777240" y="5120640"/>
            <a:ext cx="237744" cy="237744"/>
          </a:xfrm>
          <a:prstGeom prst="rect">
            <a:avLst/>
          </a:prstGeom>
        </p:spPr>
      </p:pic>
      <p:sp>
        <p:nvSpPr>
          <p:cNvPr id="27" name="Text 24"/>
          <p:cNvSpPr txBox="1"/>
          <p:nvPr/>
        </p:nvSpPr>
        <p:spPr>
          <a:xfrm>
            <a:off x="1124712" y="5074920"/>
            <a:ext cx="3200400" cy="329184"/>
          </a:xfrm>
          <a:prstGeom prst="rect">
            <a:avLst/>
          </a:prstGeom>
          <a:noFill/>
          <a:ln/>
        </p:spPr>
        <p:txBody>
          <a:bodyPr wrap="square" lIns="0" tIns="0" rIns="0" bIns="0" rtlCol="0" anchor="ctr"/>
          <a:lstStyle/>
          <a:p>
            <a:pPr indent="0" marL="0">
              <a:buNone/>
            </a:pPr>
            <a:r>
              <a:rPr lang="en-US" sz="1300" dirty="0">
                <a:solidFill>
                  <a:schemeClr val="bg2"/>
                </a:solidFill>
              </a:rPr>
              <a:t>Live ingestion and query execution</a:t>
            </a:r>
            <a:endParaRPr lang="en-US" sz="1300" dirty="0"/>
          </a:p>
        </p:txBody>
      </p:sp>
      <p:pic>
        <p:nvPicPr>
          <p:cNvPr id="28" name="check" descr="preencoded.png">    </p:cNvPr>
          <p:cNvPicPr>
            <a:picLocks noChangeAspect="1"/>
          </p:cNvPicPr>
          <p:nvPr/>
        </p:nvPicPr>
        <p:blipFill>
          <a:blip r:embed="rId2"/>
          <a:stretch>
            <a:fillRect/>
          </a:stretch>
        </p:blipFill>
        <p:spPr>
          <a:xfrm>
            <a:off x="4389120" y="5120640"/>
            <a:ext cx="237744" cy="237744"/>
          </a:xfrm>
          <a:prstGeom prst="rect">
            <a:avLst/>
          </a:prstGeom>
        </p:spPr>
      </p:pic>
      <p:sp>
        <p:nvSpPr>
          <p:cNvPr id="29" name="Text 25"/>
          <p:cNvSpPr txBox="1"/>
          <p:nvPr/>
        </p:nvSpPr>
        <p:spPr>
          <a:xfrm>
            <a:off x="4736592" y="5074920"/>
            <a:ext cx="3200400" cy="329184"/>
          </a:xfrm>
          <a:prstGeom prst="rect">
            <a:avLst/>
          </a:prstGeom>
          <a:noFill/>
          <a:ln/>
        </p:spPr>
        <p:txBody>
          <a:bodyPr wrap="square" lIns="0" tIns="0" rIns="0" bIns="0" rtlCol="0" anchor="ctr"/>
          <a:lstStyle/>
          <a:p>
            <a:pPr indent="0" marL="0">
              <a:buNone/>
            </a:pPr>
            <a:r>
              <a:rPr lang="en-US" sz="1300" dirty="0">
                <a:solidFill>
                  <a:schemeClr val="bg2"/>
                </a:solidFill>
              </a:rPr>
              <a:t>A multi-hop path that changes prioritization</a:t>
            </a:r>
            <a:endParaRPr lang="en-US" sz="1300" dirty="0"/>
          </a:p>
        </p:txBody>
      </p:sp>
      <p:pic>
        <p:nvPicPr>
          <p:cNvPr id="30" name="check" descr="preencoded.png">    </p:cNvPr>
          <p:cNvPicPr>
            <a:picLocks noChangeAspect="1"/>
          </p:cNvPicPr>
          <p:nvPr/>
        </p:nvPicPr>
        <p:blipFill>
          <a:blip r:embed="rId3"/>
          <a:stretch>
            <a:fillRect/>
          </a:stretch>
        </p:blipFill>
        <p:spPr>
          <a:xfrm>
            <a:off x="8001000" y="5120640"/>
            <a:ext cx="237744" cy="237744"/>
          </a:xfrm>
          <a:prstGeom prst="rect">
            <a:avLst/>
          </a:prstGeom>
        </p:spPr>
      </p:pic>
      <p:sp>
        <p:nvSpPr>
          <p:cNvPr id="31" name="Text 26"/>
          <p:cNvSpPr txBox="1"/>
          <p:nvPr/>
        </p:nvSpPr>
        <p:spPr>
          <a:xfrm>
            <a:off x="8348472" y="5074920"/>
            <a:ext cx="3200400" cy="329184"/>
          </a:xfrm>
          <a:prstGeom prst="rect">
            <a:avLst/>
          </a:prstGeom>
          <a:noFill/>
          <a:ln/>
        </p:spPr>
        <p:txBody>
          <a:bodyPr wrap="square" lIns="0" tIns="0" rIns="0" bIns="0" rtlCol="0" anchor="ctr"/>
          <a:lstStyle/>
          <a:p>
            <a:pPr indent="0" marL="0">
              <a:buNone/>
            </a:pPr>
            <a:r>
              <a:rPr lang="en-US" sz="1300" dirty="0">
                <a:solidFill>
                  <a:schemeClr val="bg2"/>
                </a:solidFill>
              </a:rPr>
              <a:t>Agent picks controlled graph tools</a:t>
            </a:r>
            <a:endParaRPr lang="en-US" sz="1300" dirty="0"/>
          </a:p>
        </p:txBody>
      </p:sp>
      <p:pic>
        <p:nvPicPr>
          <p:cNvPr id="32" name="check" descr="preencoded.png">    </p:cNvPr>
          <p:cNvPicPr>
            <a:picLocks noChangeAspect="1"/>
          </p:cNvPicPr>
          <p:nvPr/>
        </p:nvPicPr>
        <p:blipFill>
          <a:blip r:embed="rId4"/>
          <a:stretch>
            <a:fillRect/>
          </a:stretch>
        </p:blipFill>
        <p:spPr>
          <a:xfrm>
            <a:off x="777240" y="5623560"/>
            <a:ext cx="237744" cy="237744"/>
          </a:xfrm>
          <a:prstGeom prst="rect">
            <a:avLst/>
          </a:prstGeom>
        </p:spPr>
      </p:pic>
      <p:sp>
        <p:nvSpPr>
          <p:cNvPr id="33" name="Text 27"/>
          <p:cNvSpPr txBox="1"/>
          <p:nvPr/>
        </p:nvSpPr>
        <p:spPr>
          <a:xfrm>
            <a:off x="1124712" y="5577840"/>
            <a:ext cx="3200400" cy="329184"/>
          </a:xfrm>
          <a:prstGeom prst="rect">
            <a:avLst/>
          </a:prstGeom>
          <a:noFill/>
          <a:ln/>
        </p:spPr>
        <p:txBody>
          <a:bodyPr wrap="square" lIns="0" tIns="0" rIns="0" bIns="0" rtlCol="0" anchor="ctr"/>
          <a:lstStyle/>
          <a:p>
            <a:pPr indent="0" marL="0">
              <a:buNone/>
            </a:pPr>
            <a:r>
              <a:rPr lang="en-US" sz="1300" dirty="0">
                <a:solidFill>
                  <a:schemeClr val="bg2"/>
                </a:solidFill>
              </a:rPr>
              <a:t>Traceable reasoning with uncertainty labels</a:t>
            </a:r>
            <a:endParaRPr lang="en-US" sz="1300" dirty="0"/>
          </a:p>
        </p:txBody>
      </p:sp>
      <p:pic>
        <p:nvPicPr>
          <p:cNvPr id="34" name="check" descr="preencoded.png">    </p:cNvPr>
          <p:cNvPicPr>
            <a:picLocks noChangeAspect="1"/>
          </p:cNvPicPr>
          <p:nvPr/>
        </p:nvPicPr>
        <p:blipFill>
          <a:blip r:embed="rId5"/>
          <a:stretch>
            <a:fillRect/>
          </a:stretch>
        </p:blipFill>
        <p:spPr>
          <a:xfrm>
            <a:off x="4389120" y="5623560"/>
            <a:ext cx="237744" cy="237744"/>
          </a:xfrm>
          <a:prstGeom prst="rect">
            <a:avLst/>
          </a:prstGeom>
        </p:spPr>
      </p:pic>
      <p:sp>
        <p:nvSpPr>
          <p:cNvPr id="35" name="Text 28"/>
          <p:cNvSpPr txBox="1"/>
          <p:nvPr/>
        </p:nvSpPr>
        <p:spPr>
          <a:xfrm>
            <a:off x="4736592" y="5577840"/>
            <a:ext cx="3200400" cy="329184"/>
          </a:xfrm>
          <a:prstGeom prst="rect">
            <a:avLst/>
          </a:prstGeom>
          <a:noFill/>
          <a:ln/>
        </p:spPr>
        <p:txBody>
          <a:bodyPr wrap="square" lIns="0" tIns="0" rIns="0" bIns="0" rtlCol="0" anchor="ctr"/>
          <a:lstStyle/>
          <a:p>
            <a:pPr indent="0" marL="0">
              <a:buNone/>
            </a:pPr>
            <a:r>
              <a:rPr lang="en-US" sz="1300" dirty="0">
                <a:solidFill>
                  <a:schemeClr val="bg2"/>
                </a:solidFill>
              </a:rPr>
              <a:t>A concrete, verified action</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18 · ASSUMPTIONS, DECISIONS &amp; EXCLUSIONS</a:t>
            </a:r>
            <a:endParaRPr lang="en-US" sz="1200" dirty="0"/>
          </a:p>
        </p:txBody>
      </p:sp>
      <p:sp>
        <p:nvSpPr>
          <p:cNvPr id="3" name="Text 0"/>
          <p:cNvSpPr/>
          <p:nvPr>
            <p:ph idx="101" type="title" hasCustomPrompt="1"/>
          </p:nvPr>
        </p:nvSpPr>
        <p:spPr>
          <a:xfrm>
            <a:off x="548640" y="65836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What we assume, decide and won’t build</a:t>
            </a:r>
            <a:endParaRPr lang="en-US" sz="3200" dirty="0"/>
          </a:p>
        </p:txBody>
      </p:sp>
      <p:sp>
        <p:nvSpPr>
          <p:cNvPr id="4" name="card"/>
          <p:cNvSpPr/>
          <p:nvPr/>
        </p:nvSpPr>
        <p:spPr>
          <a:xfrm>
            <a:off x="548640" y="1572768"/>
            <a:ext cx="3566160" cy="4617720"/>
          </a:xfrm>
          <a:prstGeom prst="roundRect">
            <a:avLst>
              <a:gd name="adj" fmla="val 2564"/>
            </a:avLst>
          </a:prstGeom>
          <a:solidFill>
            <a:schemeClr val="tx2"/>
          </a:solidFill>
          <a:ln w="12700">
            <a:solidFill>
              <a:schemeClr val="accent2">
                <a:alpha val="38000"/>
              </a:schemeClr>
            </a:solidFill>
            <a:prstDash val="solid"/>
          </a:ln>
        </p:spPr>
      </p:sp>
      <p:sp>
        <p:nvSpPr>
          <p:cNvPr id="5" name="icon tile"/>
          <p:cNvSpPr/>
          <p:nvPr/>
        </p:nvSpPr>
        <p:spPr>
          <a:xfrm>
            <a:off x="804672" y="1810512"/>
            <a:ext cx="548640" cy="548640"/>
          </a:xfrm>
          <a:prstGeom prst="roundRect">
            <a:avLst>
              <a:gd name="adj" fmla="val 22000"/>
            </a:avLst>
          </a:prstGeom>
          <a:solidFill>
            <a:schemeClr val="accent1">
              <a:alpha val="20000"/>
            </a:schemeClr>
          </a:solidFill>
          <a:ln w="9525">
            <a:solidFill>
              <a:schemeClr val="accent1">
                <a:alpha val="55000"/>
              </a:schemeClr>
            </a:solidFill>
            <a:prstDash val="solid"/>
          </a:ln>
        </p:spPr>
      </p:sp>
      <p:pic>
        <p:nvPicPr>
          <p:cNvPr id="6" name="icon" descr="preencoded.png">    </p:cNvPr>
          <p:cNvPicPr>
            <a:picLocks noChangeAspect="1"/>
          </p:cNvPicPr>
          <p:nvPr/>
        </p:nvPicPr>
        <p:blipFill>
          <a:blip r:embed="rId1"/>
          <a:stretch>
            <a:fillRect/>
          </a:stretch>
        </p:blipFill>
        <p:spPr>
          <a:xfrm>
            <a:off x="936346" y="1942186"/>
            <a:ext cx="285293" cy="285293"/>
          </a:xfrm>
          <a:prstGeom prst="rect">
            <a:avLst/>
          </a:prstGeom>
        </p:spPr>
      </p:pic>
      <p:sp>
        <p:nvSpPr>
          <p:cNvPr id="7" name="Text 4"/>
          <p:cNvSpPr txBox="1"/>
          <p:nvPr/>
        </p:nvSpPr>
        <p:spPr>
          <a:xfrm>
            <a:off x="1508760" y="1920240"/>
            <a:ext cx="2468880" cy="365760"/>
          </a:xfrm>
          <a:prstGeom prst="rect">
            <a:avLst/>
          </a:prstGeom>
          <a:noFill/>
          <a:ln/>
        </p:spPr>
        <p:txBody>
          <a:bodyPr wrap="square" lIns="0" tIns="0" rIns="0" bIns="0" rtlCol="0" anchor="t"/>
          <a:lstStyle/>
          <a:p>
            <a:pPr indent="0" marL="0">
              <a:buNone/>
            </a:pPr>
            <a:r>
              <a:rPr lang="en-US" sz="1600" b="1" dirty="0">
                <a:solidFill>
                  <a:schemeClr val="bg1"/>
                </a:solidFill>
              </a:rPr>
              <a:t>Assumptions</a:t>
            </a:r>
            <a:endParaRPr lang="en-US" sz="1600" dirty="0"/>
          </a:p>
        </p:txBody>
      </p:sp>
      <p:sp>
        <p:nvSpPr>
          <p:cNvPr id="8" name="Text 5"/>
          <p:cNvSpPr txBox="1"/>
          <p:nvPr/>
        </p:nvSpPr>
        <p:spPr>
          <a:xfrm>
            <a:off x="804672" y="2578608"/>
            <a:ext cx="3108960" cy="35204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bg2"/>
                </a:solidFill>
              </a:rPr>
              <a:t>Audience: businesses using AI coding agents and MCP internally</a:t>
            </a:r>
            <a:endParaRPr lang="en-US" sz="1400" dirty="0"/>
          </a:p>
          <a:p>
            <a:pPr marL="177800" indent="-177800">
              <a:spcAft>
                <a:spcPts val="700"/>
              </a:spcAft>
              <a:buSzPct val="100000"/>
              <a:buChar char="•"/>
            </a:pPr>
            <a:r>
              <a:rPr lang="en-US" sz="1400" dirty="0">
                <a:solidFill>
                  <a:schemeClr val="bg2"/>
                </a:solidFill>
              </a:rPr>
              <a:t>First integration: GitHub repos and CI/CD</a:t>
            </a:r>
            <a:endParaRPr lang="en-US" sz="1400" dirty="0"/>
          </a:p>
          <a:p>
            <a:pPr marL="177800" indent="-177800">
              <a:spcAft>
                <a:spcPts val="700"/>
              </a:spcAft>
              <a:buSzPct val="100000"/>
              <a:buChar char="•"/>
            </a:pPr>
            <a:r>
              <a:rPr lang="en-US" sz="1400" dirty="0">
                <a:solidFill>
                  <a:schemeClr val="bg2"/>
                </a:solidFill>
              </a:rPr>
              <a:t>Track: Agents That Act on Connected Data</a:t>
            </a:r>
            <a:endParaRPr lang="en-US" sz="1400" dirty="0"/>
          </a:p>
          <a:p>
            <a:pPr marL="177800" indent="-177800">
              <a:spcAft>
                <a:spcPts val="700"/>
              </a:spcAft>
              <a:buSzPct val="100000"/>
              <a:buChar char="•"/>
            </a:pPr>
            <a:r>
              <a:rPr lang="en-US" sz="1400" dirty="0">
                <a:solidFill>
                  <a:schemeClr val="bg2"/>
                </a:solidFill>
              </a:rPr>
              <a:t>FalkorDB is essential to attack-path reasoning</a:t>
            </a:r>
            <a:endParaRPr lang="en-US" sz="1400" dirty="0"/>
          </a:p>
          <a:p>
            <a:pPr marL="177800" indent="-177800">
              <a:spcAft>
                <a:spcPts val="700"/>
              </a:spcAft>
              <a:buSzPct val="100000"/>
              <a:buChar char="•"/>
            </a:pPr>
            <a:r>
              <a:rPr lang="en-US" sz="1400" dirty="0">
                <a:solidFill>
                  <a:schemeClr val="bg2"/>
                </a:solidFill>
              </a:rPr>
              <a:t>Demo uses synthetic or public data</a:t>
            </a:r>
            <a:endParaRPr lang="en-US" sz="1400" dirty="0"/>
          </a:p>
          <a:p>
            <a:pPr marL="177800" indent="-177800">
              <a:spcAft>
                <a:spcPts val="700"/>
              </a:spcAft>
              <a:buSzPct val="100000"/>
              <a:buChar char="•"/>
            </a:pPr>
            <a:r>
              <a:rPr lang="en-US" sz="1400" dirty="0">
                <a:solidFill>
                  <a:schemeClr val="bg2"/>
                </a:solidFill>
              </a:rPr>
              <a:t>Core submission work is new event work</a:t>
            </a:r>
            <a:endParaRPr lang="en-US" sz="1400" dirty="0"/>
          </a:p>
        </p:txBody>
      </p:sp>
      <p:sp>
        <p:nvSpPr>
          <p:cNvPr id="9" name="card"/>
          <p:cNvSpPr/>
          <p:nvPr/>
        </p:nvSpPr>
        <p:spPr>
          <a:xfrm>
            <a:off x="4297680" y="1572768"/>
            <a:ext cx="3566160" cy="4617720"/>
          </a:xfrm>
          <a:prstGeom prst="roundRect">
            <a:avLst>
              <a:gd name="adj" fmla="val 2564"/>
            </a:avLst>
          </a:prstGeom>
          <a:solidFill>
            <a:schemeClr val="tx2"/>
          </a:solidFill>
          <a:ln w="12700">
            <a:solidFill>
              <a:schemeClr val="accent2">
                <a:alpha val="38000"/>
              </a:schemeClr>
            </a:solidFill>
            <a:prstDash val="solid"/>
          </a:ln>
        </p:spPr>
      </p:sp>
      <p:sp>
        <p:nvSpPr>
          <p:cNvPr id="10" name="icon tile"/>
          <p:cNvSpPr/>
          <p:nvPr/>
        </p:nvSpPr>
        <p:spPr>
          <a:xfrm>
            <a:off x="4553712" y="1810512"/>
            <a:ext cx="548640" cy="548640"/>
          </a:xfrm>
          <a:prstGeom prst="roundRect">
            <a:avLst>
              <a:gd name="adj" fmla="val 22000"/>
            </a:avLst>
          </a:prstGeom>
          <a:solidFill>
            <a:schemeClr val="accent4">
              <a:alpha val="20000"/>
            </a:schemeClr>
          </a:solidFill>
          <a:ln w="9525">
            <a:solidFill>
              <a:schemeClr val="accent4">
                <a:alpha val="55000"/>
              </a:schemeClr>
            </a:solidFill>
            <a:prstDash val="solid"/>
          </a:ln>
        </p:spPr>
      </p:sp>
      <p:pic>
        <p:nvPicPr>
          <p:cNvPr id="11" name="icon" descr="preencoded.png">    </p:cNvPr>
          <p:cNvPicPr>
            <a:picLocks noChangeAspect="1"/>
          </p:cNvPicPr>
          <p:nvPr/>
        </p:nvPicPr>
        <p:blipFill>
          <a:blip r:embed="rId2"/>
          <a:stretch>
            <a:fillRect/>
          </a:stretch>
        </p:blipFill>
        <p:spPr>
          <a:xfrm>
            <a:off x="4685386" y="1942186"/>
            <a:ext cx="285293" cy="285293"/>
          </a:xfrm>
          <a:prstGeom prst="rect">
            <a:avLst/>
          </a:prstGeom>
        </p:spPr>
      </p:pic>
      <p:sp>
        <p:nvSpPr>
          <p:cNvPr id="12" name="Text 8"/>
          <p:cNvSpPr txBox="1"/>
          <p:nvPr/>
        </p:nvSpPr>
        <p:spPr>
          <a:xfrm>
            <a:off x="5257800" y="1920240"/>
            <a:ext cx="2468880" cy="365760"/>
          </a:xfrm>
          <a:prstGeom prst="rect">
            <a:avLst/>
          </a:prstGeom>
          <a:noFill/>
          <a:ln/>
        </p:spPr>
        <p:txBody>
          <a:bodyPr wrap="square" lIns="0" tIns="0" rIns="0" bIns="0" rtlCol="0" anchor="t"/>
          <a:lstStyle/>
          <a:p>
            <a:pPr indent="0" marL="0">
              <a:buNone/>
            </a:pPr>
            <a:r>
              <a:rPr lang="en-US" sz="1600" b="1" dirty="0">
                <a:solidFill>
                  <a:schemeClr val="bg1"/>
                </a:solidFill>
              </a:rPr>
              <a:t>Decisions to confirm</a:t>
            </a:r>
            <a:endParaRPr lang="en-US" sz="1600" dirty="0"/>
          </a:p>
        </p:txBody>
      </p:sp>
      <p:sp>
        <p:nvSpPr>
          <p:cNvPr id="13" name="Text 9"/>
          <p:cNvSpPr txBox="1"/>
          <p:nvPr/>
        </p:nvSpPr>
        <p:spPr>
          <a:xfrm>
            <a:off x="4553712" y="2578608"/>
            <a:ext cx="3108960" cy="35204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bg2"/>
                </a:solidFill>
              </a:rPr>
              <a:t>GitHub App permissions: read-only or also open PRs</a:t>
            </a:r>
            <a:endParaRPr lang="en-US" sz="1400" dirty="0"/>
          </a:p>
          <a:p>
            <a:pPr marL="177800" indent="-177800">
              <a:spcAft>
                <a:spcPts val="700"/>
              </a:spcAft>
              <a:buSzPct val="100000"/>
              <a:buChar char="•"/>
            </a:pPr>
            <a:r>
              <a:rPr lang="en-US" sz="1400" dirty="0">
                <a:solidFill>
                  <a:schemeClr val="bg2"/>
                </a:solidFill>
              </a:rPr>
              <a:t>FalkorDB deployment mode, version, client, syntax</a:t>
            </a:r>
            <a:endParaRPr lang="en-US" sz="1400" dirty="0"/>
          </a:p>
          <a:p>
            <a:pPr marL="177800" indent="-177800">
              <a:spcAft>
                <a:spcPts val="700"/>
              </a:spcAft>
              <a:buSzPct val="100000"/>
              <a:buChar char="•"/>
            </a:pPr>
            <a:r>
              <a:rPr lang="en-US" sz="1400" dirty="0">
                <a:solidFill>
                  <a:schemeClr val="bg2"/>
                </a:solidFill>
              </a:rPr>
              <a:t>Which scanner outputs the demo imports</a:t>
            </a:r>
            <a:endParaRPr lang="en-US" sz="1400" dirty="0"/>
          </a:p>
          <a:p>
            <a:pPr marL="177800" indent="-177800">
              <a:spcAft>
                <a:spcPts val="700"/>
              </a:spcAft>
              <a:buSzPct val="100000"/>
              <a:buChar char="•"/>
            </a:pPr>
            <a:r>
              <a:rPr lang="en-US" sz="1400" dirty="0">
                <a:solidFill>
                  <a:schemeClr val="bg2"/>
                </a:solidFill>
              </a:rPr>
              <a:t>Whether the LLM may receive source excerpts, and redaction</a:t>
            </a:r>
            <a:endParaRPr lang="en-US" sz="1400" dirty="0"/>
          </a:p>
          <a:p>
            <a:pPr marL="177800" indent="-177800">
              <a:spcAft>
                <a:spcPts val="700"/>
              </a:spcAft>
              <a:buSzPct val="100000"/>
              <a:buChar char="•"/>
            </a:pPr>
            <a:r>
              <a:rPr lang="en-US" sz="1400" dirty="0">
                <a:solidFill>
                  <a:schemeClr val="bg2"/>
                </a:solidFill>
              </a:rPr>
              <a:t>Mandatory verification checks before closure</a:t>
            </a:r>
            <a:endParaRPr lang="en-US" sz="1400" dirty="0"/>
          </a:p>
        </p:txBody>
      </p:sp>
      <p:sp>
        <p:nvSpPr>
          <p:cNvPr id="14" name="card"/>
          <p:cNvSpPr/>
          <p:nvPr/>
        </p:nvSpPr>
        <p:spPr>
          <a:xfrm>
            <a:off x="8046720" y="1572768"/>
            <a:ext cx="3566160" cy="4617720"/>
          </a:xfrm>
          <a:prstGeom prst="roundRect">
            <a:avLst>
              <a:gd name="adj" fmla="val 2564"/>
            </a:avLst>
          </a:prstGeom>
          <a:solidFill>
            <a:schemeClr val="tx2"/>
          </a:solidFill>
          <a:ln w="12700">
            <a:solidFill>
              <a:schemeClr val="accent2">
                <a:alpha val="38000"/>
              </a:schemeClr>
            </a:solidFill>
            <a:prstDash val="solid"/>
          </a:ln>
        </p:spPr>
      </p:sp>
      <p:sp>
        <p:nvSpPr>
          <p:cNvPr id="15" name="icon tile"/>
          <p:cNvSpPr/>
          <p:nvPr/>
        </p:nvSpPr>
        <p:spPr>
          <a:xfrm>
            <a:off x="8302752" y="1810512"/>
            <a:ext cx="548640" cy="548640"/>
          </a:xfrm>
          <a:prstGeom prst="roundRect">
            <a:avLst>
              <a:gd name="adj" fmla="val 22000"/>
            </a:avLst>
          </a:prstGeom>
          <a:solidFill>
            <a:schemeClr val="accent3">
              <a:alpha val="20000"/>
            </a:schemeClr>
          </a:solidFill>
          <a:ln w="9525">
            <a:solidFill>
              <a:schemeClr val="accent3">
                <a:alpha val="55000"/>
              </a:schemeClr>
            </a:solidFill>
            <a:prstDash val="solid"/>
          </a:ln>
        </p:spPr>
      </p:sp>
      <p:pic>
        <p:nvPicPr>
          <p:cNvPr id="16" name="icon" descr="preencoded.png">    </p:cNvPr>
          <p:cNvPicPr>
            <a:picLocks noChangeAspect="1"/>
          </p:cNvPicPr>
          <p:nvPr/>
        </p:nvPicPr>
        <p:blipFill>
          <a:blip r:embed="rId3"/>
          <a:stretch>
            <a:fillRect/>
          </a:stretch>
        </p:blipFill>
        <p:spPr>
          <a:xfrm>
            <a:off x="8434426" y="1942186"/>
            <a:ext cx="285293" cy="285293"/>
          </a:xfrm>
          <a:prstGeom prst="rect">
            <a:avLst/>
          </a:prstGeom>
        </p:spPr>
      </p:pic>
      <p:sp>
        <p:nvSpPr>
          <p:cNvPr id="17" name="Text 12"/>
          <p:cNvSpPr txBox="1"/>
          <p:nvPr/>
        </p:nvSpPr>
        <p:spPr>
          <a:xfrm>
            <a:off x="9006840" y="1920240"/>
            <a:ext cx="2468880" cy="365760"/>
          </a:xfrm>
          <a:prstGeom prst="rect">
            <a:avLst/>
          </a:prstGeom>
          <a:noFill/>
          <a:ln/>
        </p:spPr>
        <p:txBody>
          <a:bodyPr wrap="square" lIns="0" tIns="0" rIns="0" bIns="0" rtlCol="0" anchor="t"/>
          <a:lstStyle/>
          <a:p>
            <a:pPr indent="0" marL="0">
              <a:buNone/>
            </a:pPr>
            <a:r>
              <a:rPr lang="en-US" sz="1600" b="1" dirty="0">
                <a:solidFill>
                  <a:schemeClr val="bg1"/>
                </a:solidFill>
              </a:rPr>
              <a:t>Out of scope for MVP</a:t>
            </a:r>
            <a:endParaRPr lang="en-US" sz="1600" dirty="0"/>
          </a:p>
        </p:txBody>
      </p:sp>
      <p:sp>
        <p:nvSpPr>
          <p:cNvPr id="18" name="Text 13"/>
          <p:cNvSpPr txBox="1"/>
          <p:nvPr/>
        </p:nvSpPr>
        <p:spPr>
          <a:xfrm>
            <a:off x="8302752" y="2578608"/>
            <a:ext cx="3108960" cy="35204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bg2"/>
                </a:solidFill>
              </a:rPr>
              <a:t>Universal prompt-injection protection claims</a:t>
            </a:r>
            <a:endParaRPr lang="en-US" sz="1400" dirty="0"/>
          </a:p>
          <a:p>
            <a:pPr marL="177800" indent="-177800">
              <a:spcAft>
                <a:spcPts val="700"/>
              </a:spcAft>
              <a:buSzPct val="100000"/>
              <a:buChar char="•"/>
            </a:pPr>
            <a:r>
              <a:rPr lang="en-US" sz="1400" dirty="0">
                <a:solidFill>
                  <a:schemeClr val="bg2"/>
                </a:solidFill>
              </a:rPr>
              <a:t>Autonomous code changes or auto-merged PRs</a:t>
            </a:r>
            <a:endParaRPr lang="en-US" sz="1400" dirty="0"/>
          </a:p>
          <a:p>
            <a:pPr marL="177800" indent="-177800">
              <a:spcAft>
                <a:spcPts val="700"/>
              </a:spcAft>
              <a:buSzPct val="100000"/>
              <a:buChar char="•"/>
            </a:pPr>
            <a:r>
              <a:rPr lang="en-US" sz="1400" dirty="0">
                <a:solidFill>
                  <a:schemeClr val="bg2"/>
                </a:solidFill>
              </a:rPr>
              <a:t>Arbitrary LLM-generated Cypher</a:t>
            </a:r>
            <a:endParaRPr lang="en-US" sz="1400" dirty="0"/>
          </a:p>
          <a:p>
            <a:pPr marL="177800" indent="-177800">
              <a:spcAft>
                <a:spcPts val="700"/>
              </a:spcAft>
              <a:buSzPct val="100000"/>
              <a:buChar char="•"/>
            </a:pPr>
            <a:r>
              <a:rPr lang="en-US" sz="1400" dirty="0">
                <a:solidFill>
                  <a:schemeClr val="bg2"/>
                </a:solidFill>
              </a:rPr>
              <a:t>Exploitability claims from connectivity alone</a:t>
            </a:r>
            <a:endParaRPr lang="en-US" sz="1400" dirty="0"/>
          </a:p>
          <a:p>
            <a:pPr marL="177800" indent="-177800">
              <a:spcAft>
                <a:spcPts val="700"/>
              </a:spcAft>
              <a:buSzPct val="100000"/>
              <a:buChar char="•"/>
            </a:pPr>
            <a:r>
              <a:rPr lang="en-US" sz="1400" dirty="0">
                <a:solidFill>
                  <a:schemeClr val="bg2"/>
                </a:solidFill>
              </a:rPr>
              <a:t>Every agent framework, MCP server and CI provider</a:t>
            </a:r>
            <a:endParaRPr lang="en-US" sz="1400" dirty="0"/>
          </a:p>
          <a:p>
            <a:pPr marL="177800" indent="-177800">
              <a:spcAft>
                <a:spcPts val="700"/>
              </a:spcAft>
              <a:buSzPct val="100000"/>
              <a:buChar char="•"/>
            </a:pPr>
            <a:r>
              <a:rPr lang="en-US" sz="1400" dirty="0">
                <a:solidFill>
                  <a:schemeClr val="bg2"/>
                </a:solidFill>
              </a:rPr>
              <a:t>Production secrets or customer data in the demo</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914400"/>
            <a:ext cx="6400800" cy="274320"/>
          </a:xfrm>
          <a:prstGeom prst="rect">
            <a:avLst/>
          </a:prstGeom>
          <a:noFill/>
          <a:ln/>
        </p:spPr>
        <p:txBody>
          <a:bodyPr wrap="square" lIns="0" tIns="0" rIns="0" bIns="0" rtlCol="0" anchor="t"/>
          <a:lstStyle/>
          <a:p>
            <a:pPr indent="0" marL="0">
              <a:buNone/>
            </a:pPr>
            <a:r>
              <a:rPr lang="en-US" sz="1300" b="1" spc="300" kern="0" dirty="0">
                <a:solidFill>
                  <a:schemeClr val="accent1"/>
                </a:solidFill>
              </a:rPr>
              <a:t>DEFINITION OF DONE</a:t>
            </a:r>
            <a:endParaRPr lang="en-US" sz="1300" dirty="0"/>
          </a:p>
        </p:txBody>
      </p:sp>
      <p:sp>
        <p:nvSpPr>
          <p:cNvPr id="3" name="Text 0"/>
          <p:cNvSpPr/>
          <p:nvPr>
            <p:ph idx="100" type="title" hasCustomPrompt="1"/>
          </p:nvPr>
        </p:nvSpPr>
        <p:spPr>
          <a:xfrm>
            <a:off x="548640" y="1828800"/>
            <a:ext cx="6583680" cy="1737360"/>
          </a:xfrm>
          <a:prstGeom prst="rect">
            <a:avLst/>
          </a:prstGeom>
          <a:noFill/>
          <a:ln/>
        </p:spPr>
        <p:txBody>
          <a:bodyPr wrap="square" lIns="0" tIns="0" rIns="0" bIns="0" rtlCol="0" anchor="t"/>
          <a:lstStyle/>
          <a:p>
            <a:pPr algn="l" indent="0" marL="0">
              <a:buNone/>
            </a:pPr>
            <a:r>
              <a:rPr lang="en-US" sz="3800" b="1" dirty="0">
                <a:solidFill>
                  <a:schemeClr val="bg1"/>
                </a:solidFill>
              </a:rPr>
              <a:t>Proven by behavior, not by feature count</a:t>
            </a:r>
            <a:endParaRPr lang="en-US" sz="3800" dirty="0"/>
          </a:p>
        </p:txBody>
      </p:sp>
      <p:sp>
        <p:nvSpPr>
          <p:cNvPr id="4" name="Text 0"/>
          <p:cNvSpPr/>
          <p:nvPr>
            <p:ph idx="101" type="body" hasCustomPrompt="1"/>
          </p:nvPr>
        </p:nvSpPr>
        <p:spPr>
          <a:xfrm>
            <a:off x="548640" y="3794760"/>
            <a:ext cx="6035040" cy="1005840"/>
          </a:xfrm>
          <a:prstGeom prst="rect">
            <a:avLst/>
          </a:prstGeom>
          <a:noFill/>
          <a:ln/>
        </p:spPr>
        <p:txBody>
          <a:bodyPr wrap="square" lIns="0" tIns="0" rIns="0" bIns="0" rtlCol="0" anchor="t"/>
          <a:lstStyle/>
          <a:p>
            <a:pPr algn="l" indent="0" marL="0">
              <a:buNone/>
            </a:pPr>
            <a:r>
              <a:rPr lang="en-US" sz="1600" dirty="0">
                <a:solidFill>
                  <a:schemeClr val="bg2"/>
                </a:solidFill>
              </a:rPr>
              <a:t>A reviewer can run the whole loop end to end — and see a truthful result.</a:t>
            </a:r>
            <a:endParaRPr lang="en-US" sz="1600" dirty="0"/>
          </a:p>
        </p:txBody>
      </p:sp>
      <p:sp>
        <p:nvSpPr>
          <p:cNvPr id="5" name="card"/>
          <p:cNvSpPr/>
          <p:nvPr/>
        </p:nvSpPr>
        <p:spPr>
          <a:xfrm>
            <a:off x="7589520" y="914400"/>
            <a:ext cx="4023360" cy="566928"/>
          </a:xfrm>
          <a:prstGeom prst="roundRect">
            <a:avLst>
              <a:gd name="adj" fmla="val 16129"/>
            </a:avLst>
          </a:prstGeom>
          <a:solidFill>
            <a:schemeClr val="tx2"/>
          </a:solidFill>
          <a:ln w="12700">
            <a:solidFill>
              <a:schemeClr val="accent2">
                <a:alpha val="50000"/>
              </a:schemeClr>
            </a:solidFill>
            <a:prstDash val="solid"/>
          </a:ln>
        </p:spPr>
      </p:sp>
      <p:sp>
        <p:nvSpPr>
          <p:cNvPr id="6" name="Text 4"/>
          <p:cNvSpPr txBox="1"/>
          <p:nvPr/>
        </p:nvSpPr>
        <p:spPr>
          <a:xfrm>
            <a:off x="7772400" y="914400"/>
            <a:ext cx="54864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01</a:t>
            </a:r>
            <a:endParaRPr lang="en-US" sz="1400" dirty="0"/>
          </a:p>
        </p:txBody>
      </p:sp>
      <p:sp>
        <p:nvSpPr>
          <p:cNvPr id="7" name="Text 5"/>
          <p:cNvSpPr txBox="1"/>
          <p:nvPr/>
        </p:nvSpPr>
        <p:spPr>
          <a:xfrm>
            <a:off x="8366760" y="914400"/>
            <a:ext cx="3154680" cy="566928"/>
          </a:xfrm>
          <a:prstGeom prst="rect">
            <a:avLst/>
          </a:prstGeom>
          <a:noFill/>
          <a:ln/>
        </p:spPr>
        <p:txBody>
          <a:bodyPr wrap="square" lIns="0" tIns="0" rIns="0" bIns="0" rtlCol="0" anchor="ctr"/>
          <a:lstStyle/>
          <a:p>
            <a:pPr indent="0" marL="0">
              <a:buNone/>
            </a:pPr>
            <a:r>
              <a:rPr lang="en-US" sz="1500" b="1" dirty="0">
                <a:solidFill>
                  <a:schemeClr val="bg1"/>
                </a:solidFill>
              </a:rPr>
              <a:t>Start the project</a:t>
            </a:r>
            <a:endParaRPr lang="en-US" sz="1500" dirty="0"/>
          </a:p>
        </p:txBody>
      </p:sp>
      <p:sp>
        <p:nvSpPr>
          <p:cNvPr id="8" name="card"/>
          <p:cNvSpPr/>
          <p:nvPr/>
        </p:nvSpPr>
        <p:spPr>
          <a:xfrm>
            <a:off x="7589520" y="1627632"/>
            <a:ext cx="4023360" cy="566928"/>
          </a:xfrm>
          <a:prstGeom prst="roundRect">
            <a:avLst>
              <a:gd name="adj" fmla="val 16129"/>
            </a:avLst>
          </a:prstGeom>
          <a:solidFill>
            <a:schemeClr val="tx2"/>
          </a:solidFill>
          <a:ln w="12700">
            <a:solidFill>
              <a:schemeClr val="accent2">
                <a:alpha val="50000"/>
              </a:schemeClr>
            </a:solidFill>
            <a:prstDash val="solid"/>
          </a:ln>
        </p:spPr>
      </p:sp>
      <p:sp>
        <p:nvSpPr>
          <p:cNvPr id="9" name="Text 7"/>
          <p:cNvSpPr txBox="1"/>
          <p:nvPr/>
        </p:nvSpPr>
        <p:spPr>
          <a:xfrm>
            <a:off x="7772400" y="1627632"/>
            <a:ext cx="54864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02</a:t>
            </a:r>
            <a:endParaRPr lang="en-US" sz="1400" dirty="0"/>
          </a:p>
        </p:txBody>
      </p:sp>
      <p:sp>
        <p:nvSpPr>
          <p:cNvPr id="10" name="Text 8"/>
          <p:cNvSpPr txBox="1"/>
          <p:nvPr/>
        </p:nvSpPr>
        <p:spPr>
          <a:xfrm>
            <a:off x="8366760" y="1627632"/>
            <a:ext cx="3154680" cy="566928"/>
          </a:xfrm>
          <a:prstGeom prst="rect">
            <a:avLst/>
          </a:prstGeom>
          <a:noFill/>
          <a:ln/>
        </p:spPr>
        <p:txBody>
          <a:bodyPr wrap="square" lIns="0" tIns="0" rIns="0" bIns="0" rtlCol="0" anchor="ctr"/>
          <a:lstStyle/>
          <a:p>
            <a:pPr indent="0" marL="0">
              <a:buNone/>
            </a:pPr>
            <a:r>
              <a:rPr lang="en-US" sz="1500" b="1" dirty="0">
                <a:solidFill>
                  <a:schemeClr val="bg1"/>
                </a:solidFill>
              </a:rPr>
              <a:t>Load sample data into FalkorDB</a:t>
            </a:r>
            <a:endParaRPr lang="en-US" sz="1500" dirty="0"/>
          </a:p>
        </p:txBody>
      </p:sp>
      <p:sp>
        <p:nvSpPr>
          <p:cNvPr id="11" name="card"/>
          <p:cNvSpPr/>
          <p:nvPr/>
        </p:nvSpPr>
        <p:spPr>
          <a:xfrm>
            <a:off x="7589520" y="2340864"/>
            <a:ext cx="4023360" cy="566928"/>
          </a:xfrm>
          <a:prstGeom prst="roundRect">
            <a:avLst>
              <a:gd name="adj" fmla="val 16129"/>
            </a:avLst>
          </a:prstGeom>
          <a:solidFill>
            <a:schemeClr val="tx2"/>
          </a:solidFill>
          <a:ln w="12700">
            <a:solidFill>
              <a:schemeClr val="accent2">
                <a:alpha val="50000"/>
              </a:schemeClr>
            </a:solidFill>
            <a:prstDash val="solid"/>
          </a:ln>
        </p:spPr>
      </p:sp>
      <p:sp>
        <p:nvSpPr>
          <p:cNvPr id="12" name="Text 10"/>
          <p:cNvSpPr txBox="1"/>
          <p:nvPr/>
        </p:nvSpPr>
        <p:spPr>
          <a:xfrm>
            <a:off x="7772400" y="2340864"/>
            <a:ext cx="54864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03</a:t>
            </a:r>
            <a:endParaRPr lang="en-US" sz="1400" dirty="0"/>
          </a:p>
        </p:txBody>
      </p:sp>
      <p:sp>
        <p:nvSpPr>
          <p:cNvPr id="13" name="Text 11"/>
          <p:cNvSpPr txBox="1"/>
          <p:nvPr/>
        </p:nvSpPr>
        <p:spPr>
          <a:xfrm>
            <a:off x="8366760" y="2340864"/>
            <a:ext cx="3154680" cy="566928"/>
          </a:xfrm>
          <a:prstGeom prst="rect">
            <a:avLst/>
          </a:prstGeom>
          <a:noFill/>
          <a:ln/>
        </p:spPr>
        <p:txBody>
          <a:bodyPr wrap="square" lIns="0" tIns="0" rIns="0" bIns="0" rtlCol="0" anchor="ctr"/>
          <a:lstStyle/>
          <a:p>
            <a:pPr indent="0" marL="0">
              <a:buNone/>
            </a:pPr>
            <a:r>
              <a:rPr lang="en-US" sz="1500" b="1" dirty="0">
                <a:solidFill>
                  <a:schemeClr val="bg1"/>
                </a:solidFill>
              </a:rPr>
              <a:t>Run a graph-backed investigation</a:t>
            </a:r>
            <a:endParaRPr lang="en-US" sz="1500" dirty="0"/>
          </a:p>
        </p:txBody>
      </p:sp>
      <p:sp>
        <p:nvSpPr>
          <p:cNvPr id="14" name="card"/>
          <p:cNvSpPr/>
          <p:nvPr/>
        </p:nvSpPr>
        <p:spPr>
          <a:xfrm>
            <a:off x="7589520" y="3054096"/>
            <a:ext cx="4023360" cy="566928"/>
          </a:xfrm>
          <a:prstGeom prst="roundRect">
            <a:avLst>
              <a:gd name="adj" fmla="val 16129"/>
            </a:avLst>
          </a:prstGeom>
          <a:solidFill>
            <a:schemeClr val="tx2"/>
          </a:solidFill>
          <a:ln w="12700">
            <a:solidFill>
              <a:schemeClr val="accent2">
                <a:alpha val="50000"/>
              </a:schemeClr>
            </a:solidFill>
            <a:prstDash val="solid"/>
          </a:ln>
        </p:spPr>
      </p:sp>
      <p:sp>
        <p:nvSpPr>
          <p:cNvPr id="15" name="Text 13"/>
          <p:cNvSpPr txBox="1"/>
          <p:nvPr/>
        </p:nvSpPr>
        <p:spPr>
          <a:xfrm>
            <a:off x="7772400" y="3054096"/>
            <a:ext cx="54864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04</a:t>
            </a:r>
            <a:endParaRPr lang="en-US" sz="1400" dirty="0"/>
          </a:p>
        </p:txBody>
      </p:sp>
      <p:sp>
        <p:nvSpPr>
          <p:cNvPr id="16" name="Text 14"/>
          <p:cNvSpPr txBox="1"/>
          <p:nvPr/>
        </p:nvSpPr>
        <p:spPr>
          <a:xfrm>
            <a:off x="8366760" y="3054096"/>
            <a:ext cx="3154680" cy="566928"/>
          </a:xfrm>
          <a:prstGeom prst="rect">
            <a:avLst/>
          </a:prstGeom>
          <a:noFill/>
          <a:ln/>
        </p:spPr>
        <p:txBody>
          <a:bodyPr wrap="square" lIns="0" tIns="0" rIns="0" bIns="0" rtlCol="0" anchor="ctr"/>
          <a:lstStyle/>
          <a:p>
            <a:pPr indent="0" marL="0">
              <a:buNone/>
            </a:pPr>
            <a:r>
              <a:rPr lang="en-US" sz="1500" b="1" dirty="0">
                <a:solidFill>
                  <a:schemeClr val="bg1"/>
                </a:solidFill>
              </a:rPr>
              <a:t>Inspect an evidence-linked path</a:t>
            </a:r>
            <a:endParaRPr lang="en-US" sz="1500" dirty="0"/>
          </a:p>
        </p:txBody>
      </p:sp>
      <p:sp>
        <p:nvSpPr>
          <p:cNvPr id="17" name="card"/>
          <p:cNvSpPr/>
          <p:nvPr/>
        </p:nvSpPr>
        <p:spPr>
          <a:xfrm>
            <a:off x="7589520" y="3767328"/>
            <a:ext cx="4023360" cy="566928"/>
          </a:xfrm>
          <a:prstGeom prst="roundRect">
            <a:avLst>
              <a:gd name="adj" fmla="val 16129"/>
            </a:avLst>
          </a:prstGeom>
          <a:solidFill>
            <a:schemeClr val="tx2"/>
          </a:solidFill>
          <a:ln w="12700">
            <a:solidFill>
              <a:schemeClr val="accent2">
                <a:alpha val="50000"/>
              </a:schemeClr>
            </a:solidFill>
            <a:prstDash val="solid"/>
          </a:ln>
        </p:spPr>
      </p:sp>
      <p:sp>
        <p:nvSpPr>
          <p:cNvPr id="18" name="Text 16"/>
          <p:cNvSpPr txBox="1"/>
          <p:nvPr/>
        </p:nvSpPr>
        <p:spPr>
          <a:xfrm>
            <a:off x="7772400" y="3767328"/>
            <a:ext cx="54864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05</a:t>
            </a:r>
            <a:endParaRPr lang="en-US" sz="1400" dirty="0"/>
          </a:p>
        </p:txBody>
      </p:sp>
      <p:sp>
        <p:nvSpPr>
          <p:cNvPr id="19" name="Text 17"/>
          <p:cNvSpPr txBox="1"/>
          <p:nvPr/>
        </p:nvSpPr>
        <p:spPr>
          <a:xfrm>
            <a:off x="8366760" y="3767328"/>
            <a:ext cx="3154680" cy="566928"/>
          </a:xfrm>
          <a:prstGeom prst="rect">
            <a:avLst/>
          </a:prstGeom>
          <a:noFill/>
          <a:ln/>
        </p:spPr>
        <p:txBody>
          <a:bodyPr wrap="square" lIns="0" tIns="0" rIns="0" bIns="0" rtlCol="0" anchor="ctr"/>
          <a:lstStyle/>
          <a:p>
            <a:pPr indent="0" marL="0">
              <a:buNone/>
            </a:pPr>
            <a:r>
              <a:rPr lang="en-US" sz="1500" b="1" dirty="0">
                <a:solidFill>
                  <a:schemeClr val="bg1"/>
                </a:solidFill>
              </a:rPr>
              <a:t>Propose a scoped fix</a:t>
            </a:r>
            <a:endParaRPr lang="en-US" sz="1500" dirty="0"/>
          </a:p>
        </p:txBody>
      </p:sp>
      <p:sp>
        <p:nvSpPr>
          <p:cNvPr id="20" name="card"/>
          <p:cNvSpPr/>
          <p:nvPr/>
        </p:nvSpPr>
        <p:spPr>
          <a:xfrm>
            <a:off x="7589520" y="4480560"/>
            <a:ext cx="4023360" cy="566928"/>
          </a:xfrm>
          <a:prstGeom prst="roundRect">
            <a:avLst>
              <a:gd name="adj" fmla="val 16129"/>
            </a:avLst>
          </a:prstGeom>
          <a:solidFill>
            <a:schemeClr val="tx2"/>
          </a:solidFill>
          <a:ln w="12700">
            <a:solidFill>
              <a:schemeClr val="accent2">
                <a:alpha val="50000"/>
              </a:schemeClr>
            </a:solidFill>
            <a:prstDash val="solid"/>
          </a:ln>
        </p:spPr>
      </p:sp>
      <p:sp>
        <p:nvSpPr>
          <p:cNvPr id="21" name="Text 19"/>
          <p:cNvSpPr txBox="1"/>
          <p:nvPr/>
        </p:nvSpPr>
        <p:spPr>
          <a:xfrm>
            <a:off x="7772400" y="4480560"/>
            <a:ext cx="54864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06</a:t>
            </a:r>
            <a:endParaRPr lang="en-US" sz="1400" dirty="0"/>
          </a:p>
        </p:txBody>
      </p:sp>
      <p:sp>
        <p:nvSpPr>
          <p:cNvPr id="22" name="Text 20"/>
          <p:cNvSpPr txBox="1"/>
          <p:nvPr/>
        </p:nvSpPr>
        <p:spPr>
          <a:xfrm>
            <a:off x="8366760" y="4480560"/>
            <a:ext cx="3154680" cy="566928"/>
          </a:xfrm>
          <a:prstGeom prst="rect">
            <a:avLst/>
          </a:prstGeom>
          <a:noFill/>
          <a:ln/>
        </p:spPr>
        <p:txBody>
          <a:bodyPr wrap="square" lIns="0" tIns="0" rIns="0" bIns="0" rtlCol="0" anchor="ctr"/>
          <a:lstStyle/>
          <a:p>
            <a:pPr indent="0" marL="0">
              <a:buNone/>
            </a:pPr>
            <a:r>
              <a:rPr lang="en-US" sz="1500" b="1" dirty="0">
                <a:solidFill>
                  <a:schemeClr val="bg1"/>
                </a:solidFill>
              </a:rPr>
              <a:t>Execute controlled verification</a:t>
            </a:r>
            <a:endParaRPr lang="en-US" sz="1500" dirty="0"/>
          </a:p>
        </p:txBody>
      </p:sp>
      <p:sp>
        <p:nvSpPr>
          <p:cNvPr id="23" name="card"/>
          <p:cNvSpPr/>
          <p:nvPr/>
        </p:nvSpPr>
        <p:spPr>
          <a:xfrm>
            <a:off x="7589520" y="5193792"/>
            <a:ext cx="4023360" cy="566928"/>
          </a:xfrm>
          <a:prstGeom prst="roundRect">
            <a:avLst>
              <a:gd name="adj" fmla="val 16129"/>
            </a:avLst>
          </a:prstGeom>
          <a:solidFill>
            <a:schemeClr val="accent5">
              <a:alpha val="20000"/>
            </a:schemeClr>
          </a:solidFill>
          <a:ln w="12700">
            <a:solidFill>
              <a:schemeClr val="accent5"/>
            </a:solidFill>
            <a:prstDash val="solid"/>
          </a:ln>
        </p:spPr>
      </p:sp>
      <p:sp>
        <p:nvSpPr>
          <p:cNvPr id="24" name="Text 22"/>
          <p:cNvSpPr txBox="1"/>
          <p:nvPr/>
        </p:nvSpPr>
        <p:spPr>
          <a:xfrm>
            <a:off x="7772400" y="5193792"/>
            <a:ext cx="548640" cy="566928"/>
          </a:xfrm>
          <a:prstGeom prst="rect">
            <a:avLst/>
          </a:prstGeom>
          <a:noFill/>
          <a:ln/>
        </p:spPr>
        <p:txBody>
          <a:bodyPr wrap="square" lIns="0" tIns="0" rIns="0" bIns="0" rtlCol="0" anchor="ctr"/>
          <a:lstStyle/>
          <a:p>
            <a:pPr indent="0" marL="0">
              <a:buNone/>
            </a:pPr>
            <a:r>
              <a:rPr lang="en-US" sz="1400" b="1" dirty="0">
                <a:solidFill>
                  <a:schemeClr val="accent5"/>
                </a:solidFill>
                <a:latin typeface="Courier New" pitchFamily="34" charset="0"/>
                <a:ea typeface="Courier New" pitchFamily="34" charset="-122"/>
                <a:cs typeface="Courier New" pitchFamily="34" charset="-120"/>
              </a:rPr>
              <a:t>07</a:t>
            </a:r>
            <a:endParaRPr lang="en-US" sz="1400" dirty="0"/>
          </a:p>
        </p:txBody>
      </p:sp>
      <p:sp>
        <p:nvSpPr>
          <p:cNvPr id="25" name="Text 23"/>
          <p:cNvSpPr txBox="1"/>
          <p:nvPr/>
        </p:nvSpPr>
        <p:spPr>
          <a:xfrm>
            <a:off x="8366760" y="5193792"/>
            <a:ext cx="3154680" cy="566928"/>
          </a:xfrm>
          <a:prstGeom prst="rect">
            <a:avLst/>
          </a:prstGeom>
          <a:noFill/>
          <a:ln/>
        </p:spPr>
        <p:txBody>
          <a:bodyPr wrap="square" lIns="0" tIns="0" rIns="0" bIns="0" rtlCol="0" anchor="ctr"/>
          <a:lstStyle/>
          <a:p>
            <a:pPr indent="0" marL="0">
              <a:buNone/>
            </a:pPr>
            <a:r>
              <a:rPr lang="en-US" sz="1500" b="1" dirty="0">
                <a:solidFill>
                  <a:schemeClr val="bg1"/>
                </a:solidFill>
              </a:rPr>
              <a:t>See a truthful result</a:t>
            </a:r>
            <a:endParaRPr lang="en-US" sz="1500" dirty="0"/>
          </a:p>
        </p:txBody>
      </p:sp>
      <p:sp>
        <p:nvSpPr>
          <p:cNvPr id="26" name="Text 24"/>
          <p:cNvSpPr txBox="1"/>
          <p:nvPr/>
        </p:nvSpPr>
        <p:spPr>
          <a:xfrm>
            <a:off x="548640" y="6035040"/>
            <a:ext cx="6400800" cy="274320"/>
          </a:xfrm>
          <a:prstGeom prst="rect">
            <a:avLst/>
          </a:prstGeom>
          <a:noFill/>
          <a:ln/>
        </p:spPr>
        <p:txBody>
          <a:bodyPr wrap="square" lIns="0" tIns="0" rIns="0" bIns="0" rtlCol="0" anchor="t"/>
          <a:lstStyle/>
          <a:p>
            <a:pPr indent="0" marL="0">
              <a:buNone/>
            </a:pPr>
            <a:r>
              <a:rPr lang="en-US" sz="1100" i="1" dirty="0">
                <a:solidFill>
                  <a:schemeClr val="accent6"/>
                </a:solidFill>
              </a:rPr>
              <a:t>All example IDs, counts, findings, scores and payloads are illustrative.</a:t>
            </a:r>
            <a:endParaRPr lang="en-US" sz="1100" dirty="0"/>
          </a:p>
        </p:txBody>
      </p:sp>
    </p:spTree>
  </p:cSld>
  <p:clrMapOvr>
    <a:masterClrMapping/>
  </p:clrMapOvr>
</p:sld>
</file>

<file path=ppt/theme/theme1.xml><?xml version="1.0" encoding="utf-8"?>
<a:theme xmlns:a="http://schemas.openxmlformats.org/drawingml/2006/main" name="Anavykai Dark">
  <a:themeElements>
    <a:clrScheme name="Anavykai Dark">
      <a:dk1>
        <a:srgbClr val="0A0A1A"/>
      </a:dk1>
      <a:lt1>
        <a:srgbClr val="FFFFFF"/>
      </a:lt1>
      <a:dk2>
        <a:srgbClr val="15153A"/>
      </a:dk2>
      <a:lt2>
        <a:srgbClr val="E6E8F0"/>
      </a:lt2>
      <a:accent1>
        <a:srgbClr val="00E5FF"/>
      </a:accent1>
      <a:accent2>
        <a:srgbClr val="8B5CF6"/>
      </a:accent2>
      <a:accent3>
        <a:srgbClr val="FF4D6D"/>
      </a:accent3>
      <a:accent4>
        <a:srgbClr val="FFB020"/>
      </a:accent4>
      <a:accent5>
        <a:srgbClr val="22C55E"/>
      </a:accent5>
      <a:accent6>
        <a:srgbClr val="9AA0B8"/>
      </a:accent6>
      <a:hlink>
        <a:srgbClr val="00E5FF"/>
      </a:hlink>
      <a:folHlink>
        <a:srgbClr val="8B5CF6"/>
      </a:folHlink>
    </a:clrScheme>
    <a:fontScheme name="Anavykai Dar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ANAVYKAI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Anavykai AgentShield Graph</dc:title>
  <dc:subject>PptxGenJS Presentation</dc:subject>
  <dc:creator>ANAVYKAI</dc:creator>
  <cp:lastModifiedBy>ANAVYKAI</cp:lastModifiedBy>
  <cp:revision>1</cp:revision>
  <dcterms:created xsi:type="dcterms:W3CDTF">2026-10-14T16:06:57Z</dcterms:created>
  <dcterms:modified xsi:type="dcterms:W3CDTF">2026-10-14T16:06:57Z</dcterms:modified>
</cp:coreProperties>
</file>